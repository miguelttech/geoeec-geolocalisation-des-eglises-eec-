
<file path=[Content_Types].xml><?xml version="1.0" encoding="utf-8"?>
<Types xmlns="http://schemas.openxmlformats.org/package/2006/content-types">
  <Default Extension="png" ContentType="image/png"/>
  <Default Extension="svg" ContentType="image/sv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slideLayouts/slideLayout3.xml" ContentType="application/vnd.openxmlformats-officedocument.presentationml.slideLayout+xml"/>
  <Override PartName="/ppt/theme/theme3.xml" ContentType="application/vnd.openxmlformats-officedocument.theme+xml"/>
  <Override PartName="/ppt/slideLayouts/slideLayout4.xml" ContentType="application/vnd.openxmlformats-officedocument.presentationml.slideLayout+xml"/>
  <Override PartName="/ppt/theme/theme4.xml" ContentType="application/vnd.openxmlformats-officedocument.theme+xml"/>
  <Override PartName="/ppt/slideLayouts/slideLayout5.xml" ContentType="application/vnd.openxmlformats-officedocument.presentationml.slideLayout+xml"/>
  <Override PartName="/ppt/theme/theme5.xml" ContentType="application/vnd.openxmlformats-officedocument.theme+xml"/>
  <Override PartName="/ppt/slideLayouts/slideLayout6.xml" ContentType="application/vnd.openxmlformats-officedocument.presentationml.slideLayout+xml"/>
  <Override PartName="/ppt/theme/theme6.xml" ContentType="application/vnd.openxmlformats-officedocument.theme+xml"/>
  <Override PartName="/ppt/slideLayouts/slideLayout7.xml" ContentType="application/vnd.openxmlformats-officedocument.presentationml.slideLayout+xml"/>
  <Override PartName="/ppt/theme/theme7.xml" ContentType="application/vnd.openxmlformats-officedocument.theme+xml"/>
  <Override PartName="/ppt/slideLayouts/slideLayout8.xml" ContentType="application/vnd.openxmlformats-officedocument.presentationml.slideLayout+xml"/>
  <Override PartName="/ppt/theme/theme8.xml" ContentType="application/vnd.openxmlformats-officedocument.theme+xml"/>
  <Override PartName="/ppt/slideLayouts/slideLayout9.xml" ContentType="application/vnd.openxmlformats-officedocument.presentationml.slideLayout+xml"/>
  <Override PartName="/ppt/theme/theme9.xml" ContentType="application/vnd.openxmlformats-officedocument.theme+xml"/>
  <Override PartName="/ppt/slideLayouts/slideLayout10.xml" ContentType="application/vnd.openxmlformats-officedocument.presentationml.slideLayout+xml"/>
  <Override PartName="/ppt/theme/theme10.xml" ContentType="application/vnd.openxmlformats-officedocument.theme+xml"/>
  <Override PartName="/ppt/slideLayouts/slideLayout11.xml" ContentType="application/vnd.openxmlformats-officedocument.presentationml.slideLayout+xml"/>
  <Override PartName="/ppt/theme/theme11.xml" ContentType="application/vnd.openxmlformats-officedocument.theme+xml"/>
  <Override PartName="/ppt/theme/theme1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 id="2147483652" r:id="rId3"/>
    <p:sldMasterId id="2147483654" r:id="rId4"/>
    <p:sldMasterId id="2147483656" r:id="rId5"/>
    <p:sldMasterId id="2147483658" r:id="rId6"/>
    <p:sldMasterId id="2147483660" r:id="rId7"/>
    <p:sldMasterId id="2147483662" r:id="rId8"/>
    <p:sldMasterId id="2147483664" r:id="rId9"/>
    <p:sldMasterId id="2147483666" r:id="rId10"/>
    <p:sldMasterId id="2147483668" r:id="rId11"/>
  </p:sldMasterIdLst>
  <p:notesMasterIdLst>
    <p:notesMasterId r:id="rId26"/>
  </p:notesMasterIdLst>
  <p:sldIdLst>
    <p:sldId id="256" r:id="rId12"/>
    <p:sldId id="257" r:id="rId13"/>
    <p:sldId id="258" r:id="rId14"/>
    <p:sldId id="259" r:id="rId15"/>
    <p:sldId id="260" r:id="rId16"/>
    <p:sldId id="261" r:id="rId17"/>
    <p:sldId id="262" r:id="rId18"/>
    <p:sldId id="263" r:id="rId19"/>
    <p:sldId id="264" r:id="rId20"/>
    <p:sldId id="265" r:id="rId21"/>
    <p:sldId id="266" r:id="rId22"/>
    <p:sldId id="267" r:id="rId23"/>
    <p:sldId id="268" r:id="rId24"/>
    <p:sldId id="269" r:id="rId25"/>
  </p:sldIdLst>
  <p:sldSz cx="18288000" cy="10287000"/>
  <p:notesSz cx="7559675" cy="10691813"/>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AA62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1" d="100"/>
          <a:sy n="61" d="100"/>
        </p:scale>
        <p:origin x="154" y="30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Master" Target="slideMasters/slideMaster8.xml"/><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slide" Target="slides/slide10.xml"/><Relationship Id="rId7" Type="http://schemas.openxmlformats.org/officeDocument/2006/relationships/slideMaster" Target="slideMasters/slideMaster7.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2" Type="http://schemas.openxmlformats.org/officeDocument/2006/relationships/slideMaster" Target="slideMasters/slideMaster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Master" Target="slideMasters/slideMaster11.xml"/><Relationship Id="rId24" Type="http://schemas.openxmlformats.org/officeDocument/2006/relationships/slide" Target="slides/slide13.xml"/><Relationship Id="rId5" Type="http://schemas.openxmlformats.org/officeDocument/2006/relationships/slideMaster" Target="slideMasters/slideMaster5.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viewProps" Target="viewProps.xml"/><Relationship Id="rId10" Type="http://schemas.openxmlformats.org/officeDocument/2006/relationships/slideMaster" Target="slideMasters/slideMaster10.xml"/><Relationship Id="rId19" Type="http://schemas.openxmlformats.org/officeDocument/2006/relationships/slide" Target="slides/slide8.xml"/><Relationship Id="rId4" Type="http://schemas.openxmlformats.org/officeDocument/2006/relationships/slideMaster" Target="slideMasters/slideMaster4.xml"/><Relationship Id="rId9" Type="http://schemas.openxmlformats.org/officeDocument/2006/relationships/slideMaster" Target="slideMasters/slideMaster9.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9BE6B08A-BC51-4A81-A94A-E77025FABE5E}" type="datetimeFigureOut">
              <a:rPr lang="fr-FR" smtClean="0"/>
              <a:t>30/05/2026</a:t>
            </a:fld>
            <a:endParaRPr lang="fr-FR"/>
          </a:p>
        </p:txBody>
      </p:sp>
      <p:sp>
        <p:nvSpPr>
          <p:cNvPr id="4" name="Espace réservé de l'image des diapositives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fr-FR" smtClean="0"/>
              <a:t>Modifier les styles du texte du masque</a:t>
            </a:r>
          </a:p>
          <a:p>
            <a:pPr lvl="1"/>
            <a:r>
              <a:rPr lang="fr-FR" smtClean="0"/>
              <a:t>Deuxième niveau</a:t>
            </a:r>
          </a:p>
          <a:p>
            <a:pPr lvl="2"/>
            <a:r>
              <a:rPr lang="fr-FR" smtClean="0"/>
              <a:t>Troisième niveau</a:t>
            </a:r>
          </a:p>
          <a:p>
            <a:pPr lvl="3"/>
            <a:r>
              <a:rPr lang="fr-FR" smtClean="0"/>
              <a:t>Quatrième niveau</a:t>
            </a:r>
          </a:p>
          <a:p>
            <a:pPr lvl="4"/>
            <a:r>
              <a:rPr lang="fr-FR" smtClean="0"/>
              <a:t>Cinquième niveau</a:t>
            </a:r>
            <a:endParaRPr lang="fr-FR"/>
          </a:p>
        </p:txBody>
      </p:sp>
      <p:sp>
        <p:nvSpPr>
          <p:cNvPr id="6" name="Espace réservé du pied de page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F4889B6E-D727-4BD0-90B8-60AEDB2E5977}" type="slidenum">
              <a:rPr lang="fr-FR" smtClean="0"/>
              <a:t>‹N°›</a:t>
            </a:fld>
            <a:endParaRPr lang="fr-FR"/>
          </a:p>
        </p:txBody>
      </p:sp>
    </p:spTree>
    <p:extLst>
      <p:ext uri="{BB962C8B-B14F-4D97-AF65-F5344CB8AC3E}">
        <p14:creationId xmlns:p14="http://schemas.microsoft.com/office/powerpoint/2010/main" val="10950144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5" name="PlaceHolder 2"/>
          <p:cNvSpPr>
            <a:spLocks noGrp="1"/>
          </p:cNvSpPr>
          <p:nvPr>
            <p:ph type="subTitle"/>
          </p:nvPr>
        </p:nvSpPr>
        <p:spPr>
          <a:xfrm>
            <a:off x="914400" y="2406960"/>
            <a:ext cx="16458840" cy="5965920"/>
          </a:xfrm>
          <a:prstGeom prst="rect">
            <a:avLst/>
          </a:prstGeom>
          <a:noFill/>
          <a:ln w="0">
            <a:noFill/>
          </a:ln>
        </p:spPr>
        <p:txBody>
          <a:bodyPr lIns="0" tIns="0" rIns="0" bIns="0" anchor="ctr">
            <a:noAutofit/>
          </a:bodyPr>
          <a:lstStyle/>
          <a:p>
            <a:pPr indent="0" algn="ctr">
              <a:buNone/>
            </a:pPr>
            <a:endParaRPr lang="fr-FR" sz="3200" b="0" strike="noStrike" spc="-1">
              <a:solidFill>
                <a:srgbClr val="000000"/>
              </a:solidFill>
              <a:latin typeface="Arial"/>
            </a:endParaRPr>
          </a:p>
        </p:txBody>
      </p:sp>
      <p:sp>
        <p:nvSpPr>
          <p:cNvPr id="2" name="PlaceHolder 3"/>
          <p:cNvSpPr>
            <a:spLocks noGrp="1"/>
          </p:cNvSpPr>
          <p:nvPr>
            <p:ph type="ftr" idx="2"/>
          </p:nvPr>
        </p:nvSpPr>
        <p:spPr/>
        <p:txBody>
          <a:bodyPr/>
          <a:lstStyle/>
          <a:p>
            <a:r>
              <a:t>Footer</a:t>
            </a:r>
          </a:p>
        </p:txBody>
      </p:sp>
      <p:sp>
        <p:nvSpPr>
          <p:cNvPr id="3" name="PlaceHolder 4"/>
          <p:cNvSpPr>
            <a:spLocks noGrp="1"/>
          </p:cNvSpPr>
          <p:nvPr>
            <p:ph type="sldNum" idx="3"/>
          </p:nvPr>
        </p:nvSpPr>
        <p:spPr/>
        <p:txBody>
          <a:bodyPr/>
          <a:lstStyle/>
          <a:p>
            <a:fld id="{DE53367B-2887-459B-99D7-F4371922D142}" type="slidenum">
              <a:t>‹N°›</a:t>
            </a:fld>
            <a:endParaRPr/>
          </a:p>
        </p:txBody>
      </p:sp>
      <p:sp>
        <p:nvSpPr>
          <p:cNvPr id="6" name="PlaceHolder 5"/>
          <p:cNvSpPr>
            <a:spLocks noGrp="1"/>
          </p:cNvSpPr>
          <p:nvPr>
            <p:ph type="dt" idx="1"/>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lstStyle/>
          <a:p>
            <a:r>
              <a:t>Footer</a:t>
            </a:r>
          </a:p>
        </p:txBody>
      </p:sp>
      <p:sp>
        <p:nvSpPr>
          <p:cNvPr id="3" name="PlaceHolder 2"/>
          <p:cNvSpPr>
            <a:spLocks noGrp="1"/>
          </p:cNvSpPr>
          <p:nvPr>
            <p:ph type="sldNum" idx="6"/>
          </p:nvPr>
        </p:nvSpPr>
        <p:spPr/>
        <p:txBody>
          <a:bodyPr/>
          <a:lstStyle/>
          <a:p>
            <a:fld id="{A10A5E7A-A25A-49E1-994B-1F567D7AADFC}" type="slidenum">
              <a:t>‹N°›</a:t>
            </a:fld>
            <a:endParaRPr/>
          </a:p>
        </p:txBody>
      </p:sp>
      <p:sp>
        <p:nvSpPr>
          <p:cNvPr id="4" name="PlaceHolder 3"/>
          <p:cNvSpPr>
            <a:spLocks noGrp="1"/>
          </p:cNvSpPr>
          <p:nvPr>
            <p:ph type="dt" idx="4"/>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lstStyle/>
          <a:p>
            <a:r>
              <a:t>Footer</a:t>
            </a:r>
          </a:p>
        </p:txBody>
      </p:sp>
      <p:sp>
        <p:nvSpPr>
          <p:cNvPr id="3" name="PlaceHolder 2"/>
          <p:cNvSpPr>
            <a:spLocks noGrp="1"/>
          </p:cNvSpPr>
          <p:nvPr>
            <p:ph type="sldNum" idx="9"/>
          </p:nvPr>
        </p:nvSpPr>
        <p:spPr/>
        <p:txBody>
          <a:bodyPr/>
          <a:lstStyle/>
          <a:p>
            <a:fld id="{66FC434C-F189-431D-B3CF-B6B7402F7CDC}" type="slidenum">
              <a:t>‹N°›</a:t>
            </a:fld>
            <a:endParaRPr/>
          </a:p>
        </p:txBody>
      </p:sp>
      <p:sp>
        <p:nvSpPr>
          <p:cNvPr id="4" name="PlaceHolder 3"/>
          <p:cNvSpPr>
            <a:spLocks noGrp="1"/>
          </p:cNvSpPr>
          <p:nvPr>
            <p:ph type="dt" idx="7"/>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1"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22" name="PlaceHolder 2"/>
          <p:cNvSpPr>
            <a:spLocks noGrp="1"/>
          </p:cNvSpPr>
          <p:nvPr>
            <p:ph/>
          </p:nvPr>
        </p:nvSpPr>
        <p:spPr>
          <a:xfrm>
            <a:off x="914400" y="2406960"/>
            <a:ext cx="1645884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4" name="PlaceHolder 3"/>
          <p:cNvSpPr>
            <a:spLocks noGrp="1"/>
          </p:cNvSpPr>
          <p:nvPr>
            <p:ph type="ftr" idx="11"/>
          </p:nvPr>
        </p:nvSpPr>
        <p:spPr/>
        <p:txBody>
          <a:bodyPr/>
          <a:lstStyle/>
          <a:p>
            <a:r>
              <a:t>Footer</a:t>
            </a:r>
          </a:p>
        </p:txBody>
      </p:sp>
      <p:sp>
        <p:nvSpPr>
          <p:cNvPr id="5" name="PlaceHolder 4"/>
          <p:cNvSpPr>
            <a:spLocks noGrp="1"/>
          </p:cNvSpPr>
          <p:nvPr>
            <p:ph type="sldNum" idx="12"/>
          </p:nvPr>
        </p:nvSpPr>
        <p:spPr/>
        <p:txBody>
          <a:bodyPr/>
          <a:lstStyle/>
          <a:p>
            <a:fld id="{1EB0B2B3-625D-434A-A143-FB87F5D5BCCF}" type="slidenum">
              <a:t>‹N°›</a:t>
            </a:fld>
            <a:endParaRPr/>
          </a:p>
        </p:txBody>
      </p:sp>
      <p:sp>
        <p:nvSpPr>
          <p:cNvPr id="6" name="PlaceHolder 5"/>
          <p:cNvSpPr>
            <a:spLocks noGrp="1"/>
          </p:cNvSpPr>
          <p:nvPr>
            <p:ph type="dt" idx="10"/>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Section Header">
    <p:spTree>
      <p:nvGrpSpPr>
        <p:cNvPr id="1" name=""/>
        <p:cNvGrpSpPr/>
        <p:nvPr/>
      </p:nvGrpSpPr>
      <p:grpSpPr>
        <a:xfrm>
          <a:off x="0" y="0"/>
          <a:ext cx="0" cy="0"/>
          <a:chOff x="0" y="0"/>
          <a:chExt cx="0" cy="0"/>
        </a:xfrm>
      </p:grpSpPr>
      <p:sp>
        <p:nvSpPr>
          <p:cNvPr id="2" name="PlaceHolder 1"/>
          <p:cNvSpPr>
            <a:spLocks noGrp="1"/>
          </p:cNvSpPr>
          <p:nvPr>
            <p:ph type="ftr" idx="14"/>
          </p:nvPr>
        </p:nvSpPr>
        <p:spPr/>
        <p:txBody>
          <a:bodyPr/>
          <a:lstStyle/>
          <a:p>
            <a:r>
              <a:t>Footer</a:t>
            </a:r>
          </a:p>
        </p:txBody>
      </p:sp>
      <p:sp>
        <p:nvSpPr>
          <p:cNvPr id="3" name="PlaceHolder 2"/>
          <p:cNvSpPr>
            <a:spLocks noGrp="1"/>
          </p:cNvSpPr>
          <p:nvPr>
            <p:ph type="sldNum" idx="15"/>
          </p:nvPr>
        </p:nvSpPr>
        <p:spPr/>
        <p:txBody>
          <a:bodyPr/>
          <a:lstStyle/>
          <a:p>
            <a:fld id="{75219C4A-A420-4224-B1E4-CBC5E87245C7}" type="slidenum">
              <a:t>‹N°›</a:t>
            </a:fld>
            <a:endParaRPr/>
          </a:p>
        </p:txBody>
      </p:sp>
      <p:sp>
        <p:nvSpPr>
          <p:cNvPr id="4" name="PlaceHolder 3"/>
          <p:cNvSpPr>
            <a:spLocks noGrp="1"/>
          </p:cNvSpPr>
          <p:nvPr>
            <p:ph type="dt" idx="1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5" name="PlaceHolder 2"/>
          <p:cNvSpPr>
            <a:spLocks noGrp="1"/>
          </p:cNvSpPr>
          <p:nvPr>
            <p:ph/>
          </p:nvPr>
        </p:nvSpPr>
        <p:spPr>
          <a:xfrm>
            <a:off x="91440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36" name="PlaceHolder 3"/>
          <p:cNvSpPr>
            <a:spLocks noGrp="1"/>
          </p:cNvSpPr>
          <p:nvPr>
            <p:ph/>
          </p:nvPr>
        </p:nvSpPr>
        <p:spPr>
          <a:xfrm>
            <a:off x="9348120" y="2406960"/>
            <a:ext cx="8031600" cy="5965920"/>
          </a:xfrm>
          <a:prstGeom prst="rect">
            <a:avLst/>
          </a:prstGeom>
          <a:noFill/>
          <a:ln w="0">
            <a:noFill/>
          </a:ln>
        </p:spPr>
        <p:txBody>
          <a:bodyPr lIns="0" tIns="0" rIns="0" bIns="0" anchor="t">
            <a:normAutofit/>
          </a:bodyPr>
          <a:lstStyle/>
          <a:p>
            <a:pPr indent="0">
              <a:spcBef>
                <a:spcPts val="1417"/>
              </a:spcBef>
              <a:buNone/>
            </a:pPr>
            <a:endParaRPr lang="en-US" sz="3200" b="0" strike="noStrike" spc="-1">
              <a:solidFill>
                <a:schemeClr val="dk1"/>
              </a:solidFill>
              <a:latin typeface="Calibri"/>
            </a:endParaRPr>
          </a:p>
        </p:txBody>
      </p:sp>
      <p:sp>
        <p:nvSpPr>
          <p:cNvPr id="5" name="PlaceHolder 4"/>
          <p:cNvSpPr>
            <a:spLocks noGrp="1"/>
          </p:cNvSpPr>
          <p:nvPr>
            <p:ph type="ftr" idx="17"/>
          </p:nvPr>
        </p:nvSpPr>
        <p:spPr/>
        <p:txBody>
          <a:bodyPr/>
          <a:lstStyle/>
          <a:p>
            <a:r>
              <a:t>Footer</a:t>
            </a:r>
          </a:p>
        </p:txBody>
      </p:sp>
      <p:sp>
        <p:nvSpPr>
          <p:cNvPr id="6" name="PlaceHolder 5"/>
          <p:cNvSpPr>
            <a:spLocks noGrp="1"/>
          </p:cNvSpPr>
          <p:nvPr>
            <p:ph type="sldNum" idx="18"/>
          </p:nvPr>
        </p:nvSpPr>
        <p:spPr/>
        <p:txBody>
          <a:bodyPr/>
          <a:lstStyle/>
          <a:p>
            <a:fld id="{1263E7EE-E1E6-438E-AA13-04114EFDCA32}" type="slidenum">
              <a:t>‹N°›</a:t>
            </a:fld>
            <a:endParaRPr/>
          </a:p>
        </p:txBody>
      </p:sp>
      <p:sp>
        <p:nvSpPr>
          <p:cNvPr id="7" name="PlaceHolder 6"/>
          <p:cNvSpPr>
            <a:spLocks noGrp="1"/>
          </p:cNvSpPr>
          <p:nvPr>
            <p:ph type="dt" idx="16"/>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Comparison">
    <p:spTree>
      <p:nvGrpSpPr>
        <p:cNvPr id="1" name=""/>
        <p:cNvGrpSpPr/>
        <p:nvPr/>
      </p:nvGrpSpPr>
      <p:grpSpPr>
        <a:xfrm>
          <a:off x="0" y="0"/>
          <a:ext cx="0" cy="0"/>
          <a:chOff x="0" y="0"/>
          <a:chExt cx="0" cy="0"/>
        </a:xfrm>
      </p:grpSpPr>
      <p:sp>
        <p:nvSpPr>
          <p:cNvPr id="2" name="PlaceHolder 1"/>
          <p:cNvSpPr>
            <a:spLocks noGrp="1"/>
          </p:cNvSpPr>
          <p:nvPr>
            <p:ph type="ftr" idx="20"/>
          </p:nvPr>
        </p:nvSpPr>
        <p:spPr/>
        <p:txBody>
          <a:bodyPr/>
          <a:lstStyle/>
          <a:p>
            <a:r>
              <a:t>Footer</a:t>
            </a:r>
          </a:p>
        </p:txBody>
      </p:sp>
      <p:sp>
        <p:nvSpPr>
          <p:cNvPr id="3" name="PlaceHolder 2"/>
          <p:cNvSpPr>
            <a:spLocks noGrp="1"/>
          </p:cNvSpPr>
          <p:nvPr>
            <p:ph type="sldNum" idx="21"/>
          </p:nvPr>
        </p:nvSpPr>
        <p:spPr/>
        <p:txBody>
          <a:bodyPr/>
          <a:lstStyle/>
          <a:p>
            <a:fld id="{F119C10E-E217-4024-A340-F0C0D6FB13B7}" type="slidenum">
              <a:t>‹N°›</a:t>
            </a:fld>
            <a:endParaRPr/>
          </a:p>
        </p:txBody>
      </p:sp>
      <p:sp>
        <p:nvSpPr>
          <p:cNvPr id="4" name="PlaceHolder 3"/>
          <p:cNvSpPr>
            <a:spLocks noGrp="1"/>
          </p:cNvSpPr>
          <p:nvPr>
            <p:ph type="dt" idx="19"/>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49" name="PlaceHolder 1"/>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endParaRPr lang="en-US" sz="1800" b="0" strike="noStrike" spc="-1">
              <a:solidFill>
                <a:schemeClr val="dk1"/>
              </a:solidFill>
              <a:latin typeface="Calibri"/>
            </a:endParaRPr>
          </a:p>
        </p:txBody>
      </p:sp>
      <p:sp>
        <p:nvSpPr>
          <p:cNvPr id="3" name="PlaceHolder 2"/>
          <p:cNvSpPr>
            <a:spLocks noGrp="1"/>
          </p:cNvSpPr>
          <p:nvPr>
            <p:ph type="ftr" idx="23"/>
          </p:nvPr>
        </p:nvSpPr>
        <p:spPr/>
        <p:txBody>
          <a:bodyPr/>
          <a:lstStyle/>
          <a:p>
            <a:r>
              <a:t>Footer</a:t>
            </a:r>
          </a:p>
        </p:txBody>
      </p:sp>
      <p:sp>
        <p:nvSpPr>
          <p:cNvPr id="4" name="PlaceHolder 3"/>
          <p:cNvSpPr>
            <a:spLocks noGrp="1"/>
          </p:cNvSpPr>
          <p:nvPr>
            <p:ph type="sldNum" idx="24"/>
          </p:nvPr>
        </p:nvSpPr>
        <p:spPr/>
        <p:txBody>
          <a:bodyPr/>
          <a:lstStyle/>
          <a:p>
            <a:fld id="{886818B5-6E2C-4A11-8041-E2B3C27CEE20}" type="slidenum">
              <a:t>‹N°›</a:t>
            </a:fld>
            <a:endParaRPr/>
          </a:p>
        </p:txBody>
      </p:sp>
      <p:sp>
        <p:nvSpPr>
          <p:cNvPr id="5" name="PlaceHolder 4"/>
          <p:cNvSpPr>
            <a:spLocks noGrp="1"/>
          </p:cNvSpPr>
          <p:nvPr>
            <p:ph type="dt" idx="22"/>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PlaceHolder 1"/>
          <p:cNvSpPr>
            <a:spLocks noGrp="1"/>
          </p:cNvSpPr>
          <p:nvPr>
            <p:ph type="ftr" idx="26"/>
          </p:nvPr>
        </p:nvSpPr>
        <p:spPr/>
        <p:txBody>
          <a:bodyPr/>
          <a:lstStyle/>
          <a:p>
            <a:r>
              <a:rPr lang="fr-FR" dirty="0" smtClean="0"/>
              <a:t>&lt;#&gt;/14</a:t>
            </a:r>
            <a:endParaRPr lang="fr-FR" dirty="0"/>
          </a:p>
        </p:txBody>
      </p:sp>
      <p:sp>
        <p:nvSpPr>
          <p:cNvPr id="3" name="PlaceHolder 2"/>
          <p:cNvSpPr>
            <a:spLocks noGrp="1"/>
          </p:cNvSpPr>
          <p:nvPr>
            <p:ph type="sldNum" idx="27"/>
          </p:nvPr>
        </p:nvSpPr>
        <p:spPr/>
        <p:txBody>
          <a:bodyPr/>
          <a:lstStyle/>
          <a:p>
            <a:fld id="{9E85BCC3-BCA3-4EBB-84DF-5638ED71F27A}" type="slidenum">
              <a:t>‹N°›</a:t>
            </a:fld>
            <a:endParaRPr/>
          </a:p>
        </p:txBody>
      </p:sp>
      <p:sp>
        <p:nvSpPr>
          <p:cNvPr id="4" name="PlaceHolder 3"/>
          <p:cNvSpPr>
            <a:spLocks noGrp="1"/>
          </p:cNvSpPr>
          <p:nvPr>
            <p:ph type="dt" idx="25"/>
          </p:nvPr>
        </p:nvSpPr>
        <p:spPr/>
        <p:txBody>
          <a:bodyPr/>
          <a:lstStyle/>
          <a:p>
            <a:endParaRPr/>
          </a:p>
        </p:txBody>
      </p:sp>
    </p:spTree>
  </p:cSld>
  <p:clrMapOvr>
    <a:masterClrMapping/>
  </p:clrMapOvr>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Content with Caption">
    <p:spTree>
      <p:nvGrpSpPr>
        <p:cNvPr id="1" name=""/>
        <p:cNvGrpSpPr/>
        <p:nvPr/>
      </p:nvGrpSpPr>
      <p:grpSpPr>
        <a:xfrm>
          <a:off x="0" y="0"/>
          <a:ext cx="0" cy="0"/>
          <a:chOff x="0" y="0"/>
          <a:chExt cx="0" cy="0"/>
        </a:xfrm>
      </p:grpSpPr>
      <p:sp>
        <p:nvSpPr>
          <p:cNvPr id="2" name="PlaceHolder 1"/>
          <p:cNvSpPr>
            <a:spLocks noGrp="1"/>
          </p:cNvSpPr>
          <p:nvPr>
            <p:ph type="ftr" idx="29"/>
          </p:nvPr>
        </p:nvSpPr>
        <p:spPr/>
        <p:txBody>
          <a:bodyPr/>
          <a:lstStyle/>
          <a:p>
            <a:r>
              <a:t>Footer</a:t>
            </a:r>
          </a:p>
        </p:txBody>
      </p:sp>
      <p:sp>
        <p:nvSpPr>
          <p:cNvPr id="3" name="PlaceHolder 2"/>
          <p:cNvSpPr>
            <a:spLocks noGrp="1"/>
          </p:cNvSpPr>
          <p:nvPr>
            <p:ph type="sldNum" idx="30"/>
          </p:nvPr>
        </p:nvSpPr>
        <p:spPr/>
        <p:txBody>
          <a:bodyPr/>
          <a:lstStyle/>
          <a:p>
            <a:fld id="{F0E0137A-C272-46BC-BE0C-ECA367A1FB22}" type="slidenum">
              <a:t>‹N°›</a:t>
            </a:fld>
            <a:endParaRPr/>
          </a:p>
        </p:txBody>
      </p:sp>
      <p:sp>
        <p:nvSpPr>
          <p:cNvPr id="4" name="PlaceHolder 3"/>
          <p:cNvSpPr>
            <a:spLocks noGrp="1"/>
          </p:cNvSpPr>
          <p:nvPr>
            <p:ph type="dt" idx="28"/>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Picture with Caption">
    <p:spTree>
      <p:nvGrpSpPr>
        <p:cNvPr id="1" name=""/>
        <p:cNvGrpSpPr/>
        <p:nvPr/>
      </p:nvGrpSpPr>
      <p:grpSpPr>
        <a:xfrm>
          <a:off x="0" y="0"/>
          <a:ext cx="0" cy="0"/>
          <a:chOff x="0" y="0"/>
          <a:chExt cx="0" cy="0"/>
        </a:xfrm>
      </p:grpSpPr>
      <p:sp>
        <p:nvSpPr>
          <p:cNvPr id="2" name="PlaceHolder 1"/>
          <p:cNvSpPr>
            <a:spLocks noGrp="1"/>
          </p:cNvSpPr>
          <p:nvPr>
            <p:ph type="ftr" idx="32"/>
          </p:nvPr>
        </p:nvSpPr>
        <p:spPr/>
        <p:txBody>
          <a:bodyPr/>
          <a:lstStyle/>
          <a:p>
            <a:r>
              <a:t>Footer</a:t>
            </a:r>
          </a:p>
        </p:txBody>
      </p:sp>
      <p:sp>
        <p:nvSpPr>
          <p:cNvPr id="3" name="PlaceHolder 2"/>
          <p:cNvSpPr>
            <a:spLocks noGrp="1"/>
          </p:cNvSpPr>
          <p:nvPr>
            <p:ph type="sldNum" idx="33"/>
          </p:nvPr>
        </p:nvSpPr>
        <p:spPr/>
        <p:txBody>
          <a:bodyPr/>
          <a:lstStyle/>
          <a:p>
            <a:fld id="{6F949918-4A57-42D3-8D08-A44C166322E3}" type="slidenum">
              <a:t>‹N°›</a:t>
            </a:fld>
            <a:endParaRPr/>
          </a:p>
        </p:txBody>
      </p:sp>
      <p:sp>
        <p:nvSpPr>
          <p:cNvPr id="4" name="PlaceHolder 3"/>
          <p:cNvSpPr>
            <a:spLocks noGrp="1"/>
          </p:cNvSpPr>
          <p:nvPr>
            <p:ph type="dt" idx="31"/>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3.xml"/></Relationships>
</file>

<file path=ppt/slideMasters/_rels/slideMaster4.xml.rels><?xml version="1.0" encoding="UTF-8" standalone="yes"?>
<Relationships xmlns="http://schemas.openxmlformats.org/package/2006/relationships"><Relationship Id="rId2" Type="http://schemas.openxmlformats.org/officeDocument/2006/relationships/theme" Target="../theme/theme4.xml"/><Relationship Id="rId1" Type="http://schemas.openxmlformats.org/officeDocument/2006/relationships/slideLayout" Target="../slideLayouts/slideLayout4.xml"/></Relationships>
</file>

<file path=ppt/slideMasters/_rels/slideMaster5.xml.rels><?xml version="1.0" encoding="UTF-8" standalone="yes"?>
<Relationships xmlns="http://schemas.openxmlformats.org/package/2006/relationships"><Relationship Id="rId2" Type="http://schemas.openxmlformats.org/officeDocument/2006/relationships/theme" Target="../theme/theme5.xml"/><Relationship Id="rId1" Type="http://schemas.openxmlformats.org/officeDocument/2006/relationships/slideLayout" Target="../slideLayouts/slideLayout5.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6.xml"/></Relationships>
</file>

<file path=ppt/slideMasters/_rels/slideMaster7.xml.rels><?xml version="1.0" encoding="UTF-8" standalone="yes"?>
<Relationships xmlns="http://schemas.openxmlformats.org/package/2006/relationships"><Relationship Id="rId2" Type="http://schemas.openxmlformats.org/officeDocument/2006/relationships/theme" Target="../theme/theme7.xml"/><Relationship Id="rId1" Type="http://schemas.openxmlformats.org/officeDocument/2006/relationships/slideLayout" Target="../slideLayouts/slideLayout7.xml"/></Relationships>
</file>

<file path=ppt/slideMasters/_rels/slideMaster8.xml.rels><?xml version="1.0" encoding="UTF-8" standalone="yes"?>
<Relationships xmlns="http://schemas.openxmlformats.org/package/2006/relationships"><Relationship Id="rId2" Type="http://schemas.openxmlformats.org/officeDocument/2006/relationships/theme" Target="../theme/theme8.xml"/><Relationship Id="rId1" Type="http://schemas.openxmlformats.org/officeDocument/2006/relationships/slideLayout" Target="../slideLayouts/slideLayout8.xml"/></Relationships>
</file>

<file path=ppt/slideMasters/_rels/slideMaster9.xml.rels><?xml version="1.0" encoding="UTF-8" standalone="yes"?>
<Relationships xmlns="http://schemas.openxmlformats.org/package/2006/relationships"><Relationship Id="rId2" Type="http://schemas.openxmlformats.org/officeDocument/2006/relationships/theme" Target="../theme/theme9.xml"/><Relationship Id="rId1" Type="http://schemas.openxmlformats.org/officeDocument/2006/relationships/slideLayout" Target="../slideLayouts/slideLayout9.xml"/></Relationships>
</file>

<file path=ppt/slideMasters/_rels/slideMaster10.xml.rels><?xml version="1.0" encoding="UTF-8" standalone="yes"?>
<Relationships xmlns="http://schemas.openxmlformats.org/package/2006/relationships"><Relationship Id="rId2" Type="http://schemas.openxmlformats.org/officeDocument/2006/relationships/theme" Target="../theme/theme10.xml"/><Relationship Id="rId1" Type="http://schemas.openxmlformats.org/officeDocument/2006/relationships/slideLayout" Target="../slideLayouts/slideLayout10.xml"/></Relationships>
</file>

<file path=ppt/slideMasters/_rels/slideMaster11.xml.rels><?xml version="1.0" encoding="UTF-8" standalone="yes"?>
<Relationships xmlns="http://schemas.openxmlformats.org/package/2006/relationships"><Relationship Id="rId2" Type="http://schemas.openxmlformats.org/officeDocument/2006/relationships/theme" Target="../theme/theme11.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2"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3"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79CB16B9-DF1D-499B-8C46-0198FB9436B0}"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4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7" name="PlaceHolder 2"/>
          <p:cNvSpPr>
            <a:spLocks noGrp="1"/>
          </p:cNvSpPr>
          <p:nvPr>
            <p:ph type="body"/>
          </p:nvPr>
        </p:nvSpPr>
        <p:spPr>
          <a:xfrm>
            <a:off x="457200" y="1600200"/>
            <a:ext cx="8229240" cy="452556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8"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9"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10"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7F27C983-D408-477B-AF7E-86CBF33D22CA}"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1"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PlaceHolder 1"/>
          <p:cNvSpPr>
            <a:spLocks noGrp="1"/>
          </p:cNvSpPr>
          <p:nvPr>
            <p:ph type="title"/>
          </p:nvPr>
        </p:nvSpPr>
        <p:spPr>
          <a:xfrm>
            <a:off x="6629400" y="274680"/>
            <a:ext cx="2057040" cy="5851080"/>
          </a:xfrm>
          <a:prstGeom prst="rect">
            <a:avLst/>
          </a:prstGeom>
          <a:noFill/>
          <a:ln w="0">
            <a:noFill/>
          </a:ln>
        </p:spPr>
        <p:txBody>
          <a:bodyPr vert="eaVert"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12" name="PlaceHolder 2"/>
          <p:cNvSpPr>
            <a:spLocks noGrp="1"/>
          </p:cNvSpPr>
          <p:nvPr>
            <p:ph type="body"/>
          </p:nvPr>
        </p:nvSpPr>
        <p:spPr>
          <a:xfrm>
            <a:off x="457200" y="274680"/>
            <a:ext cx="6019560" cy="5851080"/>
          </a:xfrm>
          <a:prstGeom prst="rect">
            <a:avLst/>
          </a:prstGeom>
          <a:noFill/>
          <a:ln w="0">
            <a:noFill/>
          </a:ln>
        </p:spPr>
        <p:txBody>
          <a:bodyPr vert="eaVert"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3"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14"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15"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92CDE585-A760-458C-A1B9-5D5B56DFCDEC}"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3"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17"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18"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19"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20"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1FAB40D1-51D7-49C8-9CA1-E16B8F2750C1}"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5"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p>
            <a:pPr indent="0" defTabSz="914400">
              <a:lnSpc>
                <a:spcPct val="100000"/>
              </a:lnSpc>
              <a:buNone/>
            </a:pPr>
            <a:r>
              <a:rPr lang="en-US" sz="4000" b="1" strike="noStrike" cap="all" spc="-1">
                <a:solidFill>
                  <a:schemeClr val="dk1"/>
                </a:solidFill>
                <a:latin typeface="Calibri"/>
              </a:rPr>
              <a:t>Click to edit Master title style</a:t>
            </a:r>
            <a:endParaRPr lang="en-US" sz="4000" b="0" strike="noStrike" spc="-1">
              <a:solidFill>
                <a:schemeClr val="dk1"/>
              </a:solidFill>
              <a:latin typeface="Calibri"/>
            </a:endParaRPr>
          </a:p>
        </p:txBody>
      </p:sp>
      <p:sp>
        <p:nvSpPr>
          <p:cNvPr id="24"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p>
            <a:pPr indent="0" defTabSz="914400">
              <a:lnSpc>
                <a:spcPct val="100000"/>
              </a:lnSpc>
              <a:spcBef>
                <a:spcPts val="400"/>
              </a:spcBef>
              <a:buNone/>
              <a:tabLst>
                <a:tab pos="0" algn="l"/>
              </a:tabLst>
            </a:pPr>
            <a:r>
              <a:rPr lang="en-US" sz="2000" b="0" strike="noStrike" spc="-1">
                <a:solidFill>
                  <a:schemeClr val="dk1">
                    <a:tint val="75000"/>
                  </a:schemeClr>
                </a:solidFill>
                <a:latin typeface="Calibri"/>
              </a:rPr>
              <a:t>Click to edit Master text styles</a:t>
            </a:r>
            <a:endParaRPr lang="en-US" sz="2000" b="0" strike="noStrike" spc="-1">
              <a:solidFill>
                <a:schemeClr val="dk1"/>
              </a:solidFill>
              <a:latin typeface="Calibri"/>
            </a:endParaRPr>
          </a:p>
        </p:txBody>
      </p:sp>
      <p:sp>
        <p:nvSpPr>
          <p:cNvPr id="25"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26"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27"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A508AF88-EDF9-4B56-AED0-99729804F9C3}"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7"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29"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0"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p>
            <a:pPr marL="343080" indent="-343080" defTabSz="914400">
              <a:lnSpc>
                <a:spcPct val="100000"/>
              </a:lnSpc>
              <a:spcBef>
                <a:spcPts val="561"/>
              </a:spcBef>
              <a:buClr>
                <a:srgbClr val="000000"/>
              </a:buClr>
              <a:buFont typeface="Arial"/>
              <a:buChar char="•"/>
            </a:pPr>
            <a:r>
              <a:rPr lang="en-US" sz="2800" b="0" strike="noStrike" spc="-1">
                <a:solidFill>
                  <a:schemeClr val="dk1"/>
                </a:solidFill>
                <a:latin typeface="Calibri"/>
              </a:rPr>
              <a:t>Click to edit Master text styles</a:t>
            </a:r>
          </a:p>
          <a:p>
            <a:pPr marL="743040" lvl="1" indent="-285840" defTabSz="914400">
              <a:lnSpc>
                <a:spcPct val="100000"/>
              </a:lnSpc>
              <a:spcBef>
                <a:spcPts val="479"/>
              </a:spcBef>
              <a:buClr>
                <a:srgbClr val="000000"/>
              </a:buClr>
              <a:buFont typeface="Arial"/>
              <a:buChar char="–"/>
            </a:pPr>
            <a:r>
              <a:rPr lang="en-US" sz="2400" b="0" strike="noStrike" spc="-1">
                <a:solidFill>
                  <a:schemeClr val="dk1"/>
                </a:solidFill>
                <a:latin typeface="Calibri"/>
              </a:rPr>
              <a:t>Second level</a:t>
            </a:r>
          </a:p>
          <a:p>
            <a:pPr marL="1143000" lvl="2"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Third level</a:t>
            </a:r>
          </a:p>
          <a:p>
            <a:pPr marL="1600200" lvl="3"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Fourth level</a:t>
            </a:r>
          </a:p>
          <a:p>
            <a:pPr marL="2057400" lvl="4"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Fifth level</a:t>
            </a:r>
          </a:p>
        </p:txBody>
      </p:sp>
      <p:sp>
        <p:nvSpPr>
          <p:cNvPr id="31"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32"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33"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594B8561-DBFF-4373-9E63-EA7DA83B549F}"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5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7"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38"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p>
            <a:pPr indent="0" defTabSz="9144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39"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0"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p>
            <a:pPr indent="0" defTabSz="914400">
              <a:lnSpc>
                <a:spcPct val="100000"/>
              </a:lnSpc>
              <a:spcBef>
                <a:spcPts val="479"/>
              </a:spcBef>
              <a:buNone/>
              <a:tabLst>
                <a:tab pos="0" algn="l"/>
              </a:tabLst>
            </a:pPr>
            <a:r>
              <a:rPr lang="en-US" sz="2400" b="1" strike="noStrike" spc="-1">
                <a:solidFill>
                  <a:schemeClr val="dk1"/>
                </a:solidFill>
                <a:latin typeface="Calibri"/>
              </a:rPr>
              <a:t>Click to edit Master text styles</a:t>
            </a:r>
            <a:endParaRPr lang="en-US" sz="2400" b="0" strike="noStrike" spc="-1">
              <a:solidFill>
                <a:schemeClr val="dk1"/>
              </a:solidFill>
              <a:latin typeface="Calibri"/>
            </a:endParaRPr>
          </a:p>
        </p:txBody>
      </p:sp>
      <p:sp>
        <p:nvSpPr>
          <p:cNvPr id="41"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p>
            <a:pPr marL="343080" indent="-343080" defTabSz="914400">
              <a:lnSpc>
                <a:spcPct val="100000"/>
              </a:lnSpc>
              <a:spcBef>
                <a:spcPts val="479"/>
              </a:spcBef>
              <a:buClr>
                <a:srgbClr val="000000"/>
              </a:buClr>
              <a:buFont typeface="Arial"/>
              <a:buChar char="•"/>
            </a:pPr>
            <a:r>
              <a:rPr lang="en-US" sz="2400" b="0" strike="noStrike" spc="-1">
                <a:solidFill>
                  <a:schemeClr val="dk1"/>
                </a:solidFill>
                <a:latin typeface="Calibri"/>
              </a:rPr>
              <a:t>Click to edit Master text styles</a:t>
            </a:r>
          </a:p>
          <a:p>
            <a:pPr marL="743040" lvl="1" indent="-285840" defTabSz="914400">
              <a:lnSpc>
                <a:spcPct val="100000"/>
              </a:lnSpc>
              <a:spcBef>
                <a:spcPts val="400"/>
              </a:spcBef>
              <a:buClr>
                <a:srgbClr val="000000"/>
              </a:buClr>
              <a:buFont typeface="Arial"/>
              <a:buChar char="–"/>
            </a:pPr>
            <a:r>
              <a:rPr lang="en-US" sz="2000" b="0" strike="noStrike" spc="-1">
                <a:solidFill>
                  <a:schemeClr val="dk1"/>
                </a:solidFill>
                <a:latin typeface="Calibri"/>
              </a:rPr>
              <a:t>Second level</a:t>
            </a:r>
          </a:p>
          <a:p>
            <a:pPr marL="1143000" lvl="2" indent="-228600" defTabSz="914400">
              <a:lnSpc>
                <a:spcPct val="100000"/>
              </a:lnSpc>
              <a:spcBef>
                <a:spcPts val="360"/>
              </a:spcBef>
              <a:buClr>
                <a:srgbClr val="000000"/>
              </a:buClr>
              <a:buFont typeface="Arial"/>
              <a:buChar char="•"/>
            </a:pPr>
            <a:r>
              <a:rPr lang="en-US" sz="1800" b="0" strike="noStrike" spc="-1">
                <a:solidFill>
                  <a:schemeClr val="dk1"/>
                </a:solidFill>
                <a:latin typeface="Calibri"/>
              </a:rPr>
              <a:t>Third level</a:t>
            </a:r>
          </a:p>
          <a:p>
            <a:pPr marL="1600200" lvl="3"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Fourth level</a:t>
            </a:r>
          </a:p>
          <a:p>
            <a:pPr marL="2057400" lvl="4" indent="-228600" defTabSz="914400">
              <a:lnSpc>
                <a:spcPct val="100000"/>
              </a:lnSpc>
              <a:spcBef>
                <a:spcPts val="320"/>
              </a:spcBef>
              <a:buClr>
                <a:srgbClr val="000000"/>
              </a:buClr>
              <a:buFont typeface="Arial"/>
              <a:buChar char="»"/>
            </a:pPr>
            <a:r>
              <a:rPr lang="en-US" sz="1600" b="0" strike="noStrike" spc="-1">
                <a:solidFill>
                  <a:schemeClr val="dk1"/>
                </a:solidFill>
                <a:latin typeface="Calibri"/>
              </a:rPr>
              <a:t>Fifth level</a:t>
            </a:r>
          </a:p>
        </p:txBody>
      </p:sp>
      <p:sp>
        <p:nvSpPr>
          <p:cNvPr id="42"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43"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44"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87E712B9-4DF2-4AD4-B039-7ED3019C71FA}"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1"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5"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p>
            <a:pPr indent="0" algn="ctr" defTabSz="914400">
              <a:lnSpc>
                <a:spcPct val="100000"/>
              </a:lnSpc>
              <a:buNone/>
            </a:pPr>
            <a:r>
              <a:rPr lang="en-US" sz="4400" b="0" strike="noStrike" spc="-1">
                <a:solidFill>
                  <a:schemeClr val="dk1"/>
                </a:solidFill>
                <a:latin typeface="Calibri"/>
              </a:rPr>
              <a:t>Click to edit Master title style</a:t>
            </a:r>
          </a:p>
        </p:txBody>
      </p:sp>
      <p:sp>
        <p:nvSpPr>
          <p:cNvPr id="46"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47"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48"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DF487FC2-444D-4D8B-B99A-AB135E9060E0}"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3"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0"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51"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52"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F79163EE-0FDA-4A12-BA1F-C960803C96B0}"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
        <p:nvSpPr>
          <p:cNvPr id="53" name="PlaceHolder 4"/>
          <p:cNvSpPr>
            <a:spLocks noGrp="1"/>
          </p:cNvSpPr>
          <p:nvPr>
            <p:ph type="title"/>
          </p:nvPr>
        </p:nvSpPr>
        <p:spPr>
          <a:xfrm>
            <a:off x="914400" y="410400"/>
            <a:ext cx="16458840" cy="171756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Cliquez pour éditer le format du texte-titre</a:t>
            </a:r>
          </a:p>
        </p:txBody>
      </p:sp>
      <p:sp>
        <p:nvSpPr>
          <p:cNvPr id="54" name="PlaceHolder 5"/>
          <p:cNvSpPr>
            <a:spLocks noGrp="1"/>
          </p:cNvSpPr>
          <p:nvPr>
            <p:ph type="body"/>
          </p:nvPr>
        </p:nvSpPr>
        <p:spPr>
          <a:xfrm>
            <a:off x="914400" y="2406960"/>
            <a:ext cx="16458840" cy="596592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Cliquez pour éditer le format du plan de texte</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niveau de plan</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Troisième niveau de plan</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Quatrième niveau de plan</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Cinquième niveau de plan</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Sixième niveau de plan</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Septième niveau de plan</a:t>
            </a:r>
          </a:p>
        </p:txBody>
      </p:sp>
    </p:spTree>
  </p:cSld>
  <p:clrMap bg1="lt1" tx1="dk1" bg2="lt2" tx2="dk2" accent1="accent1" accent2="accent2" accent3="accent3" accent4="accent4" accent5="accent5" accent6="accent6" hlink="hlink" folHlink="folHlink"/>
  <p:sldLayoutIdLst>
    <p:sldLayoutId id="2147483665"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p>
            <a:pPr indent="0" defTabSz="9144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56"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p>
            <a:pPr marL="343080" indent="-343080" defTabSz="914400">
              <a:lnSpc>
                <a:spcPct val="100000"/>
              </a:lnSpc>
              <a:spcBef>
                <a:spcPts val="641"/>
              </a:spcBef>
              <a:buClr>
                <a:srgbClr val="000000"/>
              </a:buClr>
              <a:buFont typeface="Arial"/>
              <a:buChar char="•"/>
            </a:pPr>
            <a:r>
              <a:rPr lang="en-US" sz="3200" b="0" strike="noStrike" spc="-1">
                <a:solidFill>
                  <a:schemeClr val="dk1"/>
                </a:solidFill>
                <a:latin typeface="Calibri"/>
              </a:rPr>
              <a:t>Click to edit Master text styles</a:t>
            </a:r>
          </a:p>
          <a:p>
            <a:pPr marL="743040" lvl="1" indent="-285840" defTabSz="914400">
              <a:lnSpc>
                <a:spcPct val="100000"/>
              </a:lnSpc>
              <a:spcBef>
                <a:spcPts val="561"/>
              </a:spcBef>
              <a:buClr>
                <a:srgbClr val="000000"/>
              </a:buClr>
              <a:buFont typeface="Arial"/>
              <a:buChar char="–"/>
            </a:pPr>
            <a:r>
              <a:rPr lang="en-US" sz="2800" b="0" strike="noStrike" spc="-1">
                <a:solidFill>
                  <a:schemeClr val="dk1"/>
                </a:solidFill>
                <a:latin typeface="Calibri"/>
              </a:rPr>
              <a:t>Second level</a:t>
            </a:r>
          </a:p>
          <a:p>
            <a:pPr marL="1143000" lvl="2" indent="-228600" defTabSz="914400">
              <a:lnSpc>
                <a:spcPct val="100000"/>
              </a:lnSpc>
              <a:spcBef>
                <a:spcPts val="479"/>
              </a:spcBef>
              <a:buClr>
                <a:srgbClr val="000000"/>
              </a:buClr>
              <a:buFont typeface="Arial"/>
              <a:buChar char="•"/>
            </a:pPr>
            <a:r>
              <a:rPr lang="en-US" sz="2400" b="0" strike="noStrike" spc="-1">
                <a:solidFill>
                  <a:schemeClr val="dk1"/>
                </a:solidFill>
                <a:latin typeface="Calibri"/>
              </a:rPr>
              <a:t>Third level</a:t>
            </a:r>
          </a:p>
          <a:p>
            <a:pPr marL="1600200" lvl="3"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Fourth level</a:t>
            </a:r>
          </a:p>
          <a:p>
            <a:pPr marL="2057400" lvl="4" indent="-228600" defTabSz="914400">
              <a:lnSpc>
                <a:spcPct val="100000"/>
              </a:lnSpc>
              <a:spcBef>
                <a:spcPts val="400"/>
              </a:spcBef>
              <a:buClr>
                <a:srgbClr val="000000"/>
              </a:buClr>
              <a:buFont typeface="Arial"/>
              <a:buChar char="»"/>
            </a:pPr>
            <a:r>
              <a:rPr lang="en-US" sz="2000" b="0" strike="noStrike" spc="-1">
                <a:solidFill>
                  <a:schemeClr val="dk1"/>
                </a:solidFill>
                <a:latin typeface="Calibri"/>
              </a:rPr>
              <a:t>Fifth level</a:t>
            </a:r>
          </a:p>
        </p:txBody>
      </p:sp>
      <p:sp>
        <p:nvSpPr>
          <p:cNvPr id="57"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p>
            <a:pPr indent="0" defTabSz="9144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58"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59"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60"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AEC2B1B4-7635-44F7-8E49-EAFB762953BA}"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7"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1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p>
            <a:pPr indent="0" defTabSz="914400">
              <a:lnSpc>
                <a:spcPct val="100000"/>
              </a:lnSpc>
              <a:buNone/>
            </a:pPr>
            <a:r>
              <a:rPr lang="en-US" sz="2000" b="1" strike="noStrike" spc="-1">
                <a:solidFill>
                  <a:schemeClr val="dk1"/>
                </a:solidFill>
                <a:latin typeface="Calibri"/>
              </a:rPr>
              <a:t>Click to edit Master title style</a:t>
            </a:r>
            <a:endParaRPr lang="en-US" sz="2000" b="0" strike="noStrike" spc="-1">
              <a:solidFill>
                <a:schemeClr val="dk1"/>
              </a:solidFill>
              <a:latin typeface="Calibri"/>
            </a:endParaRPr>
          </a:p>
        </p:txBody>
      </p:sp>
      <p:sp>
        <p:nvSpPr>
          <p:cNvPr id="62"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Cliquez pour éditer le format du plan de texte</a:t>
            </a:r>
          </a:p>
          <a:p>
            <a:pPr marL="864000" lvl="1" indent="-324000">
              <a:spcBef>
                <a:spcPts val="1134"/>
              </a:spcBef>
              <a:buClr>
                <a:srgbClr val="000000"/>
              </a:buClr>
              <a:buSzPct val="75000"/>
              <a:buFont typeface="Symbol" charset="2"/>
              <a:buChar char=""/>
            </a:pPr>
            <a:r>
              <a:rPr lang="en-US" sz="3200" b="0" strike="noStrike" spc="-1">
                <a:solidFill>
                  <a:schemeClr val="dk1"/>
                </a:solidFill>
                <a:latin typeface="Calibri"/>
              </a:rPr>
              <a:t>Second niveau de plan</a:t>
            </a:r>
          </a:p>
          <a:p>
            <a:pPr marL="1296000" lvl="2" indent="-288000">
              <a:spcBef>
                <a:spcPts val="850"/>
              </a:spcBef>
              <a:buClr>
                <a:srgbClr val="000000"/>
              </a:buClr>
              <a:buSzPct val="45000"/>
              <a:buFont typeface="Wingdings" charset="2"/>
              <a:buChar char=""/>
            </a:pPr>
            <a:r>
              <a:rPr lang="en-US" sz="3200" b="0" strike="noStrike" spc="-1">
                <a:solidFill>
                  <a:schemeClr val="dk1"/>
                </a:solidFill>
                <a:latin typeface="Calibri"/>
              </a:rPr>
              <a:t>Troisième niveau de plan</a:t>
            </a:r>
          </a:p>
          <a:p>
            <a:pPr marL="1728000" lvl="3" indent="-216000">
              <a:spcBef>
                <a:spcPts val="567"/>
              </a:spcBef>
              <a:buClr>
                <a:srgbClr val="000000"/>
              </a:buClr>
              <a:buSzPct val="75000"/>
              <a:buFont typeface="Symbol" charset="2"/>
              <a:buChar char=""/>
            </a:pPr>
            <a:r>
              <a:rPr lang="en-US" sz="3200" b="0" strike="noStrike" spc="-1">
                <a:solidFill>
                  <a:schemeClr val="dk1"/>
                </a:solidFill>
                <a:latin typeface="Calibri"/>
              </a:rPr>
              <a:t>Quatrième niveau de plan</a:t>
            </a:r>
          </a:p>
          <a:p>
            <a:pPr marL="2160000" lvl="4" indent="-216000">
              <a:spcBef>
                <a:spcPts val="283"/>
              </a:spcBef>
              <a:buClr>
                <a:srgbClr val="000000"/>
              </a:buClr>
              <a:buSzPct val="45000"/>
              <a:buFont typeface="Wingdings" charset="2"/>
              <a:buChar char=""/>
            </a:pPr>
            <a:r>
              <a:rPr lang="en-US" sz="3200" b="0" strike="noStrike" spc="-1">
                <a:solidFill>
                  <a:schemeClr val="dk1"/>
                </a:solidFill>
                <a:latin typeface="Calibri"/>
              </a:rPr>
              <a:t>Cinquième niveau de plan</a:t>
            </a:r>
          </a:p>
          <a:p>
            <a:pPr marL="2592000" lvl="5" indent="-216000">
              <a:spcBef>
                <a:spcPts val="283"/>
              </a:spcBef>
              <a:buClr>
                <a:srgbClr val="000000"/>
              </a:buClr>
              <a:buSzPct val="45000"/>
              <a:buFont typeface="Wingdings" charset="2"/>
              <a:buChar char=""/>
            </a:pPr>
            <a:r>
              <a:rPr lang="en-US" sz="3200" b="0" strike="noStrike" spc="-1">
                <a:solidFill>
                  <a:schemeClr val="dk1"/>
                </a:solidFill>
                <a:latin typeface="Calibri"/>
              </a:rPr>
              <a:t>Sixième niveau de plan</a:t>
            </a:r>
          </a:p>
          <a:p>
            <a:pPr marL="3024000" lvl="6" indent="-216000">
              <a:spcBef>
                <a:spcPts val="283"/>
              </a:spcBef>
              <a:buClr>
                <a:srgbClr val="000000"/>
              </a:buClr>
              <a:buSzPct val="45000"/>
              <a:buFont typeface="Wingdings" charset="2"/>
              <a:buChar char=""/>
            </a:pPr>
            <a:r>
              <a:rPr lang="en-US" sz="3200" b="0" strike="noStrike" spc="-1">
                <a:solidFill>
                  <a:schemeClr val="dk1"/>
                </a:solidFill>
                <a:latin typeface="Calibri"/>
              </a:rPr>
              <a:t>Septième niveau de plan</a:t>
            </a:r>
          </a:p>
        </p:txBody>
      </p:sp>
      <p:sp>
        <p:nvSpPr>
          <p:cNvPr id="63"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p>
            <a:pPr indent="0" defTabSz="914400">
              <a:lnSpc>
                <a:spcPct val="100000"/>
              </a:lnSpc>
              <a:spcBef>
                <a:spcPts val="281"/>
              </a:spcBef>
              <a:buNone/>
              <a:tabLst>
                <a:tab pos="0" algn="l"/>
              </a:tabLst>
            </a:pPr>
            <a:r>
              <a:rPr lang="en-US" sz="1400" b="0" strike="noStrike" spc="-1">
                <a:solidFill>
                  <a:schemeClr val="dk1"/>
                </a:solidFill>
                <a:latin typeface="Calibri"/>
              </a:rPr>
              <a:t>Click to edit Master text styles</a:t>
            </a:r>
          </a:p>
        </p:txBody>
      </p:sp>
      <p:sp>
        <p:nvSpPr>
          <p:cNvPr id="64"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defTabSz="914400">
              <a:lnSpc>
                <a:spcPct val="100000"/>
              </a:lnSpc>
              <a:buNone/>
              <a:defRPr lang="en-US" sz="1200" b="0" strike="noStrike" spc="-1">
                <a:solidFill>
                  <a:schemeClr val="dk1">
                    <a:tint val="75000"/>
                  </a:schemeClr>
                </a:solidFill>
                <a:latin typeface="Calibri"/>
              </a:defRPr>
            </a:lvl1pPr>
          </a:lstStyle>
          <a:p>
            <a:pPr indent="0" defTabSz="914400">
              <a:lnSpc>
                <a:spcPct val="100000"/>
              </a:lnSpc>
              <a:buNone/>
            </a:pPr>
            <a:endParaRPr lang="fr-FR" sz="1200" b="0" strike="noStrike" spc="-1">
              <a:solidFill>
                <a:srgbClr val="000000"/>
              </a:solidFill>
              <a:latin typeface="Times New Roman"/>
            </a:endParaRPr>
          </a:p>
        </p:txBody>
      </p:sp>
      <p:sp>
        <p:nvSpPr>
          <p:cNvPr id="65"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fr-FR" sz="1400" b="0" strike="noStrike" spc="-1">
                <a:solidFill>
                  <a:srgbClr val="000000"/>
                </a:solidFill>
                <a:latin typeface="Times New Roman"/>
              </a:defRPr>
            </a:lvl1pPr>
          </a:lstStyle>
          <a:p>
            <a:pPr indent="0" algn="ctr">
              <a:buNone/>
            </a:pPr>
            <a:r>
              <a:rPr lang="fr-FR" sz="1400" b="0" strike="noStrike" spc="-1" smtClean="0">
                <a:solidFill>
                  <a:srgbClr val="000000"/>
                </a:solidFill>
                <a:latin typeface="Times New Roman"/>
              </a:rPr>
              <a:t>Footer</a:t>
            </a:r>
            <a:endParaRPr lang="fr-FR" sz="1400" b="0" strike="noStrike" spc="-1">
              <a:solidFill>
                <a:srgbClr val="000000"/>
              </a:solidFill>
              <a:latin typeface="Times New Roman"/>
            </a:endParaRPr>
          </a:p>
        </p:txBody>
      </p:sp>
      <p:sp>
        <p:nvSpPr>
          <p:cNvPr id="66"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914400">
              <a:lnSpc>
                <a:spcPct val="100000"/>
              </a:lnSpc>
              <a:buNone/>
              <a:defRPr lang="en-US" sz="1200" b="0" strike="noStrike" spc="-1">
                <a:solidFill>
                  <a:schemeClr val="dk1">
                    <a:tint val="75000"/>
                  </a:schemeClr>
                </a:solidFill>
                <a:latin typeface="Calibri"/>
              </a:defRPr>
            </a:lvl1pPr>
          </a:lstStyle>
          <a:p>
            <a:pPr indent="0" algn="r" defTabSz="914400">
              <a:lnSpc>
                <a:spcPct val="100000"/>
              </a:lnSpc>
              <a:buNone/>
            </a:pPr>
            <a:fld id="{6978D405-E3C3-42EC-8DA1-DB7B6267F0B7}" type="slidenum">
              <a:rPr lang="en-US" sz="1200" b="0" strike="noStrike" spc="-1">
                <a:solidFill>
                  <a:schemeClr val="dk1">
                    <a:tint val="75000"/>
                  </a:schemeClr>
                </a:solidFill>
                <a:latin typeface="Calibri"/>
              </a:rPr>
              <a:t>‹N°›</a:t>
            </a:fld>
            <a:endParaRPr lang="fr-FR" sz="12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9" r:id="rId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6.svg"/><Relationship Id="rId2" Type="http://schemas.openxmlformats.org/officeDocument/2006/relationships/image" Target="../media/image1.jpeg"/><Relationship Id="rId1" Type="http://schemas.openxmlformats.org/officeDocument/2006/relationships/slideLayout" Target="../slideLayouts/slideLayout9.xml"/><Relationship Id="rId6" Type="http://schemas.openxmlformats.org/officeDocument/2006/relationships/image" Target="../media/image4.png"/><Relationship Id="rId5" Type="http://schemas.openxmlformats.org/officeDocument/2006/relationships/image" Target="../media/image4.svg"/><Relationship Id="rId10" Type="http://schemas.openxmlformats.org/officeDocument/2006/relationships/image" Target="../media/image7.png"/><Relationship Id="rId4" Type="http://schemas.openxmlformats.org/officeDocument/2006/relationships/image" Target="../media/image3.png"/><Relationship Id="rId9" Type="http://schemas.openxmlformats.org/officeDocument/2006/relationships/image" Target="../media/image6.jpe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9.png"/><Relationship Id="rId7" Type="http://schemas.openxmlformats.org/officeDocument/2006/relationships/image" Target="../media/image12.svg"/><Relationship Id="rId2" Type="http://schemas.openxmlformats.org/officeDocument/2006/relationships/image" Target="../media/image8.png"/><Relationship Id="rId1" Type="http://schemas.openxmlformats.org/officeDocument/2006/relationships/slideLayout" Target="../slideLayouts/slideLayout9.xml"/><Relationship Id="rId5" Type="http://schemas.openxmlformats.org/officeDocument/2006/relationships/image" Target="../media/image12.svg"/><Relationship Id="rId10" Type="http://schemas.openxmlformats.org/officeDocument/2006/relationships/image" Target="../media/image11.jpeg"/><Relationship Id="rId4" Type="http://schemas.openxmlformats.org/officeDocument/2006/relationships/image" Target="../media/image12.svg"/><Relationship Id="rId9" Type="http://schemas.openxmlformats.org/officeDocument/2006/relationships/image" Target="../media/image14.svg"/></Relationships>
</file>

<file path=ppt/slides/_rels/slide3.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4.sv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4.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2.png"/><Relationship Id="rId3" Type="http://schemas.openxmlformats.org/officeDocument/2006/relationships/image" Target="../media/image14.svg"/><Relationship Id="rId7" Type="http://schemas.openxmlformats.org/officeDocument/2006/relationships/image" Target="../media/image17.png"/><Relationship Id="rId12" Type="http://schemas.openxmlformats.org/officeDocument/2006/relationships/image" Target="../media/image21.pn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22.svg"/><Relationship Id="rId11" Type="http://schemas.openxmlformats.org/officeDocument/2006/relationships/image" Target="../media/image20.png"/><Relationship Id="rId5" Type="http://schemas.openxmlformats.org/officeDocument/2006/relationships/image" Target="../media/image16.png"/><Relationship Id="rId15" Type="http://schemas.openxmlformats.org/officeDocument/2006/relationships/image" Target="../media/image24.png"/><Relationship Id="rId10" Type="http://schemas.openxmlformats.org/officeDocument/2006/relationships/image" Target="../media/image19.png"/><Relationship Id="rId4" Type="http://schemas.openxmlformats.org/officeDocument/2006/relationships/image" Target="../media/image14.svg"/><Relationship Id="rId9" Type="http://schemas.openxmlformats.org/officeDocument/2006/relationships/image" Target="../media/image25.svg"/><Relationship Id="rId14" Type="http://schemas.openxmlformats.org/officeDocument/2006/relationships/image" Target="../media/image23.png"/></Relationships>
</file>

<file path=ppt/slides/_rels/slide5.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6.xml.rels><?xml version="1.0" encoding="UTF-8" standalone="yes"?>
<Relationships xmlns="http://schemas.openxmlformats.org/package/2006/relationships"><Relationship Id="rId8" Type="http://schemas.openxmlformats.org/officeDocument/2006/relationships/image" Target="../media/image36.svg"/><Relationship Id="rId13" Type="http://schemas.openxmlformats.org/officeDocument/2006/relationships/image" Target="../media/image30.png"/><Relationship Id="rId3" Type="http://schemas.openxmlformats.org/officeDocument/2006/relationships/image" Target="../media/image36.svg"/><Relationship Id="rId12" Type="http://schemas.openxmlformats.org/officeDocument/2006/relationships/image" Target="../media/image38.svg"/><Relationship Id="rId2" Type="http://schemas.openxmlformats.org/officeDocument/2006/relationships/image" Target="../media/image28.png"/><Relationship Id="rId16" Type="http://schemas.openxmlformats.org/officeDocument/2006/relationships/image" Target="../media/image33.png"/><Relationship Id="rId1" Type="http://schemas.openxmlformats.org/officeDocument/2006/relationships/slideLayout" Target="../slideLayouts/slideLayout9.xml"/><Relationship Id="rId6" Type="http://schemas.openxmlformats.org/officeDocument/2006/relationships/image" Target="../media/image36.svg"/><Relationship Id="rId11" Type="http://schemas.openxmlformats.org/officeDocument/2006/relationships/image" Target="../media/image29.png"/><Relationship Id="rId15" Type="http://schemas.openxmlformats.org/officeDocument/2006/relationships/image" Target="../media/image32.png"/><Relationship Id="rId10" Type="http://schemas.openxmlformats.org/officeDocument/2006/relationships/image" Target="../media/image4.svg"/><Relationship Id="rId4" Type="http://schemas.openxmlformats.org/officeDocument/2006/relationships/image" Target="../media/image36.svg"/><Relationship Id="rId9" Type="http://schemas.openxmlformats.org/officeDocument/2006/relationships/image" Target="../media/image3.png"/><Relationship Id="rId14" Type="http://schemas.openxmlformats.org/officeDocument/2006/relationships/image" Target="../media/image31.png"/></Relationships>
</file>

<file path=ppt/slides/_rels/slide7.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9.xml"/><Relationship Id="rId5" Type="http://schemas.openxmlformats.org/officeDocument/2006/relationships/image" Target="../media/image35.png"/><Relationship Id="rId4" Type="http://schemas.openxmlformats.org/officeDocument/2006/relationships/image" Target="../media/image34.png"/></Relationships>
</file>

<file path=ppt/slides/_rels/slide8.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_rels/slide9.xml.rels><?xml version="1.0" encoding="UTF-8" standalone="yes"?>
<Relationships xmlns="http://schemas.openxmlformats.org/package/2006/relationships"><Relationship Id="rId13" Type="http://schemas.openxmlformats.org/officeDocument/2006/relationships/image" Target="../media/image42.png"/><Relationship Id="rId3" Type="http://schemas.openxmlformats.org/officeDocument/2006/relationships/image" Target="../media/image10.png"/><Relationship Id="rId7" Type="http://schemas.openxmlformats.org/officeDocument/2006/relationships/image" Target="../media/image50.svg"/><Relationship Id="rId12" Type="http://schemas.openxmlformats.org/officeDocument/2006/relationships/image" Target="../media/image41.png"/><Relationship Id="rId2" Type="http://schemas.openxmlformats.org/officeDocument/2006/relationships/image" Target="../media/image39.png"/><Relationship Id="rId1" Type="http://schemas.openxmlformats.org/officeDocument/2006/relationships/slideLayout" Target="../slideLayouts/slideLayout9.xml"/><Relationship Id="rId6" Type="http://schemas.openxmlformats.org/officeDocument/2006/relationships/image" Target="../media/image50.svg"/><Relationship Id="rId11" Type="http://schemas.openxmlformats.org/officeDocument/2006/relationships/image" Target="../media/image50.svg"/><Relationship Id="rId5" Type="http://schemas.openxmlformats.org/officeDocument/2006/relationships/image" Target="../media/image40.png"/><Relationship Id="rId15" Type="http://schemas.openxmlformats.org/officeDocument/2006/relationships/image" Target="../media/image44.png"/><Relationship Id="rId4" Type="http://schemas.openxmlformats.org/officeDocument/2006/relationships/image" Target="../media/image14.svg"/><Relationship Id="rId9" Type="http://schemas.openxmlformats.org/officeDocument/2006/relationships/image" Target="../media/image50.svg"/><Relationship Id="rId14"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50.png"/><Relationship Id="rId3" Type="http://schemas.openxmlformats.org/officeDocument/2006/relationships/image" Target="../media/image56.svg"/><Relationship Id="rId7" Type="http://schemas.openxmlformats.org/officeDocument/2006/relationships/image" Target="../media/image49.png"/><Relationship Id="rId12" Type="http://schemas.openxmlformats.org/officeDocument/2006/relationships/image" Target="../media/image51.png"/><Relationship Id="rId2" Type="http://schemas.openxmlformats.org/officeDocument/2006/relationships/image" Target="../media/image45.png"/><Relationship Id="rId1" Type="http://schemas.openxmlformats.org/officeDocument/2006/relationships/slideLayout" Target="../slideLayouts/slideLayout9.xml"/><Relationship Id="rId6" Type="http://schemas.openxmlformats.org/officeDocument/2006/relationships/image" Target="../media/image48.png"/><Relationship Id="rId11" Type="http://schemas.openxmlformats.org/officeDocument/2006/relationships/image" Target="../media/image14.svg"/><Relationship Id="rId5" Type="http://schemas.openxmlformats.org/officeDocument/2006/relationships/image" Target="../media/image47.png"/><Relationship Id="rId4" Type="http://schemas.openxmlformats.org/officeDocument/2006/relationships/image" Target="../media/image46.png"/><Relationship Id="rId9" Type="http://schemas.openxmlformats.org/officeDocument/2006/relationships/image" Target="../media/image10.png"/></Relationships>
</file>

<file path=ppt/slides/_rels/slide11.xml.rels><?xml version="1.0" encoding="UTF-8" standalone="yes"?>
<Relationships xmlns="http://schemas.openxmlformats.org/package/2006/relationships"><Relationship Id="rId8" Type="http://schemas.openxmlformats.org/officeDocument/2006/relationships/image" Target="../media/image12.svg"/><Relationship Id="rId13" Type="http://schemas.openxmlformats.org/officeDocument/2006/relationships/image" Target="../media/image55.png"/><Relationship Id="rId3" Type="http://schemas.openxmlformats.org/officeDocument/2006/relationships/image" Target="../media/image14.svg"/><Relationship Id="rId7" Type="http://schemas.openxmlformats.org/officeDocument/2006/relationships/image" Target="../media/image12.svg"/><Relationship Id="rId12" Type="http://schemas.openxmlformats.org/officeDocument/2006/relationships/image" Target="../media/image54.png"/><Relationship Id="rId2" Type="http://schemas.openxmlformats.org/officeDocument/2006/relationships/image" Target="../media/image10.png"/><Relationship Id="rId1" Type="http://schemas.openxmlformats.org/officeDocument/2006/relationships/slideLayout" Target="../slideLayouts/slideLayout9.xml"/><Relationship Id="rId6" Type="http://schemas.openxmlformats.org/officeDocument/2006/relationships/image" Target="../media/image9.png"/><Relationship Id="rId11" Type="http://schemas.openxmlformats.org/officeDocument/2006/relationships/image" Target="../media/image53.png"/><Relationship Id="rId5" Type="http://schemas.openxmlformats.org/officeDocument/2006/relationships/image" Target="../media/image64.svg"/><Relationship Id="rId10" Type="http://schemas.openxmlformats.org/officeDocument/2006/relationships/image" Target="../media/image12.svg"/><Relationship Id="rId4" Type="http://schemas.openxmlformats.org/officeDocument/2006/relationships/image" Target="../media/image52.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56.png"/><Relationship Id="rId1" Type="http://schemas.openxmlformats.org/officeDocument/2006/relationships/slideLayout" Target="../slideLayouts/slideLayout9.xml"/><Relationship Id="rId5" Type="http://schemas.openxmlformats.org/officeDocument/2006/relationships/image" Target="../media/image57.png"/><Relationship Id="rId4" Type="http://schemas.openxmlformats.org/officeDocument/2006/relationships/image" Target="../media/image14.svg"/></Relationships>
</file>

<file path=ppt/slides/_rels/slide13.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0.png"/><Relationship Id="rId1" Type="http://schemas.openxmlformats.org/officeDocument/2006/relationships/slideLayout" Target="../slideLayouts/slideLayout9.xml"/><Relationship Id="rId4"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6.svg"/><Relationship Id="rId3" Type="http://schemas.openxmlformats.org/officeDocument/2006/relationships/image" Target="../media/image2.png"/><Relationship Id="rId7" Type="http://schemas.openxmlformats.org/officeDocument/2006/relationships/image" Target="../media/image4.png"/><Relationship Id="rId12" Type="http://schemas.openxmlformats.org/officeDocument/2006/relationships/image" Target="../media/image76.svg"/><Relationship Id="rId2" Type="http://schemas.openxmlformats.org/officeDocument/2006/relationships/image" Target="../media/image59.png"/><Relationship Id="rId1" Type="http://schemas.openxmlformats.org/officeDocument/2006/relationships/slideLayout" Target="../slideLayouts/slideLayout9.xml"/><Relationship Id="rId6" Type="http://schemas.openxmlformats.org/officeDocument/2006/relationships/image" Target="../media/image60.png"/><Relationship Id="rId11" Type="http://schemas.openxmlformats.org/officeDocument/2006/relationships/image" Target="../media/image62.png"/><Relationship Id="rId5" Type="http://schemas.openxmlformats.org/officeDocument/2006/relationships/image" Target="../media/image4.svg"/><Relationship Id="rId10" Type="http://schemas.openxmlformats.org/officeDocument/2006/relationships/image" Target="../media/image74.svg"/><Relationship Id="rId4" Type="http://schemas.openxmlformats.org/officeDocument/2006/relationships/image" Target="../media/image3.png"/><Relationship Id="rId9" Type="http://schemas.openxmlformats.org/officeDocument/2006/relationships/image" Target="../media/image6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1121" y="0"/>
            <a:ext cx="6091759" cy="7937660"/>
          </a:xfrm>
          <a:prstGeom prst="rect">
            <a:avLst/>
          </a:prstGeom>
        </p:spPr>
      </p:pic>
      <p:grpSp>
        <p:nvGrpSpPr>
          <p:cNvPr id="68" name="Group 3"/>
          <p:cNvGrpSpPr/>
          <p:nvPr/>
        </p:nvGrpSpPr>
        <p:grpSpPr>
          <a:xfrm>
            <a:off x="0" y="500326"/>
            <a:ext cx="17794272" cy="10251657"/>
            <a:chOff x="-2875319" y="-4937021"/>
            <a:chExt cx="22548599" cy="17650194"/>
          </a:xfrm>
        </p:grpSpPr>
        <p:sp>
          <p:nvSpPr>
            <p:cNvPr id="69" name="Freeform 4"/>
            <p:cNvSpPr/>
            <p:nvPr/>
          </p:nvSpPr>
          <p:spPr>
            <a:xfrm>
              <a:off x="-2875319" y="-4937021"/>
              <a:ext cx="20414024" cy="17650194"/>
            </a:xfrm>
            <a:custGeom>
              <a:avLst/>
              <a:gdLst>
                <a:gd name="textAreaLeft" fmla="*/ 0 w 22347720"/>
                <a:gd name="textAreaRight" fmla="*/ 22348080 w 22347720"/>
                <a:gd name="textAreaTop" fmla="*/ 0 h 6848640"/>
                <a:gd name="textAreaBottom" fmla="*/ 6849000 h 6848640"/>
              </a:gdLst>
              <a:ahLst/>
              <a:cxnLst/>
              <a:rect l="textAreaLeft" t="textAreaTop" r="textAreaRight" b="textAreaBottom"/>
              <a:pathLst>
                <a:path w="5885901" h="1803893">
                  <a:moveTo>
                    <a:pt x="0" y="0"/>
                  </a:moveTo>
                  <a:lnTo>
                    <a:pt x="5885901" y="0"/>
                  </a:lnTo>
                  <a:lnTo>
                    <a:pt x="5885901" y="1803893"/>
                  </a:lnTo>
                  <a:lnTo>
                    <a:pt x="0" y="1803893"/>
                  </a:lnTo>
                  <a:close/>
                </a:path>
              </a:pathLst>
            </a:custGeom>
            <a:solidFill>
              <a:srgbClr val="79C2EC">
                <a:alpha val="21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70" name="TextBox 5"/>
            <p:cNvSpPr/>
            <p:nvPr/>
          </p:nvSpPr>
          <p:spPr>
            <a:xfrm rot="1865400">
              <a:off x="-2674440" y="2234520"/>
              <a:ext cx="22347720" cy="69933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71" name="Group 6"/>
          <p:cNvGrpSpPr/>
          <p:nvPr/>
        </p:nvGrpSpPr>
        <p:grpSpPr>
          <a:xfrm rot="1819290">
            <a:off x="2516006" y="-323494"/>
            <a:ext cx="15929502" cy="10228045"/>
            <a:chOff x="-3176640" y="-1460103"/>
            <a:chExt cx="23296320" cy="12311600"/>
          </a:xfrm>
        </p:grpSpPr>
        <p:sp>
          <p:nvSpPr>
            <p:cNvPr id="72" name="Freeform 7"/>
            <p:cNvSpPr/>
            <p:nvPr/>
          </p:nvSpPr>
          <p:spPr>
            <a:xfrm rot="19733400">
              <a:off x="-20945" y="-1460103"/>
              <a:ext cx="19739490" cy="12311600"/>
            </a:xfrm>
            <a:custGeom>
              <a:avLst/>
              <a:gdLst>
                <a:gd name="textAreaLeft" fmla="*/ 0 w 23296320"/>
                <a:gd name="textAreaRight" fmla="*/ 23296680 w 23296320"/>
                <a:gd name="textAreaTop" fmla="*/ 0 h 7366680"/>
                <a:gd name="textAreaBottom" fmla="*/ 7367040 h 7366680"/>
              </a:gdLst>
              <a:ahLst/>
              <a:cxnLst/>
              <a:rect l="textAreaLeft" t="textAreaTop" r="textAreaRight" b="textAreaBottom"/>
              <a:pathLst>
                <a:path w="6135774" h="1940267">
                  <a:moveTo>
                    <a:pt x="0" y="0"/>
                  </a:moveTo>
                  <a:lnTo>
                    <a:pt x="6135774" y="0"/>
                  </a:lnTo>
                  <a:lnTo>
                    <a:pt x="6135774" y="1940267"/>
                  </a:lnTo>
                  <a:lnTo>
                    <a:pt x="0" y="1940267"/>
                  </a:lnTo>
                  <a:close/>
                </a:path>
              </a:pathLst>
            </a:custGeom>
            <a:solidFill>
              <a:srgbClr val="1679A9">
                <a:alpha val="33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73" name="TextBox 8"/>
            <p:cNvSpPr/>
            <p:nvPr/>
          </p:nvSpPr>
          <p:spPr>
            <a:xfrm rot="19733400">
              <a:off x="-3176640" y="1876320"/>
              <a:ext cx="23296320" cy="7511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74" name="Group 9"/>
          <p:cNvGrpSpPr/>
          <p:nvPr/>
        </p:nvGrpSpPr>
        <p:grpSpPr>
          <a:xfrm>
            <a:off x="9452077" y="724466"/>
            <a:ext cx="8835924" cy="8649360"/>
            <a:chOff x="8106481" y="-2703960"/>
            <a:chExt cx="12342770" cy="8649360"/>
          </a:xfrm>
        </p:grpSpPr>
        <p:sp>
          <p:nvSpPr>
            <p:cNvPr id="75" name="Freeform 10"/>
            <p:cNvSpPr/>
            <p:nvPr/>
          </p:nvSpPr>
          <p:spPr>
            <a:xfrm>
              <a:off x="8106481" y="-2703960"/>
              <a:ext cx="12342770" cy="8649360"/>
            </a:xfrm>
            <a:custGeom>
              <a:avLst/>
              <a:gdLst>
                <a:gd name="textAreaLeft" fmla="*/ 0 w 14366520"/>
                <a:gd name="textAreaRight" fmla="*/ 14366880 w 14366520"/>
                <a:gd name="textAreaTop" fmla="*/ 0 h 8649360"/>
                <a:gd name="textAreaBottom" fmla="*/ 8649720 h 8649360"/>
              </a:gdLst>
              <a:ahLst/>
              <a:cxnLst/>
              <a:rect l="textAreaLeft" t="textAreaTop" r="textAreaRight" b="textAreaBottom"/>
              <a:pathLst>
                <a:path w="812800" h="489349">
                  <a:moveTo>
                    <a:pt x="406400" y="0"/>
                  </a:moveTo>
                  <a:lnTo>
                    <a:pt x="812800" y="244675"/>
                  </a:lnTo>
                  <a:lnTo>
                    <a:pt x="406400" y="489349"/>
                  </a:lnTo>
                  <a:lnTo>
                    <a:pt x="0" y="244675"/>
                  </a:lnTo>
                  <a:lnTo>
                    <a:pt x="40640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sp>
        <p:nvSpPr>
          <p:cNvPr id="76" name="AutoShape 11"/>
          <p:cNvSpPr/>
          <p:nvPr/>
        </p:nvSpPr>
        <p:spPr>
          <a:xfrm>
            <a:off x="256156" y="6357385"/>
            <a:ext cx="360" cy="887400"/>
          </a:xfrm>
          <a:prstGeom prst="line">
            <a:avLst/>
          </a:prstGeom>
          <a:ln w="9525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fr-FR" sz="1800" b="0" strike="noStrike" spc="-1">
              <a:solidFill>
                <a:srgbClr val="000000"/>
              </a:solidFill>
              <a:latin typeface="Arial"/>
            </a:endParaRPr>
          </a:p>
        </p:txBody>
      </p:sp>
      <p:sp>
        <p:nvSpPr>
          <p:cNvPr id="77" name="TextBox 12"/>
          <p:cNvSpPr/>
          <p:nvPr/>
        </p:nvSpPr>
        <p:spPr>
          <a:xfrm>
            <a:off x="6382277" y="6339662"/>
            <a:ext cx="4889880" cy="884858"/>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96"/>
              </a:lnSpc>
              <a:tabLst>
                <a:tab pos="0" algn="l"/>
              </a:tabLst>
            </a:pPr>
            <a:r>
              <a:rPr lang="en-US" sz="1960" b="1" strike="noStrike" spc="-1" dirty="0">
                <a:solidFill>
                  <a:srgbClr val="00B0F0"/>
                </a:solidFill>
                <a:effectLst>
                  <a:outerShdw blurRad="38100" dist="38100" dir="2700000" algn="tl">
                    <a:srgbClr val="000000">
                      <a:alpha val="43137"/>
                    </a:srgbClr>
                  </a:outerShdw>
                </a:effectLst>
                <a:latin typeface="Garet Bold"/>
                <a:ea typeface="Garet Bold"/>
              </a:rPr>
              <a:t>DÉVELOPPEMENT D'UNE APPLICATION DE GÉOLOCALISATION DES ÉGLISES ÉVANGÉLIQUES DU CAMEROUN</a:t>
            </a:r>
            <a:endParaRPr lang="fr-FR" sz="1960" b="0" strike="noStrike" spc="-1" dirty="0">
              <a:solidFill>
                <a:srgbClr val="00B0F0"/>
              </a:solidFill>
              <a:effectLst>
                <a:outerShdw blurRad="38100" dist="38100" dir="2700000" algn="tl">
                  <a:srgbClr val="000000">
                    <a:alpha val="43137"/>
                  </a:srgbClr>
                </a:outerShdw>
              </a:effectLst>
              <a:latin typeface="Arial"/>
            </a:endParaRPr>
          </a:p>
        </p:txBody>
      </p:sp>
      <p:sp>
        <p:nvSpPr>
          <p:cNvPr id="78" name="Freeform 13"/>
          <p:cNvSpPr/>
          <p:nvPr/>
        </p:nvSpPr>
        <p:spPr>
          <a:xfrm>
            <a:off x="8639077" y="2157405"/>
            <a:ext cx="10844640" cy="5652720"/>
          </a:xfrm>
          <a:custGeom>
            <a:avLst/>
            <a:gdLst>
              <a:gd name="textAreaLeft" fmla="*/ 0 w 10844640"/>
              <a:gd name="textAreaRight" fmla="*/ 10845000 w 10844640"/>
              <a:gd name="textAreaTop" fmla="*/ 0 h 5652720"/>
              <a:gd name="textAreaBottom" fmla="*/ 5653080 h 5652720"/>
            </a:gdLst>
            <a:ahLst/>
            <a:cxnLst/>
            <a:rect l="textAreaLeft" t="textAreaTop" r="textAreaRight" b="textAreaBottom"/>
            <a:pathLst>
              <a:path w="10845133" h="5653026">
                <a:moveTo>
                  <a:pt x="0" y="0"/>
                </a:moveTo>
                <a:lnTo>
                  <a:pt x="10845133" y="0"/>
                </a:lnTo>
                <a:lnTo>
                  <a:pt x="10845133" y="5653025"/>
                </a:lnTo>
                <a:lnTo>
                  <a:pt x="0" y="5653025"/>
                </a:lnTo>
                <a:lnTo>
                  <a:pt x="0" y="0"/>
                </a:lnTo>
                <a:close/>
              </a:path>
            </a:pathLst>
          </a:custGeom>
          <a:blipFill rotWithShape="0">
            <a:blip r:embed="rId4">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79" name="Group 14"/>
          <p:cNvGrpSpPr/>
          <p:nvPr/>
        </p:nvGrpSpPr>
        <p:grpSpPr>
          <a:xfrm>
            <a:off x="217058" y="6457000"/>
            <a:ext cx="17518680" cy="3997800"/>
            <a:chOff x="-5098680" y="6480000"/>
            <a:chExt cx="17518680" cy="3997800"/>
          </a:xfrm>
        </p:grpSpPr>
        <p:sp>
          <p:nvSpPr>
            <p:cNvPr id="80" name="Freeform 15"/>
            <p:cNvSpPr/>
            <p:nvPr/>
          </p:nvSpPr>
          <p:spPr>
            <a:xfrm>
              <a:off x="-5098680" y="7465320"/>
              <a:ext cx="17518680" cy="3012480"/>
            </a:xfrm>
            <a:custGeom>
              <a:avLst/>
              <a:gdLst>
                <a:gd name="textAreaLeft" fmla="*/ 0 w 17518680"/>
                <a:gd name="textAreaRight" fmla="*/ 17519040 w 17518680"/>
                <a:gd name="textAreaTop" fmla="*/ 0 h 3012480"/>
                <a:gd name="textAreaBottom" fmla="*/ 3012840 h 3012480"/>
              </a:gdLst>
              <a:ahLst/>
              <a:cxnLst/>
              <a:rect l="textAreaLeft" t="textAreaTop" r="textAreaRight" b="textAreaBottom"/>
              <a:pathLst>
                <a:path w="677459" h="116505">
                  <a:moveTo>
                    <a:pt x="474259" y="0"/>
                  </a:moveTo>
                  <a:lnTo>
                    <a:pt x="0" y="0"/>
                  </a:lnTo>
                  <a:lnTo>
                    <a:pt x="203200" y="116505"/>
                  </a:lnTo>
                  <a:lnTo>
                    <a:pt x="677459" y="116505"/>
                  </a:lnTo>
                  <a:lnTo>
                    <a:pt x="47425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81" name="TextBox 16"/>
            <p:cNvSpPr/>
            <p:nvPr/>
          </p:nvSpPr>
          <p:spPr>
            <a:xfrm>
              <a:off x="-2471400" y="6480000"/>
              <a:ext cx="12263760" cy="39978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82" name="Freeform 17"/>
          <p:cNvSpPr/>
          <p:nvPr/>
        </p:nvSpPr>
        <p:spPr>
          <a:xfrm>
            <a:off x="1080000" y="9299880"/>
            <a:ext cx="420120" cy="420120"/>
          </a:xfrm>
          <a:custGeom>
            <a:avLst/>
            <a:gdLst>
              <a:gd name="textAreaLeft" fmla="*/ 0 w 420120"/>
              <a:gd name="textAreaRight" fmla="*/ 420480 w 420120"/>
              <a:gd name="textAreaTop" fmla="*/ 0 h 420120"/>
              <a:gd name="textAreaBottom" fmla="*/ 420480 h 420120"/>
            </a:gdLst>
            <a:ahLst/>
            <a:cxnLst/>
            <a:rect l="textAreaLeft" t="textAreaTop" r="textAreaRight" b="textAreaBottom"/>
            <a:pathLst>
              <a:path w="420342" h="420342">
                <a:moveTo>
                  <a:pt x="0" y="0"/>
                </a:moveTo>
                <a:lnTo>
                  <a:pt x="420342" y="0"/>
                </a:lnTo>
                <a:lnTo>
                  <a:pt x="420342" y="420342"/>
                </a:lnTo>
                <a:lnTo>
                  <a:pt x="0" y="420342"/>
                </a:lnTo>
                <a:lnTo>
                  <a:pt x="0" y="0"/>
                </a:lnTo>
                <a:close/>
              </a:path>
            </a:pathLst>
          </a:custGeom>
          <a:blipFill rotWithShape="0">
            <a:blip r:embed="rId6">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7"/>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83" name="TextBox 18"/>
          <p:cNvSpPr/>
          <p:nvPr/>
        </p:nvSpPr>
        <p:spPr>
          <a:xfrm>
            <a:off x="1100160" y="7807320"/>
            <a:ext cx="3708360" cy="255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013"/>
              </a:lnSpc>
              <a:tabLst>
                <a:tab pos="0" algn="l"/>
              </a:tabLst>
            </a:pPr>
            <a:r>
              <a:rPr lang="en-US" sz="1720" b="0" strike="noStrike" spc="-1">
                <a:solidFill>
                  <a:srgbClr val="1679A9"/>
                </a:solidFill>
                <a:latin typeface="Garet"/>
                <a:ea typeface="Garet"/>
              </a:rPr>
              <a:t>Projet académique</a:t>
            </a:r>
            <a:endParaRPr lang="fr-FR" sz="1720" b="0" strike="noStrike" spc="-1">
              <a:solidFill>
                <a:srgbClr val="000000"/>
              </a:solidFill>
              <a:latin typeface="Arial"/>
            </a:endParaRPr>
          </a:p>
        </p:txBody>
      </p:sp>
      <p:sp>
        <p:nvSpPr>
          <p:cNvPr id="84" name="TextBox 19"/>
          <p:cNvSpPr/>
          <p:nvPr/>
        </p:nvSpPr>
        <p:spPr>
          <a:xfrm>
            <a:off x="1637640" y="9401040"/>
            <a:ext cx="5173560" cy="243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916"/>
              </a:lnSpc>
              <a:tabLst>
                <a:tab pos="0" algn="l"/>
              </a:tabLst>
            </a:pPr>
            <a:r>
              <a:rPr lang="en-US" sz="1640" b="0" strike="noStrike" spc="-1">
                <a:solidFill>
                  <a:srgbClr val="000000"/>
                </a:solidFill>
                <a:latin typeface="Garet"/>
                <a:ea typeface="Garet"/>
              </a:rPr>
              <a:t>Cameroun</a:t>
            </a:r>
            <a:endParaRPr lang="fr-FR" sz="1640" b="0" strike="noStrike" spc="-1">
              <a:solidFill>
                <a:srgbClr val="000000"/>
              </a:solidFill>
              <a:latin typeface="Arial"/>
            </a:endParaRPr>
          </a:p>
        </p:txBody>
      </p:sp>
      <p:sp>
        <p:nvSpPr>
          <p:cNvPr id="85" name="TextBox 20"/>
          <p:cNvSpPr/>
          <p:nvPr/>
        </p:nvSpPr>
        <p:spPr>
          <a:xfrm>
            <a:off x="1075866" y="8012825"/>
            <a:ext cx="7005960" cy="769441"/>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999"/>
              </a:lnSpc>
              <a:tabLst>
                <a:tab pos="0" algn="l"/>
              </a:tabLst>
            </a:pPr>
            <a:r>
              <a:rPr lang="en-US" sz="2570" b="1" strike="noStrike" spc="-1" dirty="0">
                <a:solidFill>
                  <a:srgbClr val="1679A9"/>
                </a:solidFill>
                <a:latin typeface="Garet Bold"/>
                <a:ea typeface="Garet Bold"/>
              </a:rPr>
              <a:t>ÉCOLE </a:t>
            </a:r>
            <a:r>
              <a:rPr lang="en-US" sz="2570" b="1" strike="noStrike" spc="-1" dirty="0" smtClean="0">
                <a:solidFill>
                  <a:srgbClr val="1679A9"/>
                </a:solidFill>
                <a:latin typeface="Garet Bold"/>
                <a:ea typeface="Garet Bold"/>
              </a:rPr>
              <a:t>NATIONALE SUPERIEURE  POLYTECHNIQUE DE YAOUNDE</a:t>
            </a:r>
            <a:endParaRPr lang="fr-FR" sz="2570" b="0" strike="noStrike" spc="-1" dirty="0">
              <a:solidFill>
                <a:srgbClr val="000000"/>
              </a:solidFill>
              <a:latin typeface="Arial"/>
            </a:endParaRPr>
          </a:p>
        </p:txBody>
      </p:sp>
      <p:grpSp>
        <p:nvGrpSpPr>
          <p:cNvPr id="86" name="Group 21"/>
          <p:cNvGrpSpPr/>
          <p:nvPr/>
        </p:nvGrpSpPr>
        <p:grpSpPr>
          <a:xfrm rot="20632258">
            <a:off x="7291989" y="207125"/>
            <a:ext cx="6151320" cy="3164311"/>
            <a:chOff x="5030640" y="-2036880"/>
            <a:chExt cx="6151320" cy="3657240"/>
          </a:xfrm>
        </p:grpSpPr>
        <p:sp>
          <p:nvSpPr>
            <p:cNvPr id="87" name="Freeform 22"/>
            <p:cNvSpPr/>
            <p:nvPr/>
          </p:nvSpPr>
          <p:spPr>
            <a:xfrm>
              <a:off x="5030640" y="-2036880"/>
              <a:ext cx="6151320" cy="3657240"/>
            </a:xfrm>
            <a:custGeom>
              <a:avLst/>
              <a:gdLst>
                <a:gd name="textAreaLeft" fmla="*/ 0 w 6151320"/>
                <a:gd name="textAreaRight" fmla="*/ 6151680 w 6151320"/>
                <a:gd name="textAreaTop" fmla="*/ 0 h 3657240"/>
                <a:gd name="textAreaBottom" fmla="*/ 3657600 h 3657240"/>
              </a:gdLst>
              <a:ahLst/>
              <a:cxnLst/>
              <a:rect l="textAreaLeft" t="textAreaTop" r="textAreaRight" b="textAreaBottom"/>
              <a:pathLst>
                <a:path w="812800" h="483281">
                  <a:moveTo>
                    <a:pt x="406400" y="0"/>
                  </a:moveTo>
                  <a:lnTo>
                    <a:pt x="812800" y="241641"/>
                  </a:lnTo>
                  <a:lnTo>
                    <a:pt x="406400" y="483281"/>
                  </a:lnTo>
                  <a:lnTo>
                    <a:pt x="0" y="241641"/>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88" name="TextBox 23"/>
            <p:cNvSpPr/>
            <p:nvPr/>
          </p:nvSpPr>
          <p:spPr>
            <a:xfrm>
              <a:off x="6087960" y="-1696680"/>
              <a:ext cx="4036680" cy="26884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89" name="Freeform 24"/>
          <p:cNvSpPr/>
          <p:nvPr/>
        </p:nvSpPr>
        <p:spPr>
          <a:xfrm>
            <a:off x="3097000" y="5422387"/>
            <a:ext cx="871200" cy="1874160"/>
          </a:xfrm>
          <a:custGeom>
            <a:avLst/>
            <a:gdLst>
              <a:gd name="textAreaLeft" fmla="*/ 0 w 871200"/>
              <a:gd name="textAreaRight" fmla="*/ 871560 w 871200"/>
              <a:gd name="textAreaTop" fmla="*/ 0 h 1874160"/>
              <a:gd name="textAreaBottom" fmla="*/ 1874520 h 1874160"/>
            </a:gdLst>
            <a:ahLst/>
            <a:cxnLst/>
            <a:rect l="textAreaLeft" t="textAreaTop" r="textAreaRight" b="textAreaBottom"/>
            <a:pathLst>
              <a:path w="871404" h="1874486">
                <a:moveTo>
                  <a:pt x="0" y="0"/>
                </a:moveTo>
                <a:lnTo>
                  <a:pt x="871404" y="0"/>
                </a:lnTo>
                <a:lnTo>
                  <a:pt x="871404" y="1874486"/>
                </a:lnTo>
                <a:lnTo>
                  <a:pt x="0" y="1874486"/>
                </a:lnTo>
                <a:lnTo>
                  <a:pt x="0" y="0"/>
                </a:lnTo>
                <a:close/>
              </a:path>
            </a:pathLst>
          </a:custGeom>
          <a:blipFill rotWithShape="0">
            <a:blip r:embed="rId8"/>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B050"/>
              </a:solidFill>
              <a:latin typeface="Arial"/>
            </a:endParaRPr>
          </a:p>
        </p:txBody>
      </p:sp>
      <p:sp>
        <p:nvSpPr>
          <p:cNvPr id="90" name="TextBox 25"/>
          <p:cNvSpPr/>
          <p:nvPr/>
        </p:nvSpPr>
        <p:spPr>
          <a:xfrm>
            <a:off x="-63455" y="185394"/>
            <a:ext cx="8115120" cy="162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6409"/>
              </a:lnSpc>
              <a:tabLst>
                <a:tab pos="0" algn="l"/>
              </a:tabLst>
            </a:pPr>
            <a:r>
              <a:rPr lang="en-US" sz="6220" b="1" i="1" strike="noStrike" spc="-1" dirty="0">
                <a:solidFill>
                  <a:srgbClr val="00B0F0"/>
                </a:solidFill>
                <a:effectLst>
                  <a:outerShdw blurRad="38100" dist="38100" dir="2700000" algn="tl">
                    <a:srgbClr val="000000">
                      <a:alpha val="43137"/>
                    </a:srgbClr>
                  </a:outerShdw>
                </a:effectLst>
                <a:latin typeface="Garet Bold"/>
                <a:ea typeface="Garet Bold"/>
              </a:rPr>
              <a:t>GÉOLOCALISATION DES ÉGLISES EEC</a:t>
            </a:r>
            <a:endParaRPr lang="fr-FR" sz="6220" b="0" i="1" strike="noStrike" spc="-1" dirty="0">
              <a:solidFill>
                <a:srgbClr val="00B0F0"/>
              </a:solidFill>
              <a:effectLst>
                <a:outerShdw blurRad="38100" dist="38100" dir="2700000" algn="tl">
                  <a:srgbClr val="000000">
                    <a:alpha val="43137"/>
                  </a:srgbClr>
                </a:outerShdw>
              </a:effectLst>
              <a:latin typeface="Arial"/>
            </a:endParaRPr>
          </a:p>
        </p:txBody>
      </p:sp>
      <p:sp>
        <p:nvSpPr>
          <p:cNvPr id="91" name="TextBox 26"/>
          <p:cNvSpPr/>
          <p:nvPr/>
        </p:nvSpPr>
        <p:spPr>
          <a:xfrm>
            <a:off x="2208960" y="836640"/>
            <a:ext cx="3121560" cy="220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735"/>
              </a:lnSpc>
              <a:tabLst>
                <a:tab pos="0" algn="l"/>
              </a:tabLst>
            </a:pPr>
            <a:r>
              <a:rPr lang="en-US" sz="1490" b="0" strike="noStrike" spc="-1">
                <a:solidFill>
                  <a:srgbClr val="FFFFFF"/>
                </a:solidFill>
                <a:latin typeface="Garet"/>
                <a:ea typeface="Garet"/>
              </a:rPr>
              <a:t>ENPSY 2025-2026</a:t>
            </a:r>
            <a:endParaRPr lang="fr-FR" sz="1490" b="0" strike="noStrike" spc="-1">
              <a:solidFill>
                <a:srgbClr val="000000"/>
              </a:solidFill>
              <a:latin typeface="Arial"/>
            </a:endParaRPr>
          </a:p>
        </p:txBody>
      </p:sp>
      <p:pic>
        <p:nvPicPr>
          <p:cNvPr id="92" name="Image 91"/>
          <p:cNvPicPr/>
          <p:nvPr/>
        </p:nvPicPr>
        <p:blipFill>
          <a:blip r:embed="rId9"/>
          <a:stretch/>
        </p:blipFill>
        <p:spPr>
          <a:xfrm>
            <a:off x="5580000" y="8847000"/>
            <a:ext cx="1440000" cy="1440000"/>
          </a:xfrm>
          <a:prstGeom prst="rect">
            <a:avLst/>
          </a:prstGeom>
          <a:ln w="0">
            <a:noFill/>
          </a:ln>
        </p:spPr>
      </p:pic>
      <p:pic>
        <p:nvPicPr>
          <p:cNvPr id="93" name="Image 92"/>
          <p:cNvPicPr/>
          <p:nvPr/>
        </p:nvPicPr>
        <p:blipFill>
          <a:blip r:embed="rId10"/>
          <a:stretch/>
        </p:blipFill>
        <p:spPr>
          <a:xfrm>
            <a:off x="3600000" y="8760240"/>
            <a:ext cx="1620000" cy="1526400"/>
          </a:xfrm>
          <a:prstGeom prst="rect">
            <a:avLst/>
          </a:prstGeom>
          <a:ln w="0">
            <a:noFill/>
          </a:ln>
        </p:spPr>
      </p:pic>
      <p:sp>
        <p:nvSpPr>
          <p:cNvPr id="4" name="Espace réservé du numéro de diapositive 3"/>
          <p:cNvSpPr>
            <a:spLocks noGrp="1"/>
          </p:cNvSpPr>
          <p:nvPr>
            <p:ph type="sldNum" idx="27"/>
          </p:nvPr>
        </p:nvSpPr>
        <p:spPr/>
        <p:txBody>
          <a:bodyPr/>
          <a:lstStyle/>
          <a:p>
            <a:fld id="{9E85BCC3-BCA3-4EBB-84DF-5638ED71F27A}" type="slidenum">
              <a:rPr lang="fr-FR" smtClean="0"/>
              <a:t>1</a:t>
            </a:fld>
            <a:endParaRPr lang="fr-FR"/>
          </a:p>
        </p:txBody>
      </p:sp>
      <p:sp>
        <p:nvSpPr>
          <p:cNvPr id="5" name="Espace réservé du pied de page 4"/>
          <p:cNvSpPr>
            <a:spLocks noGrp="1"/>
          </p:cNvSpPr>
          <p:nvPr>
            <p:ph type="ftr" idx="26"/>
          </p:nvPr>
        </p:nvSpPr>
        <p:spPr/>
        <p:txBody>
          <a:bodyPr/>
          <a:lstStyle/>
          <a:p>
            <a:r>
              <a:rPr lang="fr-FR" smtClean="0"/>
              <a:t>Footer</a:t>
            </a:r>
            <a:endParaRPr lang="fr-FR"/>
          </a:p>
        </p:txBody>
      </p:sp>
      <p:sp>
        <p:nvSpPr>
          <p:cNvPr id="6" name="Ellipse 5"/>
          <p:cNvSpPr/>
          <p:nvPr/>
        </p:nvSpPr>
        <p:spPr>
          <a:xfrm>
            <a:off x="15356910" y="9720000"/>
            <a:ext cx="989556" cy="5670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1/14</a:t>
            </a:r>
            <a:endParaRPr lang="fr-FR" dirty="0"/>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4" name="Group 2"/>
          <p:cNvGrpSpPr/>
          <p:nvPr/>
        </p:nvGrpSpPr>
        <p:grpSpPr>
          <a:xfrm>
            <a:off x="-1474200" y="-560880"/>
            <a:ext cx="25135560" cy="20252160"/>
            <a:chOff x="-1474200" y="-560880"/>
            <a:chExt cx="25135560" cy="20252160"/>
          </a:xfrm>
        </p:grpSpPr>
        <p:sp>
          <p:nvSpPr>
            <p:cNvPr id="95" name="Freeform 3"/>
            <p:cNvSpPr/>
            <p:nvPr/>
          </p:nvSpPr>
          <p:spPr>
            <a:xfrm rot="19733400">
              <a:off x="-730440" y="5029920"/>
              <a:ext cx="23722560" cy="9193680"/>
            </a:xfrm>
            <a:custGeom>
              <a:avLst/>
              <a:gdLst>
                <a:gd name="textAreaLeft" fmla="*/ 0 w 23722560"/>
                <a:gd name="textAreaRight" fmla="*/ 23722920 w 23722560"/>
                <a:gd name="textAreaTop" fmla="*/ 0 h 9193680"/>
                <a:gd name="textAreaBottom" fmla="*/ 9194040 h 9193680"/>
              </a:gdLst>
              <a:ahLst/>
              <a:cxnLst/>
              <a:rect l="textAreaLeft" t="textAreaTop" r="textAreaRight" b="textAreaBottom"/>
              <a:pathLst>
                <a:path w="6247970" h="2421467">
                  <a:moveTo>
                    <a:pt x="0" y="0"/>
                  </a:moveTo>
                  <a:lnTo>
                    <a:pt x="6247970" y="0"/>
                  </a:lnTo>
                  <a:lnTo>
                    <a:pt x="6247970" y="2421467"/>
                  </a:lnTo>
                  <a:lnTo>
                    <a:pt x="0" y="2421467"/>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96" name="TextBox 4"/>
            <p:cNvSpPr/>
            <p:nvPr/>
          </p:nvSpPr>
          <p:spPr>
            <a:xfrm rot="19733400">
              <a:off x="-767520" y="4895640"/>
              <a:ext cx="23722560" cy="9338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97" name="Group 5"/>
          <p:cNvGrpSpPr/>
          <p:nvPr/>
        </p:nvGrpSpPr>
        <p:grpSpPr>
          <a:xfrm>
            <a:off x="-593640" y="-320400"/>
            <a:ext cx="5983200" cy="10782720"/>
            <a:chOff x="-593640" y="-320400"/>
            <a:chExt cx="5983200" cy="10782720"/>
          </a:xfrm>
        </p:grpSpPr>
        <p:sp>
          <p:nvSpPr>
            <p:cNvPr id="98" name="Freeform 6"/>
            <p:cNvSpPr/>
            <p:nvPr/>
          </p:nvSpPr>
          <p:spPr>
            <a:xfrm>
              <a:off x="-593640" y="-175680"/>
              <a:ext cx="5983200" cy="10638000"/>
            </a:xfrm>
            <a:custGeom>
              <a:avLst/>
              <a:gdLst>
                <a:gd name="textAreaLeft" fmla="*/ 0 w 5983200"/>
                <a:gd name="textAreaRight" fmla="*/ 5983560 w 5983200"/>
                <a:gd name="textAreaTop" fmla="*/ 0 h 10638000"/>
                <a:gd name="textAreaBottom" fmla="*/ 10638360 h 10638000"/>
              </a:gdLst>
              <a:ahLst/>
              <a:cxnLst/>
              <a:rect l="textAreaLeft" t="textAreaTop" r="textAreaRight" b="textAreaBottom"/>
              <a:pathLst>
                <a:path w="1575901" h="2801830">
                  <a:moveTo>
                    <a:pt x="0" y="0"/>
                  </a:moveTo>
                  <a:lnTo>
                    <a:pt x="1575901" y="0"/>
                  </a:lnTo>
                  <a:lnTo>
                    <a:pt x="1575901" y="2801830"/>
                  </a:lnTo>
                  <a:lnTo>
                    <a:pt x="0" y="280183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99" name="TextBox 7"/>
            <p:cNvSpPr/>
            <p:nvPr/>
          </p:nvSpPr>
          <p:spPr>
            <a:xfrm>
              <a:off x="-593640" y="-320400"/>
              <a:ext cx="5983200" cy="107823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00" name="Freeform 8"/>
          <p:cNvSpPr/>
          <p:nvPr/>
        </p:nvSpPr>
        <p:spPr>
          <a:xfrm>
            <a:off x="-3256560" y="2132640"/>
            <a:ext cx="8492040" cy="8926920"/>
          </a:xfrm>
          <a:custGeom>
            <a:avLst/>
            <a:gdLst>
              <a:gd name="textAreaLeft" fmla="*/ 0 w 8492040"/>
              <a:gd name="textAreaRight" fmla="*/ 8492400 w 8492040"/>
              <a:gd name="textAreaTop" fmla="*/ 0 h 8926920"/>
              <a:gd name="textAreaBottom" fmla="*/ 8927280 h 8926920"/>
            </a:gdLst>
            <a:ahLst/>
            <a:cxnLst/>
            <a:rect l="textAreaLeft" t="textAreaTop" r="textAreaRight" b="textAreaBottom"/>
            <a:pathLst>
              <a:path w="8492479" h="8927294">
                <a:moveTo>
                  <a:pt x="0" y="0"/>
                </a:moveTo>
                <a:lnTo>
                  <a:pt x="8492479" y="0"/>
                </a:lnTo>
                <a:lnTo>
                  <a:pt x="8492479" y="8927294"/>
                </a:lnTo>
                <a:lnTo>
                  <a:pt x="0" y="8927294"/>
                </a:lnTo>
                <a:lnTo>
                  <a:pt x="0" y="0"/>
                </a:lnTo>
                <a:close/>
              </a:path>
            </a:pathLst>
          </a:custGeom>
          <a:blipFill rotWithShape="0">
            <a:blip r:embed="rId2">
              <a:alphaModFix amt="9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01" name="Freeform 9"/>
          <p:cNvSpPr/>
          <p:nvPr/>
        </p:nvSpPr>
        <p:spPr>
          <a:xfrm>
            <a:off x="5916960" y="3648960"/>
            <a:ext cx="393120" cy="393120"/>
          </a:xfrm>
          <a:custGeom>
            <a:avLst/>
            <a:gdLst>
              <a:gd name="textAreaLeft" fmla="*/ 0 w 393120"/>
              <a:gd name="textAreaRight" fmla="*/ 393480 w 393120"/>
              <a:gd name="textAreaTop" fmla="*/ 0 h 393120"/>
              <a:gd name="textAreaBottom" fmla="*/ 393480 h 393120"/>
            </a:gdLst>
            <a:ahLst/>
            <a:cxnLst/>
            <a:rect l="textAreaLeft" t="textAreaTop" r="textAreaRight" b="textAreaBottom"/>
            <a:pathLst>
              <a:path w="393631" h="393631">
                <a:moveTo>
                  <a:pt x="0" y="0"/>
                </a:moveTo>
                <a:lnTo>
                  <a:pt x="393631" y="0"/>
                </a:lnTo>
                <a:lnTo>
                  <a:pt x="393631" y="393630"/>
                </a:lnTo>
                <a:lnTo>
                  <a:pt x="0" y="393630"/>
                </a:lnTo>
                <a:lnTo>
                  <a:pt x="0" y="0"/>
                </a:lnTo>
                <a:close/>
              </a:path>
            </a:pathLst>
          </a:custGeom>
          <a:blipFill rotWithShape="0">
            <a:blip r:embed="rId3">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02" name="Freeform 10"/>
          <p:cNvSpPr/>
          <p:nvPr/>
        </p:nvSpPr>
        <p:spPr>
          <a:xfrm>
            <a:off x="5916960" y="5607000"/>
            <a:ext cx="393120" cy="393120"/>
          </a:xfrm>
          <a:custGeom>
            <a:avLst/>
            <a:gdLst>
              <a:gd name="textAreaLeft" fmla="*/ 0 w 393120"/>
              <a:gd name="textAreaRight" fmla="*/ 393480 w 393120"/>
              <a:gd name="textAreaTop" fmla="*/ 0 h 393120"/>
              <a:gd name="textAreaBottom" fmla="*/ 393480 h 393120"/>
            </a:gdLst>
            <a:ahLst/>
            <a:cxnLst/>
            <a:rect l="textAreaLeft" t="textAreaTop" r="textAreaRight" b="textAreaBottom"/>
            <a:pathLst>
              <a:path w="393631" h="393631">
                <a:moveTo>
                  <a:pt x="0" y="0"/>
                </a:moveTo>
                <a:lnTo>
                  <a:pt x="393631" y="0"/>
                </a:lnTo>
                <a:lnTo>
                  <a:pt x="393631" y="393631"/>
                </a:lnTo>
                <a:lnTo>
                  <a:pt x="0" y="393631"/>
                </a:lnTo>
                <a:lnTo>
                  <a:pt x="0" y="0"/>
                </a:lnTo>
                <a:close/>
              </a:path>
            </a:pathLst>
          </a:custGeom>
          <a:blipFill rotWithShape="0">
            <a:blip r:embed="rId3">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03" name="TextBox 11"/>
          <p:cNvSpPr/>
          <p:nvPr/>
        </p:nvSpPr>
        <p:spPr>
          <a:xfrm>
            <a:off x="5916960" y="779040"/>
            <a:ext cx="6715800" cy="61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822"/>
              </a:lnSpc>
              <a:tabLst>
                <a:tab pos="0" algn="l"/>
              </a:tabLst>
            </a:pPr>
            <a:r>
              <a:rPr lang="en-US" sz="4270" b="1" strike="noStrike" spc="-1">
                <a:solidFill>
                  <a:srgbClr val="1679A9"/>
                </a:solidFill>
                <a:latin typeface="Garet Bold"/>
                <a:ea typeface="Garet Bold"/>
              </a:rPr>
              <a:t>CONTEXTE DU PROJET</a:t>
            </a:r>
            <a:endParaRPr lang="fr-FR" sz="4270" b="0" strike="noStrike" spc="-1">
              <a:solidFill>
                <a:srgbClr val="000000"/>
              </a:solidFill>
              <a:latin typeface="Arial"/>
            </a:endParaRPr>
          </a:p>
        </p:txBody>
      </p:sp>
      <p:sp>
        <p:nvSpPr>
          <p:cNvPr id="104" name="Freeform 12"/>
          <p:cNvSpPr/>
          <p:nvPr/>
        </p:nvSpPr>
        <p:spPr>
          <a:xfrm>
            <a:off x="5916960" y="7788240"/>
            <a:ext cx="393120" cy="393120"/>
          </a:xfrm>
          <a:custGeom>
            <a:avLst/>
            <a:gdLst>
              <a:gd name="textAreaLeft" fmla="*/ 0 w 393120"/>
              <a:gd name="textAreaRight" fmla="*/ 393480 w 393120"/>
              <a:gd name="textAreaTop" fmla="*/ 0 h 393120"/>
              <a:gd name="textAreaBottom" fmla="*/ 393480 h 393120"/>
            </a:gdLst>
            <a:ahLst/>
            <a:cxnLst/>
            <a:rect l="textAreaLeft" t="textAreaTop" r="textAreaRight" b="textAreaBottom"/>
            <a:pathLst>
              <a:path w="393631" h="393631">
                <a:moveTo>
                  <a:pt x="0" y="0"/>
                </a:moveTo>
                <a:lnTo>
                  <a:pt x="393631" y="0"/>
                </a:lnTo>
                <a:lnTo>
                  <a:pt x="393631" y="393631"/>
                </a:lnTo>
                <a:lnTo>
                  <a:pt x="0" y="393631"/>
                </a:lnTo>
                <a:lnTo>
                  <a:pt x="0" y="0"/>
                </a:lnTo>
                <a:close/>
              </a:path>
            </a:pathLst>
          </a:custGeom>
          <a:blipFill rotWithShape="0">
            <a:blip r:embed="rId3">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7"/>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05" name="Freeform 13"/>
          <p:cNvSpPr/>
          <p:nvPr/>
        </p:nvSpPr>
        <p:spPr>
          <a:xfrm rot="11743200" flipH="1">
            <a:off x="9635760" y="-310464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6" y="0"/>
                </a:moveTo>
                <a:lnTo>
                  <a:pt x="0" y="0"/>
                </a:lnTo>
                <a:lnTo>
                  <a:pt x="0" y="6709319"/>
                </a:lnTo>
                <a:lnTo>
                  <a:pt x="12871596" y="6709319"/>
                </a:lnTo>
                <a:lnTo>
                  <a:pt x="12871596" y="0"/>
                </a:lnTo>
                <a:close/>
              </a:path>
            </a:pathLst>
          </a:custGeom>
          <a:blipFill rotWithShape="0">
            <a:blip r:embed="rId8">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9"/>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06" name="TextBox 16"/>
          <p:cNvSpPr/>
          <p:nvPr/>
        </p:nvSpPr>
        <p:spPr>
          <a:xfrm>
            <a:off x="5971680" y="2819520"/>
            <a:ext cx="5534640" cy="358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826"/>
              </a:lnSpc>
              <a:tabLst>
                <a:tab pos="0" algn="l"/>
              </a:tabLst>
            </a:pPr>
            <a:r>
              <a:rPr lang="en-US" sz="2020" b="1" strike="noStrike" spc="-1">
                <a:solidFill>
                  <a:srgbClr val="000000"/>
                </a:solidFill>
                <a:latin typeface="Garet Bold"/>
                <a:ea typeface="Garet Bold"/>
              </a:rPr>
              <a:t>Présentation de l'EEC et son organisation</a:t>
            </a:r>
            <a:endParaRPr lang="fr-FR" sz="2020" b="0" strike="noStrike" spc="-1">
              <a:solidFill>
                <a:srgbClr val="000000"/>
              </a:solidFill>
              <a:latin typeface="Arial"/>
            </a:endParaRPr>
          </a:p>
        </p:txBody>
      </p:sp>
      <p:sp>
        <p:nvSpPr>
          <p:cNvPr id="107" name="TextBox 17"/>
          <p:cNvSpPr/>
          <p:nvPr/>
        </p:nvSpPr>
        <p:spPr>
          <a:xfrm>
            <a:off x="6544080" y="3620520"/>
            <a:ext cx="219492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642"/>
              </a:lnSpc>
              <a:tabLst>
                <a:tab pos="0" algn="l"/>
              </a:tabLst>
            </a:pPr>
            <a:r>
              <a:rPr lang="en-US" sz="1890" b="1" strike="noStrike" spc="-1">
                <a:solidFill>
                  <a:srgbClr val="000000"/>
                </a:solidFill>
                <a:latin typeface="Garet Bold"/>
                <a:ea typeface="Garet Bold"/>
              </a:rPr>
              <a:t>L'EEC en chiffres :</a:t>
            </a:r>
            <a:endParaRPr lang="fr-FR" sz="1890" b="0" strike="noStrike" spc="-1">
              <a:solidFill>
                <a:srgbClr val="000000"/>
              </a:solidFill>
              <a:latin typeface="Arial"/>
            </a:endParaRPr>
          </a:p>
        </p:txBody>
      </p:sp>
      <p:sp>
        <p:nvSpPr>
          <p:cNvPr id="108" name="TextBox 18"/>
          <p:cNvSpPr/>
          <p:nvPr/>
        </p:nvSpPr>
        <p:spPr>
          <a:xfrm>
            <a:off x="6544080" y="5578560"/>
            <a:ext cx="219492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642"/>
              </a:lnSpc>
              <a:tabLst>
                <a:tab pos="0" algn="l"/>
              </a:tabLst>
            </a:pPr>
            <a:r>
              <a:rPr lang="en-US" sz="1890" b="1" strike="noStrike" spc="-1">
                <a:solidFill>
                  <a:srgbClr val="000000"/>
                </a:solidFill>
                <a:latin typeface="Garet Bold"/>
                <a:ea typeface="Garet Bold"/>
              </a:rPr>
              <a:t>Répartition :</a:t>
            </a:r>
            <a:endParaRPr lang="fr-FR" sz="1890" b="0" strike="noStrike" spc="-1">
              <a:solidFill>
                <a:srgbClr val="000000"/>
              </a:solidFill>
              <a:latin typeface="Arial"/>
            </a:endParaRPr>
          </a:p>
        </p:txBody>
      </p:sp>
      <p:sp>
        <p:nvSpPr>
          <p:cNvPr id="109" name="TextBox 19"/>
          <p:cNvSpPr/>
          <p:nvPr/>
        </p:nvSpPr>
        <p:spPr>
          <a:xfrm>
            <a:off x="6544080" y="7746840"/>
            <a:ext cx="3267720" cy="335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642"/>
              </a:lnSpc>
              <a:tabLst>
                <a:tab pos="0" algn="l"/>
              </a:tabLst>
            </a:pPr>
            <a:r>
              <a:rPr lang="en-US" sz="1890" b="1" strike="noStrike" spc="-1">
                <a:solidFill>
                  <a:srgbClr val="000000"/>
                </a:solidFill>
                <a:latin typeface="Garet Bold"/>
                <a:ea typeface="Garet Bold"/>
              </a:rPr>
              <a:t>Problématique :</a:t>
            </a:r>
            <a:endParaRPr lang="fr-FR" sz="1890" b="0" strike="noStrike" spc="-1">
              <a:solidFill>
                <a:srgbClr val="000000"/>
              </a:solidFill>
              <a:latin typeface="Arial"/>
            </a:endParaRPr>
          </a:p>
        </p:txBody>
      </p:sp>
      <p:sp>
        <p:nvSpPr>
          <p:cNvPr id="110" name="TextBox 20"/>
          <p:cNvSpPr/>
          <p:nvPr/>
        </p:nvSpPr>
        <p:spPr>
          <a:xfrm>
            <a:off x="6544080" y="4206960"/>
            <a:ext cx="6535800" cy="57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59"/>
              </a:lnSpc>
              <a:tabLst>
                <a:tab pos="0" algn="l"/>
              </a:tabLst>
            </a:pPr>
            <a:r>
              <a:rPr lang="en-US" sz="1450" b="0" strike="noStrike" spc="-1">
                <a:solidFill>
                  <a:srgbClr val="000000"/>
                </a:solidFill>
                <a:latin typeface="Garet Light"/>
                <a:ea typeface="Garet Light"/>
              </a:rPr>
              <a:t>565 paroisses actives, 311 œuvres sociales et éducatives, 685 ouvriers ecclésiastiques au service de la communauté.</a:t>
            </a:r>
            <a:endParaRPr lang="fr-FR" sz="1450" b="0" strike="noStrike" spc="-1">
              <a:solidFill>
                <a:srgbClr val="000000"/>
              </a:solidFill>
              <a:latin typeface="Arial"/>
            </a:endParaRPr>
          </a:p>
        </p:txBody>
      </p:sp>
      <p:sp>
        <p:nvSpPr>
          <p:cNvPr id="111" name="TextBox 21"/>
          <p:cNvSpPr/>
          <p:nvPr/>
        </p:nvSpPr>
        <p:spPr>
          <a:xfrm>
            <a:off x="6544080" y="6165000"/>
            <a:ext cx="4176000" cy="28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59"/>
              </a:lnSpc>
              <a:tabLst>
                <a:tab pos="0" algn="l"/>
              </a:tabLst>
            </a:pPr>
            <a:r>
              <a:rPr lang="en-US" sz="1450" b="0" strike="noStrike" spc="-1">
                <a:solidFill>
                  <a:srgbClr val="000000"/>
                </a:solidFill>
                <a:latin typeface="Garet Light"/>
                <a:ea typeface="Garet Light"/>
              </a:rPr>
              <a:t>22 Régions Synodales</a:t>
            </a:r>
            <a:endParaRPr lang="fr-FR" sz="1450" b="0" strike="noStrike" spc="-1">
              <a:solidFill>
                <a:srgbClr val="000000"/>
              </a:solidFill>
              <a:latin typeface="Arial"/>
            </a:endParaRPr>
          </a:p>
        </p:txBody>
      </p:sp>
      <p:sp>
        <p:nvSpPr>
          <p:cNvPr id="112" name="TextBox 22"/>
          <p:cNvSpPr/>
          <p:nvPr/>
        </p:nvSpPr>
        <p:spPr>
          <a:xfrm>
            <a:off x="6544080" y="8392320"/>
            <a:ext cx="6535800" cy="28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59"/>
              </a:lnSpc>
              <a:tabLst>
                <a:tab pos="0" algn="l"/>
              </a:tabLst>
            </a:pPr>
            <a:r>
              <a:rPr lang="en-US" sz="1450" b="0" strike="noStrike" spc="-1">
                <a:solidFill>
                  <a:srgbClr val="000000"/>
                </a:solidFill>
                <a:latin typeface="Garet Light"/>
                <a:ea typeface="Garet Light"/>
              </a:rPr>
              <a:t>Absence d'outil numérique centralisé.</a:t>
            </a:r>
            <a:endParaRPr lang="fr-FR" sz="1450" b="0" strike="noStrike" spc="-1">
              <a:solidFill>
                <a:srgbClr val="000000"/>
              </a:solidFill>
              <a:latin typeface="Arial"/>
            </a:endParaRPr>
          </a:p>
        </p:txBody>
      </p:sp>
      <p:sp>
        <p:nvSpPr>
          <p:cNvPr id="113" name="TextBox 23"/>
          <p:cNvSpPr/>
          <p:nvPr/>
        </p:nvSpPr>
        <p:spPr>
          <a:xfrm>
            <a:off x="6544080" y="6657480"/>
            <a:ext cx="6907680" cy="28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59"/>
              </a:lnSpc>
              <a:tabLst>
                <a:tab pos="0" algn="l"/>
              </a:tabLst>
            </a:pPr>
            <a:r>
              <a:rPr lang="en-US" sz="1450" b="0" strike="noStrike" spc="-1">
                <a:solidFill>
                  <a:srgbClr val="000000"/>
                </a:solidFill>
                <a:latin typeface="Garet Light"/>
                <a:ea typeface="Garet Light"/>
              </a:rPr>
              <a:t>137 districts répartis sur l'ensemble du territoire camerounais.</a:t>
            </a:r>
            <a:endParaRPr lang="fr-FR" sz="1450" b="0" strike="noStrike" spc="-1">
              <a:solidFill>
                <a:srgbClr val="000000"/>
              </a:solidFill>
              <a:latin typeface="Arial"/>
            </a:endParaRPr>
          </a:p>
        </p:txBody>
      </p:sp>
      <p:sp>
        <p:nvSpPr>
          <p:cNvPr id="114" name="TextBox 24"/>
          <p:cNvSpPr/>
          <p:nvPr/>
        </p:nvSpPr>
        <p:spPr>
          <a:xfrm>
            <a:off x="6544080" y="8884800"/>
            <a:ext cx="6907680" cy="28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59"/>
              </a:lnSpc>
              <a:tabLst>
                <a:tab pos="0" algn="l"/>
              </a:tabLst>
            </a:pPr>
            <a:r>
              <a:rPr lang="en-US" sz="1450" b="0" strike="noStrike" spc="-1">
                <a:solidFill>
                  <a:srgbClr val="000000"/>
                </a:solidFill>
                <a:latin typeface="Garet Light"/>
                <a:ea typeface="Garet Light"/>
              </a:rPr>
              <a:t>Gestion géographique non optimisée.</a:t>
            </a:r>
            <a:endParaRPr lang="fr-FR" sz="1450" b="0" strike="noStrike" spc="-1">
              <a:solidFill>
                <a:srgbClr val="000000"/>
              </a:solidFill>
              <a:latin typeface="Arial"/>
            </a:endParaRPr>
          </a:p>
        </p:txBody>
      </p:sp>
      <p:pic>
        <p:nvPicPr>
          <p:cNvPr id="115" name="Image 114"/>
          <p:cNvPicPr/>
          <p:nvPr/>
        </p:nvPicPr>
        <p:blipFill>
          <a:blip r:embed="rId10"/>
          <a:stretch/>
        </p:blipFill>
        <p:spPr>
          <a:xfrm>
            <a:off x="12240000" y="4860000"/>
            <a:ext cx="5760000" cy="5149080"/>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2</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4" name="Ellipse 3"/>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2/14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 name="Freeform 2"/>
          <p:cNvSpPr/>
          <p:nvPr/>
        </p:nvSpPr>
        <p:spPr>
          <a:xfrm rot="11743200" flipH="1">
            <a:off x="8168760" y="-226188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5" y="0"/>
                </a:moveTo>
                <a:lnTo>
                  <a:pt x="0" y="0"/>
                </a:lnTo>
                <a:lnTo>
                  <a:pt x="0" y="6709319"/>
                </a:lnTo>
                <a:lnTo>
                  <a:pt x="12871595" y="6709319"/>
                </a:lnTo>
                <a:lnTo>
                  <a:pt x="12871595"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117" name="Group 3"/>
          <p:cNvGrpSpPr/>
          <p:nvPr/>
        </p:nvGrpSpPr>
        <p:grpSpPr>
          <a:xfrm>
            <a:off x="-1474200" y="-340920"/>
            <a:ext cx="24770880" cy="20032200"/>
            <a:chOff x="-1474200" y="-340920"/>
            <a:chExt cx="24770880" cy="20032200"/>
          </a:xfrm>
        </p:grpSpPr>
        <p:sp>
          <p:nvSpPr>
            <p:cNvPr id="118" name="Freeform 4"/>
            <p:cNvSpPr/>
            <p:nvPr/>
          </p:nvSpPr>
          <p:spPr>
            <a:xfrm rot="19733400">
              <a:off x="-699840" y="5140080"/>
              <a:ext cx="23296320" cy="9193680"/>
            </a:xfrm>
            <a:custGeom>
              <a:avLst/>
              <a:gdLst>
                <a:gd name="textAreaLeft" fmla="*/ 0 w 23296320"/>
                <a:gd name="textAreaRight" fmla="*/ 23296680 w 23296320"/>
                <a:gd name="textAreaTop" fmla="*/ 0 h 9193680"/>
                <a:gd name="textAreaBottom" fmla="*/ 9194040 h 9193680"/>
              </a:gdLst>
              <a:ahLst/>
              <a:cxnLst/>
              <a:rect l="textAreaLeft" t="textAreaTop" r="textAreaRight" b="textAreaBottom"/>
              <a:pathLst>
                <a:path w="6135774" h="2421467">
                  <a:moveTo>
                    <a:pt x="0" y="0"/>
                  </a:moveTo>
                  <a:lnTo>
                    <a:pt x="6135774" y="0"/>
                  </a:lnTo>
                  <a:lnTo>
                    <a:pt x="6135774" y="2421467"/>
                  </a:lnTo>
                  <a:lnTo>
                    <a:pt x="0" y="2421467"/>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19" name="TextBox 5"/>
            <p:cNvSpPr/>
            <p:nvPr/>
          </p:nvSpPr>
          <p:spPr>
            <a:xfrm rot="19733400">
              <a:off x="-736920" y="5005800"/>
              <a:ext cx="23296320" cy="9338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20" name="AutoShape 6"/>
          <p:cNvSpPr/>
          <p:nvPr/>
        </p:nvSpPr>
        <p:spPr>
          <a:xfrm>
            <a:off x="790560" y="4140000"/>
            <a:ext cx="4925160" cy="360"/>
          </a:xfrm>
          <a:prstGeom prst="line">
            <a:avLst/>
          </a:prstGeom>
          <a:ln w="6667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grpSp>
        <p:nvGrpSpPr>
          <p:cNvPr id="121" name="Group 7"/>
          <p:cNvGrpSpPr/>
          <p:nvPr/>
        </p:nvGrpSpPr>
        <p:grpSpPr>
          <a:xfrm>
            <a:off x="790560" y="4530240"/>
            <a:ext cx="5264280" cy="3042000"/>
            <a:chOff x="790560" y="4530240"/>
            <a:chExt cx="5264280" cy="3042000"/>
          </a:xfrm>
        </p:grpSpPr>
        <p:sp>
          <p:nvSpPr>
            <p:cNvPr id="122" name="Freeform 8"/>
            <p:cNvSpPr/>
            <p:nvPr/>
          </p:nvSpPr>
          <p:spPr>
            <a:xfrm>
              <a:off x="790560" y="4738320"/>
              <a:ext cx="5264280" cy="2833920"/>
            </a:xfrm>
            <a:custGeom>
              <a:avLst/>
              <a:gdLst>
                <a:gd name="textAreaLeft" fmla="*/ 0 w 5264280"/>
                <a:gd name="textAreaRight" fmla="*/ 5264640 w 5264280"/>
                <a:gd name="textAreaTop" fmla="*/ 0 h 2833920"/>
                <a:gd name="textAreaBottom" fmla="*/ 2834280 h 2833920"/>
              </a:gdLst>
              <a:ahLst/>
              <a:cxnLst/>
              <a:rect l="textAreaLeft" t="textAreaTop" r="textAreaRight" b="textAreaBottom"/>
              <a:pathLst>
                <a:path w="964452" h="519249">
                  <a:moveTo>
                    <a:pt x="0" y="0"/>
                  </a:moveTo>
                  <a:lnTo>
                    <a:pt x="964452" y="0"/>
                  </a:lnTo>
                  <a:lnTo>
                    <a:pt x="964452" y="519249"/>
                  </a:lnTo>
                  <a:lnTo>
                    <a:pt x="0" y="519249"/>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23" name="TextBox 9"/>
            <p:cNvSpPr/>
            <p:nvPr/>
          </p:nvSpPr>
          <p:spPr>
            <a:xfrm>
              <a:off x="790560" y="4530240"/>
              <a:ext cx="5264280" cy="3042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124" name="Group 10"/>
          <p:cNvGrpSpPr/>
          <p:nvPr/>
        </p:nvGrpSpPr>
        <p:grpSpPr>
          <a:xfrm>
            <a:off x="6392880" y="4530240"/>
            <a:ext cx="5264280" cy="3042000"/>
            <a:chOff x="6392880" y="4530240"/>
            <a:chExt cx="5264280" cy="3042000"/>
          </a:xfrm>
        </p:grpSpPr>
        <p:sp>
          <p:nvSpPr>
            <p:cNvPr id="125" name="Freeform 11"/>
            <p:cNvSpPr/>
            <p:nvPr/>
          </p:nvSpPr>
          <p:spPr>
            <a:xfrm>
              <a:off x="6392880" y="4738320"/>
              <a:ext cx="5264280" cy="2833920"/>
            </a:xfrm>
            <a:custGeom>
              <a:avLst/>
              <a:gdLst>
                <a:gd name="textAreaLeft" fmla="*/ 0 w 5264280"/>
                <a:gd name="textAreaRight" fmla="*/ 5264640 w 5264280"/>
                <a:gd name="textAreaTop" fmla="*/ 0 h 2833920"/>
                <a:gd name="textAreaBottom" fmla="*/ 2834280 h 2833920"/>
              </a:gdLst>
              <a:ahLst/>
              <a:cxnLst/>
              <a:rect l="textAreaLeft" t="textAreaTop" r="textAreaRight" b="textAreaBottom"/>
              <a:pathLst>
                <a:path w="964452" h="519249">
                  <a:moveTo>
                    <a:pt x="0" y="0"/>
                  </a:moveTo>
                  <a:lnTo>
                    <a:pt x="964452" y="0"/>
                  </a:lnTo>
                  <a:lnTo>
                    <a:pt x="964452" y="519249"/>
                  </a:lnTo>
                  <a:lnTo>
                    <a:pt x="0" y="519249"/>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26" name="TextBox 12"/>
            <p:cNvSpPr/>
            <p:nvPr/>
          </p:nvSpPr>
          <p:spPr>
            <a:xfrm>
              <a:off x="6392880" y="4530240"/>
              <a:ext cx="5264280" cy="3042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27" name="Freeform 13"/>
          <p:cNvSpPr/>
          <p:nvPr/>
        </p:nvSpPr>
        <p:spPr>
          <a:xfrm>
            <a:off x="1020960" y="4894560"/>
            <a:ext cx="855000" cy="974520"/>
          </a:xfrm>
          <a:custGeom>
            <a:avLst/>
            <a:gdLst>
              <a:gd name="textAreaLeft" fmla="*/ 0 w 855000"/>
              <a:gd name="textAreaRight" fmla="*/ 855360 w 855000"/>
              <a:gd name="textAreaTop" fmla="*/ 0 h 974520"/>
              <a:gd name="textAreaBottom" fmla="*/ 974880 h 974520"/>
            </a:gdLst>
            <a:ahLst/>
            <a:cxnLst/>
            <a:rect l="textAreaLeft" t="textAreaTop" r="textAreaRight" b="textAreaBottom"/>
            <a:pathLst>
              <a:path w="855450" h="974872">
                <a:moveTo>
                  <a:pt x="0" y="0"/>
                </a:moveTo>
                <a:lnTo>
                  <a:pt x="855451" y="0"/>
                </a:lnTo>
                <a:lnTo>
                  <a:pt x="855451" y="974872"/>
                </a:lnTo>
                <a:lnTo>
                  <a:pt x="0" y="974872"/>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128" name="Group 14"/>
          <p:cNvGrpSpPr/>
          <p:nvPr/>
        </p:nvGrpSpPr>
        <p:grpSpPr>
          <a:xfrm>
            <a:off x="11994840" y="4530240"/>
            <a:ext cx="5264280" cy="3042000"/>
            <a:chOff x="11994840" y="4530240"/>
            <a:chExt cx="5264280" cy="3042000"/>
          </a:xfrm>
        </p:grpSpPr>
        <p:sp>
          <p:nvSpPr>
            <p:cNvPr id="129" name="Freeform 15"/>
            <p:cNvSpPr/>
            <p:nvPr/>
          </p:nvSpPr>
          <p:spPr>
            <a:xfrm>
              <a:off x="11994840" y="4738320"/>
              <a:ext cx="5264280" cy="2833920"/>
            </a:xfrm>
            <a:custGeom>
              <a:avLst/>
              <a:gdLst>
                <a:gd name="textAreaLeft" fmla="*/ 0 w 5264280"/>
                <a:gd name="textAreaRight" fmla="*/ 5264640 w 5264280"/>
                <a:gd name="textAreaTop" fmla="*/ 0 h 2833920"/>
                <a:gd name="textAreaBottom" fmla="*/ 2834280 h 2833920"/>
              </a:gdLst>
              <a:ahLst/>
              <a:cxnLst/>
              <a:rect l="textAreaLeft" t="textAreaTop" r="textAreaRight" b="textAreaBottom"/>
              <a:pathLst>
                <a:path w="964452" h="519249">
                  <a:moveTo>
                    <a:pt x="0" y="0"/>
                  </a:moveTo>
                  <a:lnTo>
                    <a:pt x="964452" y="0"/>
                  </a:lnTo>
                  <a:lnTo>
                    <a:pt x="964452" y="519249"/>
                  </a:lnTo>
                  <a:lnTo>
                    <a:pt x="0" y="519249"/>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30" name="TextBox 16"/>
            <p:cNvSpPr/>
            <p:nvPr/>
          </p:nvSpPr>
          <p:spPr>
            <a:xfrm>
              <a:off x="11994840" y="4530240"/>
              <a:ext cx="5264280" cy="30420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31" name="Freeform 17"/>
          <p:cNvSpPr/>
          <p:nvPr/>
        </p:nvSpPr>
        <p:spPr>
          <a:xfrm>
            <a:off x="6624720" y="5010840"/>
            <a:ext cx="882360" cy="876960"/>
          </a:xfrm>
          <a:custGeom>
            <a:avLst/>
            <a:gdLst>
              <a:gd name="textAreaLeft" fmla="*/ 0 w 882360"/>
              <a:gd name="textAreaRight" fmla="*/ 882720 w 882360"/>
              <a:gd name="textAreaTop" fmla="*/ 0 h 876960"/>
              <a:gd name="textAreaBottom" fmla="*/ 877320 h 876960"/>
            </a:gdLst>
            <a:ahLst/>
            <a:cxnLst/>
            <a:rect l="textAreaLeft" t="textAreaTop" r="textAreaRight" b="textAreaBottom"/>
            <a:pathLst>
              <a:path w="882800" h="877283">
                <a:moveTo>
                  <a:pt x="0" y="0"/>
                </a:moveTo>
                <a:lnTo>
                  <a:pt x="882801" y="0"/>
                </a:lnTo>
                <a:lnTo>
                  <a:pt x="882801" y="877282"/>
                </a:lnTo>
                <a:lnTo>
                  <a:pt x="0" y="877282"/>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32" name="Freeform 18"/>
          <p:cNvSpPr/>
          <p:nvPr/>
        </p:nvSpPr>
        <p:spPr>
          <a:xfrm>
            <a:off x="12256920" y="5001840"/>
            <a:ext cx="801000" cy="807120"/>
          </a:xfrm>
          <a:custGeom>
            <a:avLst/>
            <a:gdLst>
              <a:gd name="textAreaLeft" fmla="*/ 0 w 801000"/>
              <a:gd name="textAreaRight" fmla="*/ 801360 w 801000"/>
              <a:gd name="textAreaTop" fmla="*/ 0 h 807120"/>
              <a:gd name="textAreaBottom" fmla="*/ 807480 h 807120"/>
            </a:gdLst>
            <a:ahLst/>
            <a:cxnLst/>
            <a:rect l="textAreaLeft" t="textAreaTop" r="textAreaRight" b="textAreaBottom"/>
            <a:pathLst>
              <a:path w="801459" h="807515">
                <a:moveTo>
                  <a:pt x="0" y="0"/>
                </a:moveTo>
                <a:lnTo>
                  <a:pt x="801459" y="0"/>
                </a:lnTo>
                <a:lnTo>
                  <a:pt x="801459" y="807515"/>
                </a:lnTo>
                <a:lnTo>
                  <a:pt x="0" y="807515"/>
                </a:lnTo>
                <a:lnTo>
                  <a:pt x="0" y="0"/>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33" name="TextBox 19"/>
          <p:cNvSpPr/>
          <p:nvPr/>
        </p:nvSpPr>
        <p:spPr>
          <a:xfrm>
            <a:off x="796680" y="2730240"/>
            <a:ext cx="6703920" cy="53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4187"/>
              </a:lnSpc>
              <a:tabLst>
                <a:tab pos="0" algn="l"/>
              </a:tabLst>
            </a:pPr>
            <a:r>
              <a:rPr lang="en-US" sz="2990" b="1" strike="noStrike" spc="-1">
                <a:solidFill>
                  <a:srgbClr val="1679A9"/>
                </a:solidFill>
                <a:latin typeface="Garet Bold"/>
                <a:ea typeface="Garet Bold"/>
              </a:rPr>
              <a:t>Définition claire du défi à relever</a:t>
            </a:r>
            <a:endParaRPr lang="fr-FR" sz="2990" b="0" strike="noStrike" spc="-1">
              <a:solidFill>
                <a:srgbClr val="000000"/>
              </a:solidFill>
              <a:latin typeface="Arial"/>
            </a:endParaRPr>
          </a:p>
        </p:txBody>
      </p:sp>
      <p:sp>
        <p:nvSpPr>
          <p:cNvPr id="134" name="TextBox 20"/>
          <p:cNvSpPr/>
          <p:nvPr/>
        </p:nvSpPr>
        <p:spPr>
          <a:xfrm>
            <a:off x="790560" y="768960"/>
            <a:ext cx="8353080" cy="901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092"/>
              </a:lnSpc>
              <a:tabLst>
                <a:tab pos="0" algn="l"/>
              </a:tabLst>
            </a:pPr>
            <a:r>
              <a:rPr lang="en-US" sz="6280" b="1" strike="noStrike" spc="-1">
                <a:solidFill>
                  <a:srgbClr val="1679A9"/>
                </a:solidFill>
                <a:latin typeface="Garet Bold"/>
                <a:ea typeface="Garet Bold"/>
              </a:rPr>
              <a:t>LA PROBLÉMATIQUE</a:t>
            </a:r>
            <a:endParaRPr lang="fr-FR" sz="6280" b="0" strike="noStrike" spc="-1">
              <a:solidFill>
                <a:srgbClr val="000000"/>
              </a:solidFill>
              <a:latin typeface="Arial"/>
            </a:endParaRPr>
          </a:p>
        </p:txBody>
      </p:sp>
      <p:sp>
        <p:nvSpPr>
          <p:cNvPr id="135" name="TextBox 21"/>
          <p:cNvSpPr/>
          <p:nvPr/>
        </p:nvSpPr>
        <p:spPr>
          <a:xfrm>
            <a:off x="2128320" y="5091480"/>
            <a:ext cx="3119040" cy="3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387"/>
              </a:lnSpc>
              <a:tabLst>
                <a:tab pos="0" algn="l"/>
              </a:tabLst>
            </a:pPr>
            <a:r>
              <a:rPr lang="en-US" sz="1700" b="1" strike="noStrike" spc="-1">
                <a:solidFill>
                  <a:srgbClr val="FFFFFF"/>
                </a:solidFill>
                <a:latin typeface="Garet Bold"/>
                <a:ea typeface="Garet Bold"/>
              </a:rPr>
              <a:t>Plateforme cartographique</a:t>
            </a:r>
            <a:endParaRPr lang="fr-FR" sz="1700" b="0" strike="noStrike" spc="-1">
              <a:solidFill>
                <a:srgbClr val="000000"/>
              </a:solidFill>
              <a:latin typeface="Arial"/>
            </a:endParaRPr>
          </a:p>
        </p:txBody>
      </p:sp>
      <p:sp>
        <p:nvSpPr>
          <p:cNvPr id="136" name="TextBox 22"/>
          <p:cNvSpPr/>
          <p:nvPr/>
        </p:nvSpPr>
        <p:spPr>
          <a:xfrm>
            <a:off x="7733520" y="4928400"/>
            <a:ext cx="3119040" cy="3034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387"/>
              </a:lnSpc>
              <a:tabLst>
                <a:tab pos="0" algn="l"/>
              </a:tabLst>
            </a:pPr>
            <a:r>
              <a:rPr lang="en-US" sz="1700" b="1" strike="noStrike" spc="-1">
                <a:solidFill>
                  <a:srgbClr val="FFFFFF"/>
                </a:solidFill>
                <a:latin typeface="Garet Bold"/>
                <a:ea typeface="Garet Bold"/>
              </a:rPr>
              <a:t>Administration hiérarchisée</a:t>
            </a:r>
            <a:endParaRPr lang="fr-FR" sz="1700" b="0" strike="noStrike" spc="-1">
              <a:solidFill>
                <a:srgbClr val="000000"/>
              </a:solidFill>
              <a:latin typeface="Arial"/>
            </a:endParaRPr>
          </a:p>
        </p:txBody>
      </p:sp>
      <p:sp>
        <p:nvSpPr>
          <p:cNvPr id="137" name="TextBox 23"/>
          <p:cNvSpPr/>
          <p:nvPr/>
        </p:nvSpPr>
        <p:spPr>
          <a:xfrm>
            <a:off x="2128320" y="5685840"/>
            <a:ext cx="3683160" cy="853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39"/>
              </a:lnSpc>
              <a:tabLst>
                <a:tab pos="0" algn="l"/>
              </a:tabLst>
            </a:pPr>
            <a:r>
              <a:rPr lang="en-US" sz="1450" b="0" strike="noStrike" spc="-1">
                <a:solidFill>
                  <a:srgbClr val="FFFFFF"/>
                </a:solidFill>
                <a:latin typeface="Garet Light"/>
                <a:ea typeface="Garet Light"/>
              </a:rPr>
              <a:t>Comment concevoir une plateforme web cartographique interactive et sécurisée pour localiser les 565 paroisses EEC ?</a:t>
            </a:r>
            <a:endParaRPr lang="fr-FR" sz="1450" b="0" strike="noStrike" spc="-1">
              <a:solidFill>
                <a:srgbClr val="000000"/>
              </a:solidFill>
              <a:latin typeface="Arial"/>
            </a:endParaRPr>
          </a:p>
        </p:txBody>
      </p:sp>
      <p:sp>
        <p:nvSpPr>
          <p:cNvPr id="138" name="TextBox 24"/>
          <p:cNvSpPr/>
          <p:nvPr/>
        </p:nvSpPr>
        <p:spPr>
          <a:xfrm>
            <a:off x="7733520" y="5685840"/>
            <a:ext cx="36831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39"/>
              </a:lnSpc>
              <a:tabLst>
                <a:tab pos="0" algn="l"/>
              </a:tabLst>
            </a:pPr>
            <a:r>
              <a:rPr lang="en-US" sz="1450" b="0" strike="noStrike" spc="-1">
                <a:solidFill>
                  <a:srgbClr val="FFFFFF"/>
                </a:solidFill>
                <a:latin typeface="Garet Light"/>
                <a:ea typeface="Garet Light"/>
              </a:rPr>
              <a:t>Besoin d'un contrôle d'accès à quatre niveaux : national, régional, district et paroissial.</a:t>
            </a:r>
            <a:endParaRPr lang="fr-FR" sz="1450" b="0" strike="noStrike" spc="-1">
              <a:solidFill>
                <a:srgbClr val="000000"/>
              </a:solidFill>
              <a:latin typeface="Arial"/>
            </a:endParaRPr>
          </a:p>
        </p:txBody>
      </p:sp>
      <p:sp>
        <p:nvSpPr>
          <p:cNvPr id="139" name="TextBox 25"/>
          <p:cNvSpPr/>
          <p:nvPr/>
        </p:nvSpPr>
        <p:spPr>
          <a:xfrm>
            <a:off x="13333680" y="4928400"/>
            <a:ext cx="3119040" cy="302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387"/>
              </a:lnSpc>
              <a:tabLst>
                <a:tab pos="0" algn="l"/>
              </a:tabLst>
            </a:pPr>
            <a:r>
              <a:rPr lang="en-US" sz="1700" b="1" strike="noStrike" spc="-1">
                <a:solidFill>
                  <a:srgbClr val="FFFFFF"/>
                </a:solidFill>
                <a:latin typeface="Garet Bold"/>
                <a:ea typeface="Garet Bold"/>
              </a:rPr>
              <a:t>Conformité aux standards</a:t>
            </a:r>
            <a:endParaRPr lang="fr-FR" sz="1700" b="0" strike="noStrike" spc="-1">
              <a:solidFill>
                <a:srgbClr val="000000"/>
              </a:solidFill>
              <a:latin typeface="Arial"/>
            </a:endParaRPr>
          </a:p>
        </p:txBody>
      </p:sp>
      <p:sp>
        <p:nvSpPr>
          <p:cNvPr id="140" name="TextBox 26"/>
          <p:cNvSpPr/>
          <p:nvPr/>
        </p:nvSpPr>
        <p:spPr>
          <a:xfrm>
            <a:off x="13333680" y="5685840"/>
            <a:ext cx="3683160" cy="852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39"/>
              </a:lnSpc>
              <a:tabLst>
                <a:tab pos="0" algn="l"/>
              </a:tabLst>
            </a:pPr>
            <a:r>
              <a:rPr lang="en-US" sz="1450" b="0" strike="noStrike" spc="-1">
                <a:solidFill>
                  <a:srgbClr val="FFFFFF"/>
                </a:solidFill>
                <a:latin typeface="Garet Light"/>
                <a:ea typeface="Garet Light"/>
              </a:rPr>
              <a:t>Nécessité d'un outil conforme aux standards OGC, facile d'utilisation et accessible.</a:t>
            </a:r>
            <a:endParaRPr lang="fr-FR" sz="1450" b="0" strike="noStrike" spc="-1">
              <a:solidFill>
                <a:srgbClr val="000000"/>
              </a:solidFill>
              <a:latin typeface="Arial"/>
            </a:endParaRPr>
          </a:p>
        </p:txBody>
      </p:sp>
      <p:sp>
        <p:nvSpPr>
          <p:cNvPr id="141" name="TextBox 27"/>
          <p:cNvSpPr/>
          <p:nvPr/>
        </p:nvSpPr>
        <p:spPr>
          <a:xfrm>
            <a:off x="790560" y="7993800"/>
            <a:ext cx="16468200" cy="1191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3129"/>
              </a:lnSpc>
              <a:tabLst>
                <a:tab pos="0" algn="l"/>
              </a:tabLst>
            </a:pPr>
            <a:r>
              <a:rPr lang="en-US" sz="2020" b="0" strike="noStrike" spc="-1">
                <a:solidFill>
                  <a:srgbClr val="000000"/>
                </a:solidFill>
                <a:latin typeface="Garet Light"/>
                <a:ea typeface="Garet Light"/>
              </a:rPr>
              <a:t>L'EEC dispose de 22 Régions Synodales et 137 districts répartis sur tout le territoire camerounais, mais aucun outil numérique centralisé n'existe actuellement pour gérer cette organisation géographique complexe. Le défi est de créer une solution technique robuste, sécurisée et évolutive.</a:t>
            </a:r>
            <a:endParaRPr lang="fr-FR" sz="2020" b="0" strike="noStrike" spc="-1">
              <a:solidFill>
                <a:srgbClr val="000000"/>
              </a:solidFill>
              <a:latin typeface="Arial"/>
            </a:endParaRPr>
          </a:p>
        </p:txBody>
      </p:sp>
      <p:sp>
        <p:nvSpPr>
          <p:cNvPr id="142" name="Freeform 28"/>
          <p:cNvSpPr/>
          <p:nvPr/>
        </p:nvSpPr>
        <p:spPr>
          <a:xfrm>
            <a:off x="13991040" y="511920"/>
            <a:ext cx="1575000" cy="257400"/>
          </a:xfrm>
          <a:custGeom>
            <a:avLst/>
            <a:gdLst>
              <a:gd name="textAreaLeft" fmla="*/ 0 w 1575000"/>
              <a:gd name="textAreaRight" fmla="*/ 1575360 w 1575000"/>
              <a:gd name="textAreaTop" fmla="*/ 0 h 257400"/>
              <a:gd name="textAreaBottom" fmla="*/ 257760 h 257400"/>
            </a:gdLst>
            <a:ahLst/>
            <a:cxnLst/>
            <a:rect l="textAreaLeft" t="textAreaTop" r="textAreaRight" b="textAreaBottom"/>
            <a:pathLst>
              <a:path w="1575406" h="257929">
                <a:moveTo>
                  <a:pt x="0" y="0"/>
                </a:moveTo>
                <a:lnTo>
                  <a:pt x="1575406" y="0"/>
                </a:lnTo>
                <a:lnTo>
                  <a:pt x="1575406" y="257929"/>
                </a:lnTo>
                <a:lnTo>
                  <a:pt x="0" y="257929"/>
                </a:lnTo>
                <a:lnTo>
                  <a:pt x="0" y="0"/>
                </a:lnTo>
                <a:close/>
              </a:path>
            </a:pathLst>
          </a:custGeom>
          <a:blipFill rotWithShape="0">
            <a:blip r:embed="rId7">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8"/>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 name="Espace réservé du numéro de diapositive 1"/>
          <p:cNvSpPr>
            <a:spLocks noGrp="1"/>
          </p:cNvSpPr>
          <p:nvPr>
            <p:ph type="sldNum" idx="27"/>
          </p:nvPr>
        </p:nvSpPr>
        <p:spPr/>
        <p:txBody>
          <a:bodyPr/>
          <a:lstStyle/>
          <a:p>
            <a:fld id="{9E85BCC3-BCA3-4EBB-84DF-5638ED71F27A}" type="slidenum">
              <a:rPr lang="fr-FR" smtClean="0"/>
              <a:t>3</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31" name="Ellipse 30"/>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3</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43" name="Group 2"/>
          <p:cNvGrpSpPr/>
          <p:nvPr/>
        </p:nvGrpSpPr>
        <p:grpSpPr>
          <a:xfrm>
            <a:off x="-1329480" y="-560880"/>
            <a:ext cx="25135920" cy="20252160"/>
            <a:chOff x="-1329480" y="-560880"/>
            <a:chExt cx="25135920" cy="20252160"/>
          </a:xfrm>
        </p:grpSpPr>
        <p:sp>
          <p:nvSpPr>
            <p:cNvPr id="144" name="Freeform 3"/>
            <p:cNvSpPr/>
            <p:nvPr/>
          </p:nvSpPr>
          <p:spPr>
            <a:xfrm rot="19733400">
              <a:off x="-585360" y="5029920"/>
              <a:ext cx="23722560" cy="9193680"/>
            </a:xfrm>
            <a:custGeom>
              <a:avLst/>
              <a:gdLst>
                <a:gd name="textAreaLeft" fmla="*/ 0 w 23722560"/>
                <a:gd name="textAreaRight" fmla="*/ 23722920 w 23722560"/>
                <a:gd name="textAreaTop" fmla="*/ 0 h 9193680"/>
                <a:gd name="textAreaBottom" fmla="*/ 9194040 h 9193680"/>
              </a:gdLst>
              <a:ahLst/>
              <a:cxnLst/>
              <a:rect l="textAreaLeft" t="textAreaTop" r="textAreaRight" b="textAreaBottom"/>
              <a:pathLst>
                <a:path w="6247970" h="2421467">
                  <a:moveTo>
                    <a:pt x="0" y="0"/>
                  </a:moveTo>
                  <a:lnTo>
                    <a:pt x="6247970" y="0"/>
                  </a:lnTo>
                  <a:lnTo>
                    <a:pt x="6247970" y="2421467"/>
                  </a:lnTo>
                  <a:lnTo>
                    <a:pt x="0" y="2421467"/>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45" name="TextBox 4"/>
            <p:cNvSpPr/>
            <p:nvPr/>
          </p:nvSpPr>
          <p:spPr>
            <a:xfrm rot="19733400">
              <a:off x="-622800" y="4895640"/>
              <a:ext cx="23722560" cy="9338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46" name="Freeform 5"/>
          <p:cNvSpPr/>
          <p:nvPr/>
        </p:nvSpPr>
        <p:spPr>
          <a:xfrm rot="11743200" flipH="1">
            <a:off x="9635760" y="-310464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6" y="0"/>
                </a:moveTo>
                <a:lnTo>
                  <a:pt x="0" y="0"/>
                </a:lnTo>
                <a:lnTo>
                  <a:pt x="0" y="6709319"/>
                </a:lnTo>
                <a:lnTo>
                  <a:pt x="12871596" y="6709319"/>
                </a:lnTo>
                <a:lnTo>
                  <a:pt x="12871596"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47" name="Freeform 6"/>
          <p:cNvSpPr/>
          <p:nvPr/>
        </p:nvSpPr>
        <p:spPr>
          <a:xfrm rot="11743200" flipV="1">
            <a:off x="-2542680" y="5615280"/>
            <a:ext cx="12871080" cy="6708960"/>
          </a:xfrm>
          <a:custGeom>
            <a:avLst/>
            <a:gdLst>
              <a:gd name="textAreaLeft" fmla="*/ 0 w 12871080"/>
              <a:gd name="textAreaRight" fmla="*/ 12871440 w 12871080"/>
              <a:gd name="textAreaTop" fmla="*/ 360 h 6708960"/>
              <a:gd name="textAreaBottom" fmla="*/ 6709680 h 6708960"/>
            </a:gdLst>
            <a:ahLst/>
            <a:cxnLst/>
            <a:rect l="textAreaLeft" t="textAreaTop" r="textAreaRight" b="textAreaBottom"/>
            <a:pathLst>
              <a:path w="12871595" h="6709319">
                <a:moveTo>
                  <a:pt x="0" y="6709319"/>
                </a:moveTo>
                <a:lnTo>
                  <a:pt x="12871595" y="6709319"/>
                </a:lnTo>
                <a:lnTo>
                  <a:pt x="12871595" y="0"/>
                </a:lnTo>
                <a:lnTo>
                  <a:pt x="0" y="0"/>
                </a:lnTo>
                <a:lnTo>
                  <a:pt x="0" y="6709319"/>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48" name="Freeform 7"/>
          <p:cNvSpPr/>
          <p:nvPr/>
        </p:nvSpPr>
        <p:spPr>
          <a:xfrm>
            <a:off x="8336520" y="1534320"/>
            <a:ext cx="7227360" cy="1641600"/>
          </a:xfrm>
          <a:custGeom>
            <a:avLst/>
            <a:gdLst>
              <a:gd name="textAreaLeft" fmla="*/ 0 w 7227360"/>
              <a:gd name="textAreaRight" fmla="*/ 7227720 w 7227360"/>
              <a:gd name="textAreaTop" fmla="*/ 0 h 1641600"/>
              <a:gd name="textAreaBottom" fmla="*/ 1641960 h 1641600"/>
            </a:gdLst>
            <a:ahLst/>
            <a:cxnLst/>
            <a:rect l="textAreaLeft" t="textAreaTop" r="textAreaRight" b="textAreaBottom"/>
            <a:pathLst>
              <a:path w="7227673" h="1641797">
                <a:moveTo>
                  <a:pt x="0" y="0"/>
                </a:moveTo>
                <a:lnTo>
                  <a:pt x="7227674" y="0"/>
                </a:lnTo>
                <a:lnTo>
                  <a:pt x="7227674" y="1641797"/>
                </a:lnTo>
                <a:lnTo>
                  <a:pt x="0" y="1641797"/>
                </a:lnTo>
                <a:lnTo>
                  <a:pt x="0" y="0"/>
                </a:lnTo>
                <a:close/>
              </a:path>
            </a:pathLst>
          </a:custGeom>
          <a:blipFill rotWithShape="0">
            <a:blip r:embed="rId5">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49" name="Freeform 8"/>
          <p:cNvSpPr/>
          <p:nvPr/>
        </p:nvSpPr>
        <p:spPr>
          <a:xfrm>
            <a:off x="8336520" y="4817880"/>
            <a:ext cx="7227360" cy="1641600"/>
          </a:xfrm>
          <a:custGeom>
            <a:avLst/>
            <a:gdLst>
              <a:gd name="textAreaLeft" fmla="*/ 0 w 7227360"/>
              <a:gd name="textAreaRight" fmla="*/ 7227720 w 7227360"/>
              <a:gd name="textAreaTop" fmla="*/ 0 h 1641600"/>
              <a:gd name="textAreaBottom" fmla="*/ 1641960 h 1641600"/>
            </a:gdLst>
            <a:ahLst/>
            <a:cxnLst/>
            <a:rect l="textAreaLeft" t="textAreaTop" r="textAreaRight" b="textAreaBottom"/>
            <a:pathLst>
              <a:path w="7227673" h="1641797">
                <a:moveTo>
                  <a:pt x="0" y="0"/>
                </a:moveTo>
                <a:lnTo>
                  <a:pt x="7227674" y="0"/>
                </a:lnTo>
                <a:lnTo>
                  <a:pt x="7227674" y="1641797"/>
                </a:lnTo>
                <a:lnTo>
                  <a:pt x="0" y="1641797"/>
                </a:lnTo>
                <a:lnTo>
                  <a:pt x="0" y="0"/>
                </a:lnTo>
                <a:close/>
              </a:path>
            </a:pathLst>
          </a:custGeom>
          <a:blipFill rotWithShape="0">
            <a:blip r:embed="rId7"/>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0" name="Freeform 9"/>
          <p:cNvSpPr/>
          <p:nvPr/>
        </p:nvSpPr>
        <p:spPr>
          <a:xfrm flipH="1">
            <a:off x="1772640" y="3175920"/>
            <a:ext cx="7047360" cy="1440000"/>
          </a:xfrm>
          <a:custGeom>
            <a:avLst/>
            <a:gdLst>
              <a:gd name="textAreaLeft" fmla="*/ 360 w 7047360"/>
              <a:gd name="textAreaRight" fmla="*/ 7048080 w 7047360"/>
              <a:gd name="textAreaTop" fmla="*/ 0 h 1440000"/>
              <a:gd name="textAreaBottom" fmla="*/ 1440360 h 1440000"/>
            </a:gdLst>
            <a:ahLst/>
            <a:cxnLst/>
            <a:rect l="textAreaLeft" t="textAreaTop" r="textAreaRight" b="textAreaBottom"/>
            <a:pathLst>
              <a:path w="7227673" h="1641797">
                <a:moveTo>
                  <a:pt x="7227674" y="0"/>
                </a:moveTo>
                <a:lnTo>
                  <a:pt x="0" y="0"/>
                </a:lnTo>
                <a:lnTo>
                  <a:pt x="0" y="1641798"/>
                </a:lnTo>
                <a:lnTo>
                  <a:pt x="7227674" y="1641798"/>
                </a:lnTo>
                <a:lnTo>
                  <a:pt x="7227674" y="0"/>
                </a:lnTo>
                <a:close/>
              </a:path>
            </a:pathLst>
          </a:custGeom>
          <a:blipFill rotWithShape="0">
            <a:blip r:embed="rId8">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9"/>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1" name="Freeform 10"/>
          <p:cNvSpPr/>
          <p:nvPr/>
        </p:nvSpPr>
        <p:spPr>
          <a:xfrm flipH="1">
            <a:off x="2633040" y="6459840"/>
            <a:ext cx="7227360" cy="1641600"/>
          </a:xfrm>
          <a:custGeom>
            <a:avLst/>
            <a:gdLst>
              <a:gd name="textAreaLeft" fmla="*/ 360 w 7227360"/>
              <a:gd name="textAreaRight" fmla="*/ 7228080 w 7227360"/>
              <a:gd name="textAreaTop" fmla="*/ 0 h 1641600"/>
              <a:gd name="textAreaBottom" fmla="*/ 1641960 h 1641600"/>
            </a:gdLst>
            <a:ahLst/>
            <a:cxnLst/>
            <a:rect l="textAreaLeft" t="textAreaTop" r="textAreaRight" b="textAreaBottom"/>
            <a:pathLst>
              <a:path w="7227673" h="1641797">
                <a:moveTo>
                  <a:pt x="7227674" y="0"/>
                </a:moveTo>
                <a:lnTo>
                  <a:pt x="0" y="0"/>
                </a:lnTo>
                <a:lnTo>
                  <a:pt x="0" y="1641798"/>
                </a:lnTo>
                <a:lnTo>
                  <a:pt x="7227674" y="1641798"/>
                </a:lnTo>
                <a:lnTo>
                  <a:pt x="7227674" y="0"/>
                </a:lnTo>
                <a:close/>
              </a:path>
            </a:pathLst>
          </a:custGeom>
          <a:blipFill rotWithShape="0">
            <a:blip r:embed="rId10"/>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2" name="Freeform 11"/>
          <p:cNvSpPr/>
          <p:nvPr/>
        </p:nvSpPr>
        <p:spPr>
          <a:xfrm>
            <a:off x="8537400" y="1980000"/>
            <a:ext cx="1099800" cy="609120"/>
          </a:xfrm>
          <a:custGeom>
            <a:avLst/>
            <a:gdLst>
              <a:gd name="textAreaLeft" fmla="*/ 0 w 1099800"/>
              <a:gd name="textAreaRight" fmla="*/ 1100160 w 1099800"/>
              <a:gd name="textAreaTop" fmla="*/ 0 h 609120"/>
              <a:gd name="textAreaBottom" fmla="*/ 609480 h 609120"/>
            </a:gdLst>
            <a:ahLst/>
            <a:cxnLst/>
            <a:rect l="textAreaLeft" t="textAreaTop" r="textAreaRight" b="textAreaBottom"/>
            <a:pathLst>
              <a:path w="1100151" h="609377">
                <a:moveTo>
                  <a:pt x="0" y="0"/>
                </a:moveTo>
                <a:lnTo>
                  <a:pt x="1100151" y="0"/>
                </a:lnTo>
                <a:lnTo>
                  <a:pt x="1100151" y="609378"/>
                </a:lnTo>
                <a:lnTo>
                  <a:pt x="0" y="609378"/>
                </a:lnTo>
                <a:lnTo>
                  <a:pt x="0" y="0"/>
                </a:lnTo>
                <a:close/>
              </a:path>
            </a:pathLst>
          </a:custGeom>
          <a:blipFill rotWithShape="0">
            <a:blip r:embed="rId11"/>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3" name="Freeform 12"/>
          <p:cNvSpPr/>
          <p:nvPr/>
        </p:nvSpPr>
        <p:spPr>
          <a:xfrm>
            <a:off x="8897040" y="3467520"/>
            <a:ext cx="500040" cy="808920"/>
          </a:xfrm>
          <a:custGeom>
            <a:avLst/>
            <a:gdLst>
              <a:gd name="textAreaLeft" fmla="*/ 0 w 500040"/>
              <a:gd name="textAreaRight" fmla="*/ 500400 w 500040"/>
              <a:gd name="textAreaTop" fmla="*/ 0 h 808920"/>
              <a:gd name="textAreaBottom" fmla="*/ 809280 h 808920"/>
            </a:gdLst>
            <a:ahLst/>
            <a:cxnLst/>
            <a:rect l="textAreaLeft" t="textAreaTop" r="textAreaRight" b="textAreaBottom"/>
            <a:pathLst>
              <a:path w="500358" h="809334">
                <a:moveTo>
                  <a:pt x="0" y="0"/>
                </a:moveTo>
                <a:lnTo>
                  <a:pt x="500358" y="0"/>
                </a:lnTo>
                <a:lnTo>
                  <a:pt x="500358" y="809334"/>
                </a:lnTo>
                <a:lnTo>
                  <a:pt x="0" y="809334"/>
                </a:lnTo>
                <a:lnTo>
                  <a:pt x="0" y="0"/>
                </a:lnTo>
                <a:close/>
              </a:path>
            </a:pathLst>
          </a:custGeom>
          <a:blipFill rotWithShape="0">
            <a:blip r:embed="rId1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4" name="Freeform 13"/>
          <p:cNvSpPr/>
          <p:nvPr/>
        </p:nvSpPr>
        <p:spPr>
          <a:xfrm>
            <a:off x="8662680" y="5171040"/>
            <a:ext cx="809640" cy="665280"/>
          </a:xfrm>
          <a:custGeom>
            <a:avLst/>
            <a:gdLst>
              <a:gd name="textAreaLeft" fmla="*/ 0 w 809640"/>
              <a:gd name="textAreaRight" fmla="*/ 810000 w 809640"/>
              <a:gd name="textAreaTop" fmla="*/ 0 h 665280"/>
              <a:gd name="textAreaBottom" fmla="*/ 665640 h 665280"/>
            </a:gdLst>
            <a:ahLst/>
            <a:cxnLst/>
            <a:rect l="textAreaLeft" t="textAreaTop" r="textAreaRight" b="textAreaBottom"/>
            <a:pathLst>
              <a:path w="810000" h="665619">
                <a:moveTo>
                  <a:pt x="0" y="0"/>
                </a:moveTo>
                <a:lnTo>
                  <a:pt x="810000" y="0"/>
                </a:lnTo>
                <a:lnTo>
                  <a:pt x="810000" y="665620"/>
                </a:lnTo>
                <a:lnTo>
                  <a:pt x="0" y="665620"/>
                </a:lnTo>
                <a:lnTo>
                  <a:pt x="0" y="0"/>
                </a:lnTo>
                <a:close/>
              </a:path>
            </a:pathLst>
          </a:custGeom>
          <a:blipFill rotWithShape="0">
            <a:blip r:embed="rId1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5" name="Freeform 14"/>
          <p:cNvSpPr/>
          <p:nvPr/>
        </p:nvSpPr>
        <p:spPr>
          <a:xfrm>
            <a:off x="8869680" y="6909120"/>
            <a:ext cx="597960" cy="595080"/>
          </a:xfrm>
          <a:custGeom>
            <a:avLst/>
            <a:gdLst>
              <a:gd name="textAreaLeft" fmla="*/ 0 w 597960"/>
              <a:gd name="textAreaRight" fmla="*/ 598320 w 597960"/>
              <a:gd name="textAreaTop" fmla="*/ 0 h 595080"/>
              <a:gd name="textAreaBottom" fmla="*/ 595440 h 595080"/>
            </a:gdLst>
            <a:ahLst/>
            <a:cxnLst/>
            <a:rect l="textAreaLeft" t="textAreaTop" r="textAreaRight" b="textAreaBottom"/>
            <a:pathLst>
              <a:path w="598282" h="595290">
                <a:moveTo>
                  <a:pt x="0" y="0"/>
                </a:moveTo>
                <a:lnTo>
                  <a:pt x="598282" y="0"/>
                </a:lnTo>
                <a:lnTo>
                  <a:pt x="598282" y="595290"/>
                </a:lnTo>
                <a:lnTo>
                  <a:pt x="0" y="595290"/>
                </a:lnTo>
                <a:lnTo>
                  <a:pt x="0" y="0"/>
                </a:lnTo>
                <a:close/>
              </a:path>
            </a:pathLst>
          </a:custGeom>
          <a:blipFill rotWithShape="0">
            <a:blip r:embed="rId1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56" name="TextBox 15"/>
          <p:cNvSpPr/>
          <p:nvPr/>
        </p:nvSpPr>
        <p:spPr>
          <a:xfrm>
            <a:off x="790560" y="768960"/>
            <a:ext cx="7012080" cy="179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087"/>
              </a:lnSpc>
              <a:tabLst>
                <a:tab pos="0" algn="l"/>
              </a:tabLst>
            </a:pPr>
            <a:r>
              <a:rPr lang="en-US" sz="6270" b="1" strike="noStrike" spc="-1">
                <a:solidFill>
                  <a:srgbClr val="1679A9"/>
                </a:solidFill>
                <a:latin typeface="Garet Bold"/>
                <a:ea typeface="Garet Bold"/>
              </a:rPr>
              <a:t>Architecture Technique</a:t>
            </a:r>
            <a:endParaRPr lang="fr-FR" sz="6270" b="0" strike="noStrike" spc="-1">
              <a:solidFill>
                <a:srgbClr val="000000"/>
              </a:solidFill>
              <a:latin typeface="Arial"/>
            </a:endParaRPr>
          </a:p>
        </p:txBody>
      </p:sp>
      <p:sp>
        <p:nvSpPr>
          <p:cNvPr id="157" name="TextBox 16"/>
          <p:cNvSpPr/>
          <p:nvPr/>
        </p:nvSpPr>
        <p:spPr>
          <a:xfrm>
            <a:off x="10098720" y="3224880"/>
            <a:ext cx="6135480" cy="98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577"/>
              </a:lnSpc>
              <a:tabLst>
                <a:tab pos="0" algn="l"/>
              </a:tabLst>
            </a:pPr>
            <a:r>
              <a:rPr lang="en-US" sz="1660" b="0" strike="noStrike" spc="-1">
                <a:solidFill>
                  <a:srgbClr val="000000"/>
                </a:solidFill>
                <a:latin typeface="Garet Light"/>
                <a:ea typeface="Garet Light"/>
              </a:rPr>
              <a:t>Django REST Framework pour l'API RESTful. GeoDjango pour le traitement des données géospatiales et l'intégration avec PostGIS.</a:t>
            </a:r>
            <a:endParaRPr lang="fr-FR" sz="1660" b="0" strike="noStrike" spc="-1">
              <a:solidFill>
                <a:srgbClr val="000000"/>
              </a:solidFill>
              <a:latin typeface="Arial"/>
            </a:endParaRPr>
          </a:p>
        </p:txBody>
      </p:sp>
      <p:sp>
        <p:nvSpPr>
          <p:cNvPr id="158" name="TextBox 17"/>
          <p:cNvSpPr/>
          <p:nvPr/>
        </p:nvSpPr>
        <p:spPr>
          <a:xfrm>
            <a:off x="10098720" y="1828080"/>
            <a:ext cx="3843360" cy="81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226"/>
              </a:lnSpc>
              <a:tabLst>
                <a:tab pos="0" algn="l"/>
              </a:tabLst>
            </a:pPr>
            <a:r>
              <a:rPr lang="en-US" sz="2080" b="1" strike="noStrike" spc="-1">
                <a:solidFill>
                  <a:srgbClr val="FFFFFF"/>
                </a:solidFill>
                <a:latin typeface="Garet Bold"/>
                <a:ea typeface="Garet Bold"/>
              </a:rPr>
              <a:t>Backend : Django 5 &amp; GeoDjango</a:t>
            </a:r>
            <a:endParaRPr lang="fr-FR" sz="2080" b="0" strike="noStrike" spc="-1">
              <a:solidFill>
                <a:srgbClr val="000000"/>
              </a:solidFill>
              <a:latin typeface="Arial"/>
            </a:endParaRPr>
          </a:p>
        </p:txBody>
      </p:sp>
      <p:sp>
        <p:nvSpPr>
          <p:cNvPr id="159" name="TextBox 18"/>
          <p:cNvSpPr/>
          <p:nvPr/>
        </p:nvSpPr>
        <p:spPr>
          <a:xfrm>
            <a:off x="4246560" y="3449160"/>
            <a:ext cx="3843360" cy="81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3226"/>
              </a:lnSpc>
              <a:tabLst>
                <a:tab pos="0" algn="l"/>
              </a:tabLst>
            </a:pPr>
            <a:r>
              <a:rPr lang="en-US" sz="2080" b="1" strike="noStrike" spc="-1">
                <a:solidFill>
                  <a:srgbClr val="FFFFFF"/>
                </a:solidFill>
                <a:latin typeface="Garet Bold"/>
                <a:ea typeface="Garet Bold"/>
              </a:rPr>
              <a:t>Base de données PostgreSQL 16 + PostGIS 3.4</a:t>
            </a:r>
            <a:endParaRPr lang="fr-FR" sz="2080" b="0" strike="noStrike" spc="-1">
              <a:solidFill>
                <a:srgbClr val="000000"/>
              </a:solidFill>
              <a:latin typeface="Arial"/>
            </a:endParaRPr>
          </a:p>
        </p:txBody>
      </p:sp>
      <p:sp>
        <p:nvSpPr>
          <p:cNvPr id="160" name="TextBox 19"/>
          <p:cNvSpPr/>
          <p:nvPr/>
        </p:nvSpPr>
        <p:spPr>
          <a:xfrm>
            <a:off x="4607280" y="6780240"/>
            <a:ext cx="3532680" cy="81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3226"/>
              </a:lnSpc>
              <a:tabLst>
                <a:tab pos="0" algn="l"/>
              </a:tabLst>
            </a:pPr>
            <a:r>
              <a:rPr lang="en-US" sz="2080" b="1" strike="noStrike" spc="-1">
                <a:solidFill>
                  <a:srgbClr val="FFFFFF"/>
                </a:solidFill>
                <a:latin typeface="Garet Bold"/>
                <a:ea typeface="Garet Bold"/>
              </a:rPr>
              <a:t>Frontend Next.js 14 + Leaflet.js</a:t>
            </a:r>
            <a:endParaRPr lang="fr-FR" sz="2080" b="0" strike="noStrike" spc="-1">
              <a:solidFill>
                <a:srgbClr val="000000"/>
              </a:solidFill>
              <a:latin typeface="Arial"/>
            </a:endParaRPr>
          </a:p>
        </p:txBody>
      </p:sp>
      <p:sp>
        <p:nvSpPr>
          <p:cNvPr id="161" name="TextBox 20"/>
          <p:cNvSpPr/>
          <p:nvPr/>
        </p:nvSpPr>
        <p:spPr>
          <a:xfrm>
            <a:off x="10098720" y="5093280"/>
            <a:ext cx="3698280" cy="8190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226"/>
              </a:lnSpc>
              <a:tabLst>
                <a:tab pos="0" algn="l"/>
              </a:tabLst>
            </a:pPr>
            <a:r>
              <a:rPr lang="en-US" sz="2080" b="1" strike="noStrike" spc="-1">
                <a:solidFill>
                  <a:srgbClr val="FFFFFF"/>
                </a:solidFill>
                <a:latin typeface="Garet Bold"/>
                <a:ea typeface="Garet Bold"/>
              </a:rPr>
              <a:t>Serveur cartographique GeoServer 2.26</a:t>
            </a:r>
            <a:endParaRPr lang="fr-FR" sz="2080" b="0" strike="noStrike" spc="-1">
              <a:solidFill>
                <a:srgbClr val="000000"/>
              </a:solidFill>
              <a:latin typeface="Arial"/>
            </a:endParaRPr>
          </a:p>
        </p:txBody>
      </p:sp>
      <p:sp>
        <p:nvSpPr>
          <p:cNvPr id="162" name="TextBox 21"/>
          <p:cNvSpPr/>
          <p:nvPr/>
        </p:nvSpPr>
        <p:spPr>
          <a:xfrm>
            <a:off x="10098720" y="6512400"/>
            <a:ext cx="6135480" cy="98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577"/>
              </a:lnSpc>
              <a:tabLst>
                <a:tab pos="0" algn="l"/>
              </a:tabLst>
            </a:pPr>
            <a:r>
              <a:rPr lang="en-US" sz="1660" b="0" strike="noStrike" spc="-1">
                <a:solidFill>
                  <a:srgbClr val="000000"/>
                </a:solidFill>
                <a:latin typeface="Garet Light"/>
                <a:ea typeface="Garet Light"/>
              </a:rPr>
              <a:t>Publication des couches cartographiques via protocoles WMS/WFS conformes aux standards OGC. Cache Redis 7 pour optimisation.</a:t>
            </a:r>
            <a:endParaRPr lang="fr-FR" sz="1660" b="0" strike="noStrike" spc="-1">
              <a:solidFill>
                <a:srgbClr val="000000"/>
              </a:solidFill>
              <a:latin typeface="Arial"/>
            </a:endParaRPr>
          </a:p>
        </p:txBody>
      </p:sp>
      <p:sp>
        <p:nvSpPr>
          <p:cNvPr id="163" name="TextBox 22"/>
          <p:cNvSpPr/>
          <p:nvPr/>
        </p:nvSpPr>
        <p:spPr>
          <a:xfrm>
            <a:off x="2053440" y="4852080"/>
            <a:ext cx="6135480" cy="98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2577"/>
              </a:lnSpc>
              <a:tabLst>
                <a:tab pos="0" algn="l"/>
              </a:tabLst>
            </a:pPr>
            <a:r>
              <a:rPr lang="en-US" sz="1660" b="0" strike="noStrike" spc="-1">
                <a:solidFill>
                  <a:srgbClr val="000000"/>
                </a:solidFill>
                <a:latin typeface="Garet Light"/>
                <a:ea typeface="Garet Light"/>
              </a:rPr>
              <a:t>PostgreSQL pour la robustesse et les performances. Extension PostGIS pour le stockage et l'analyse des données géographiques vectorielles.</a:t>
            </a:r>
            <a:endParaRPr lang="fr-FR" sz="1660" b="0" strike="noStrike" spc="-1">
              <a:solidFill>
                <a:srgbClr val="000000"/>
              </a:solidFill>
              <a:latin typeface="Arial"/>
            </a:endParaRPr>
          </a:p>
        </p:txBody>
      </p:sp>
      <p:sp>
        <p:nvSpPr>
          <p:cNvPr id="164" name="TextBox 23"/>
          <p:cNvSpPr/>
          <p:nvPr/>
        </p:nvSpPr>
        <p:spPr>
          <a:xfrm>
            <a:off x="2053440" y="8044560"/>
            <a:ext cx="6135480" cy="981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2577"/>
              </a:lnSpc>
              <a:tabLst>
                <a:tab pos="0" algn="l"/>
              </a:tabLst>
            </a:pPr>
            <a:r>
              <a:rPr lang="en-US" sz="1660" b="0" strike="noStrike" spc="-1">
                <a:solidFill>
                  <a:srgbClr val="000000"/>
                </a:solidFill>
                <a:latin typeface="Garet Light"/>
                <a:ea typeface="Garet Light"/>
              </a:rPr>
              <a:t>Interface utilisateur moderne avec Next.js 14. Cartographie interactive via Leaflet.js. Déploiement Docker Compose (5 services conteneurisés).</a:t>
            </a:r>
            <a:endParaRPr lang="fr-FR" sz="1660" b="0" strike="noStrike" spc="-1">
              <a:solidFill>
                <a:srgbClr val="000000"/>
              </a:solidFill>
              <a:latin typeface="Arial"/>
            </a:endParaRPr>
          </a:p>
        </p:txBody>
      </p:sp>
      <p:pic>
        <p:nvPicPr>
          <p:cNvPr id="165" name="Image 164"/>
          <p:cNvPicPr/>
          <p:nvPr/>
        </p:nvPicPr>
        <p:blipFill>
          <a:blip r:embed="rId15"/>
          <a:stretch/>
        </p:blipFill>
        <p:spPr>
          <a:xfrm>
            <a:off x="0" y="-34920"/>
            <a:ext cx="18288000" cy="10346400"/>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4</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7" name="Ellipse 26"/>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4</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6" name="Group 2"/>
          <p:cNvGrpSpPr/>
          <p:nvPr/>
        </p:nvGrpSpPr>
        <p:grpSpPr>
          <a:xfrm>
            <a:off x="-535320" y="5801040"/>
            <a:ext cx="19826280" cy="4959720"/>
            <a:chOff x="-535320" y="5801040"/>
            <a:chExt cx="19826280" cy="4959720"/>
          </a:xfrm>
        </p:grpSpPr>
        <p:sp>
          <p:nvSpPr>
            <p:cNvPr id="167" name="Freeform 3"/>
            <p:cNvSpPr/>
            <p:nvPr/>
          </p:nvSpPr>
          <p:spPr>
            <a:xfrm>
              <a:off x="-535320" y="5945400"/>
              <a:ext cx="19826280" cy="4815000"/>
            </a:xfrm>
            <a:custGeom>
              <a:avLst/>
              <a:gdLst>
                <a:gd name="textAreaLeft" fmla="*/ 0 w 19826280"/>
                <a:gd name="textAreaRight" fmla="*/ 19826640 w 19826280"/>
                <a:gd name="textAreaTop" fmla="*/ 0 h 4815000"/>
                <a:gd name="textAreaBottom" fmla="*/ 4815360 h 4815000"/>
              </a:gdLst>
              <a:ahLst/>
              <a:cxnLst/>
              <a:rect l="textAreaLeft" t="textAreaTop" r="textAreaRight" b="textAreaBottom"/>
              <a:pathLst>
                <a:path w="5221827" h="1268285">
                  <a:moveTo>
                    <a:pt x="0" y="0"/>
                  </a:moveTo>
                  <a:lnTo>
                    <a:pt x="5221827" y="0"/>
                  </a:lnTo>
                  <a:lnTo>
                    <a:pt x="5221827" y="1268285"/>
                  </a:lnTo>
                  <a:lnTo>
                    <a:pt x="0" y="1268285"/>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68" name="TextBox 4"/>
            <p:cNvSpPr/>
            <p:nvPr/>
          </p:nvSpPr>
          <p:spPr>
            <a:xfrm>
              <a:off x="-535320" y="5801040"/>
              <a:ext cx="19826280" cy="49597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69" name="Freeform 5"/>
          <p:cNvSpPr/>
          <p:nvPr/>
        </p:nvSpPr>
        <p:spPr>
          <a:xfrm rot="11743200" flipH="1">
            <a:off x="8168760" y="-226188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5" y="0"/>
                </a:moveTo>
                <a:lnTo>
                  <a:pt x="0" y="0"/>
                </a:lnTo>
                <a:lnTo>
                  <a:pt x="0" y="6709319"/>
                </a:lnTo>
                <a:lnTo>
                  <a:pt x="12871595" y="6709319"/>
                </a:lnTo>
                <a:lnTo>
                  <a:pt x="12871595"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70" name="AutoShape 6"/>
          <p:cNvSpPr/>
          <p:nvPr/>
        </p:nvSpPr>
        <p:spPr>
          <a:xfrm>
            <a:off x="790560" y="3775680"/>
            <a:ext cx="7195680" cy="360"/>
          </a:xfrm>
          <a:prstGeom prst="line">
            <a:avLst/>
          </a:prstGeom>
          <a:ln w="6667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grpSp>
        <p:nvGrpSpPr>
          <p:cNvPr id="171" name="Group 9"/>
          <p:cNvGrpSpPr/>
          <p:nvPr/>
        </p:nvGrpSpPr>
        <p:grpSpPr>
          <a:xfrm>
            <a:off x="728640" y="6942960"/>
            <a:ext cx="3591360" cy="977040"/>
            <a:chOff x="728640" y="6942960"/>
            <a:chExt cx="3591360" cy="977040"/>
          </a:xfrm>
        </p:grpSpPr>
        <p:sp>
          <p:nvSpPr>
            <p:cNvPr id="172" name="Freeform 10"/>
            <p:cNvSpPr/>
            <p:nvPr/>
          </p:nvSpPr>
          <p:spPr>
            <a:xfrm>
              <a:off x="728640" y="7087680"/>
              <a:ext cx="3591360" cy="832320"/>
            </a:xfrm>
            <a:custGeom>
              <a:avLst/>
              <a:gdLst>
                <a:gd name="textAreaLeft" fmla="*/ 0 w 3591360"/>
                <a:gd name="textAreaRight" fmla="*/ 3591720 w 3591360"/>
                <a:gd name="textAreaTop" fmla="*/ 0 h 832320"/>
                <a:gd name="textAreaBottom" fmla="*/ 832680 h 832320"/>
              </a:gdLst>
              <a:ahLst/>
              <a:cxnLst/>
              <a:rect l="textAreaLeft" t="textAreaTop" r="textAreaRight" b="textAreaBottom"/>
              <a:pathLst>
                <a:path w="946006" h="219277">
                  <a:moveTo>
                    <a:pt x="0" y="0"/>
                  </a:moveTo>
                  <a:lnTo>
                    <a:pt x="946006" y="0"/>
                  </a:lnTo>
                  <a:lnTo>
                    <a:pt x="946006" y="219277"/>
                  </a:lnTo>
                  <a:lnTo>
                    <a:pt x="0" y="219277"/>
                  </a:lnTo>
                  <a:close/>
                </a:path>
              </a:pathLst>
            </a:custGeom>
            <a:solidFill>
              <a:srgbClr val="1679A9">
                <a:alpha val="83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73" name="TextBox 11"/>
            <p:cNvSpPr/>
            <p:nvPr/>
          </p:nvSpPr>
          <p:spPr>
            <a:xfrm>
              <a:off x="728640" y="6942960"/>
              <a:ext cx="3591360" cy="9770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74" name="Freeform 12"/>
          <p:cNvSpPr/>
          <p:nvPr/>
        </p:nvSpPr>
        <p:spPr>
          <a:xfrm>
            <a:off x="13991040" y="511920"/>
            <a:ext cx="1575000" cy="257400"/>
          </a:xfrm>
          <a:custGeom>
            <a:avLst/>
            <a:gdLst>
              <a:gd name="textAreaLeft" fmla="*/ 0 w 1575000"/>
              <a:gd name="textAreaRight" fmla="*/ 1575360 w 1575000"/>
              <a:gd name="textAreaTop" fmla="*/ 0 h 257400"/>
              <a:gd name="textAreaBottom" fmla="*/ 257760 h 257400"/>
            </a:gdLst>
            <a:ahLst/>
            <a:cxnLst/>
            <a:rect l="textAreaLeft" t="textAreaTop" r="textAreaRight" b="textAreaBottom"/>
            <a:pathLst>
              <a:path w="1575406" h="257929">
                <a:moveTo>
                  <a:pt x="0" y="0"/>
                </a:moveTo>
                <a:lnTo>
                  <a:pt x="1575406" y="0"/>
                </a:lnTo>
                <a:lnTo>
                  <a:pt x="1575406" y="257929"/>
                </a:lnTo>
                <a:lnTo>
                  <a:pt x="0" y="257929"/>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175" name="Group 13"/>
          <p:cNvGrpSpPr/>
          <p:nvPr/>
        </p:nvGrpSpPr>
        <p:grpSpPr>
          <a:xfrm>
            <a:off x="-1474200" y="-340920"/>
            <a:ext cx="24824160" cy="20121120"/>
            <a:chOff x="-1474200" y="-340920"/>
            <a:chExt cx="24824160" cy="20121120"/>
          </a:xfrm>
        </p:grpSpPr>
        <p:sp>
          <p:nvSpPr>
            <p:cNvPr id="176" name="Freeform 14"/>
            <p:cNvSpPr/>
            <p:nvPr/>
          </p:nvSpPr>
          <p:spPr>
            <a:xfrm rot="19733400">
              <a:off x="-672840" y="5132880"/>
              <a:ext cx="23296320" cy="9297360"/>
            </a:xfrm>
            <a:custGeom>
              <a:avLst/>
              <a:gdLst>
                <a:gd name="textAreaLeft" fmla="*/ 0 w 23296320"/>
                <a:gd name="textAreaRight" fmla="*/ 23296680 w 23296320"/>
                <a:gd name="textAreaTop" fmla="*/ 0 h 9297360"/>
                <a:gd name="textAreaBottom" fmla="*/ 9297720 h 9297360"/>
              </a:gdLst>
              <a:ahLst/>
              <a:cxnLst/>
              <a:rect l="textAreaLeft" t="textAreaTop" r="textAreaRight" b="textAreaBottom"/>
              <a:pathLst>
                <a:path w="6135774" h="2448821">
                  <a:moveTo>
                    <a:pt x="0" y="0"/>
                  </a:moveTo>
                  <a:lnTo>
                    <a:pt x="6135774" y="0"/>
                  </a:lnTo>
                  <a:lnTo>
                    <a:pt x="6135774" y="2448821"/>
                  </a:lnTo>
                  <a:lnTo>
                    <a:pt x="0" y="2448821"/>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77" name="TextBox 15"/>
            <p:cNvSpPr/>
            <p:nvPr/>
          </p:nvSpPr>
          <p:spPr>
            <a:xfrm rot="19733400">
              <a:off x="-709920" y="4998600"/>
              <a:ext cx="23296320" cy="94420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78" name="TextBox 21"/>
          <p:cNvSpPr/>
          <p:nvPr/>
        </p:nvSpPr>
        <p:spPr>
          <a:xfrm>
            <a:off x="790560" y="1022040"/>
            <a:ext cx="6715800" cy="1528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6018"/>
              </a:lnSpc>
              <a:tabLst>
                <a:tab pos="0" algn="l"/>
              </a:tabLst>
            </a:pPr>
            <a:r>
              <a:rPr lang="en-US" sz="5330" b="1" strike="noStrike" spc="-1">
                <a:solidFill>
                  <a:srgbClr val="1679A9"/>
                </a:solidFill>
                <a:latin typeface="Garet Bold"/>
                <a:ea typeface="Garet Bold"/>
              </a:rPr>
              <a:t>FONCTIONNALITÉS PRINCIPALES</a:t>
            </a:r>
            <a:endParaRPr lang="fr-FR" sz="5330" b="0" strike="noStrike" spc="-1">
              <a:solidFill>
                <a:srgbClr val="000000"/>
              </a:solidFill>
              <a:latin typeface="Arial"/>
            </a:endParaRPr>
          </a:p>
        </p:txBody>
      </p:sp>
      <p:sp>
        <p:nvSpPr>
          <p:cNvPr id="179" name="TextBox 22"/>
          <p:cNvSpPr/>
          <p:nvPr/>
        </p:nvSpPr>
        <p:spPr>
          <a:xfrm>
            <a:off x="796680" y="3011760"/>
            <a:ext cx="6703920" cy="483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13"/>
              </a:lnSpc>
              <a:tabLst>
                <a:tab pos="0" algn="l"/>
              </a:tabLst>
            </a:pPr>
            <a:r>
              <a:rPr lang="en-US" sz="2720" b="1" strike="noStrike" spc="-1">
                <a:solidFill>
                  <a:srgbClr val="1679A9"/>
                </a:solidFill>
                <a:latin typeface="Garet Bold"/>
                <a:ea typeface="Garet Bold"/>
              </a:rPr>
              <a:t>Capacités cartographiques et filtres</a:t>
            </a:r>
            <a:endParaRPr lang="fr-FR" sz="2720" b="0" strike="noStrike" spc="-1">
              <a:solidFill>
                <a:srgbClr val="000000"/>
              </a:solidFill>
              <a:latin typeface="Arial"/>
            </a:endParaRPr>
          </a:p>
        </p:txBody>
      </p:sp>
      <p:sp>
        <p:nvSpPr>
          <p:cNvPr id="180" name="TextBox 23"/>
          <p:cNvSpPr/>
          <p:nvPr/>
        </p:nvSpPr>
        <p:spPr>
          <a:xfrm>
            <a:off x="1028880" y="7233840"/>
            <a:ext cx="3291120" cy="44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3501"/>
              </a:lnSpc>
              <a:tabLst>
                <a:tab pos="0" algn="l"/>
              </a:tabLst>
            </a:pPr>
            <a:r>
              <a:rPr lang="en-US" sz="2260" b="1" strike="noStrike" spc="-1">
                <a:solidFill>
                  <a:srgbClr val="FFFFFF"/>
                </a:solidFill>
                <a:latin typeface="Garet Bold"/>
                <a:ea typeface="Garet Bold"/>
              </a:rPr>
              <a:t>Carte Interactive</a:t>
            </a:r>
            <a:endParaRPr lang="fr-FR" sz="2260" b="0" strike="noStrike" spc="-1">
              <a:solidFill>
                <a:srgbClr val="000000"/>
              </a:solidFill>
              <a:latin typeface="Arial"/>
            </a:endParaRPr>
          </a:p>
        </p:txBody>
      </p:sp>
      <p:sp>
        <p:nvSpPr>
          <p:cNvPr id="181" name="TextBox 24"/>
          <p:cNvSpPr/>
          <p:nvPr/>
        </p:nvSpPr>
        <p:spPr>
          <a:xfrm>
            <a:off x="790560" y="8096040"/>
            <a:ext cx="7195320" cy="1069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09"/>
              </a:lnSpc>
              <a:tabLst>
                <a:tab pos="0" algn="l"/>
              </a:tabLst>
            </a:pPr>
            <a:r>
              <a:rPr lang="en-US" sz="1810" b="0" strike="noStrike" spc="-1">
                <a:solidFill>
                  <a:srgbClr val="FFFFFF"/>
                </a:solidFill>
                <a:latin typeface="Garet Light"/>
                <a:ea typeface="Garet Light"/>
              </a:rPr>
              <a:t>Visualisation dynamique avec clustering automatique des marqueurs pour une navigation fluide. Zoom adaptatif regroupant les églises par densité géographique.</a:t>
            </a:r>
            <a:endParaRPr lang="fr-FR" sz="1810" b="0" strike="noStrike" spc="-1">
              <a:solidFill>
                <a:srgbClr val="000000"/>
              </a:solidFill>
              <a:latin typeface="Arial"/>
            </a:endParaRPr>
          </a:p>
        </p:txBody>
      </p:sp>
      <p:sp>
        <p:nvSpPr>
          <p:cNvPr id="182" name="TextBox 25"/>
          <p:cNvSpPr/>
          <p:nvPr/>
        </p:nvSpPr>
        <p:spPr>
          <a:xfrm>
            <a:off x="8602920" y="7233840"/>
            <a:ext cx="3119760" cy="44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3501"/>
              </a:lnSpc>
              <a:tabLst>
                <a:tab pos="0" algn="l"/>
              </a:tabLst>
            </a:pPr>
            <a:r>
              <a:rPr lang="en-US" sz="2260" b="1" strike="noStrike" spc="-1">
                <a:solidFill>
                  <a:srgbClr val="FFFFFF"/>
                </a:solidFill>
                <a:latin typeface="Garet Bold"/>
                <a:ea typeface="Garet Bold"/>
              </a:rPr>
              <a:t>Filtres Hiérarchiques</a:t>
            </a:r>
            <a:endParaRPr lang="fr-FR" sz="2260" b="0" strike="noStrike" spc="-1">
              <a:solidFill>
                <a:srgbClr val="000000"/>
              </a:solidFill>
              <a:latin typeface="Arial"/>
            </a:endParaRPr>
          </a:p>
        </p:txBody>
      </p:sp>
      <p:sp>
        <p:nvSpPr>
          <p:cNvPr id="183" name="TextBox 26"/>
          <p:cNvSpPr/>
          <p:nvPr/>
        </p:nvSpPr>
        <p:spPr>
          <a:xfrm>
            <a:off x="8370720" y="8096040"/>
            <a:ext cx="7195320" cy="1070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09"/>
              </a:lnSpc>
              <a:tabLst>
                <a:tab pos="0" algn="l"/>
              </a:tabLst>
            </a:pPr>
            <a:r>
              <a:rPr lang="en-US" sz="1810" b="0" strike="noStrike" spc="-1">
                <a:solidFill>
                  <a:srgbClr val="FFFFFF"/>
                </a:solidFill>
                <a:latin typeface="Garet Light"/>
                <a:ea typeface="Garet Light"/>
              </a:rPr>
              <a:t>Système de filtrage à plusieurs niveaux : par Région Synodale, par district, et par type d'entité (paroisse, œuvre sociale, établissement éducatif). Recherche précise et ciblée.</a:t>
            </a:r>
            <a:endParaRPr lang="fr-FR" sz="1810" b="0" strike="noStrike" spc="-1">
              <a:solidFill>
                <a:srgbClr val="000000"/>
              </a:solidFill>
              <a:latin typeface="Arial"/>
            </a:endParaRPr>
          </a:p>
        </p:txBody>
      </p:sp>
      <p:pic>
        <p:nvPicPr>
          <p:cNvPr id="184" name="Image 183"/>
          <p:cNvPicPr/>
          <p:nvPr/>
        </p:nvPicPr>
        <p:blipFill>
          <a:blip r:embed="rId5"/>
          <a:stretch/>
        </p:blipFill>
        <p:spPr>
          <a:xfrm>
            <a:off x="886680" y="3960000"/>
            <a:ext cx="6493320" cy="3240000"/>
          </a:xfrm>
          <a:prstGeom prst="rect">
            <a:avLst/>
          </a:prstGeom>
          <a:ln w="0">
            <a:noFill/>
          </a:ln>
        </p:spPr>
      </p:pic>
      <p:pic>
        <p:nvPicPr>
          <p:cNvPr id="185" name="Image 184"/>
          <p:cNvPicPr/>
          <p:nvPr/>
        </p:nvPicPr>
        <p:blipFill>
          <a:blip r:embed="rId6"/>
          <a:stretch/>
        </p:blipFill>
        <p:spPr>
          <a:xfrm>
            <a:off x="7952760" y="3960000"/>
            <a:ext cx="7167240" cy="3240000"/>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5</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4" name="Ellipse 23"/>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5</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86" name="Group 2"/>
          <p:cNvGrpSpPr/>
          <p:nvPr/>
        </p:nvGrpSpPr>
        <p:grpSpPr>
          <a:xfrm>
            <a:off x="-769320" y="-1159920"/>
            <a:ext cx="19826280" cy="3949560"/>
            <a:chOff x="-769320" y="-1159920"/>
            <a:chExt cx="19826280" cy="3949560"/>
          </a:xfrm>
        </p:grpSpPr>
        <p:sp>
          <p:nvSpPr>
            <p:cNvPr id="187" name="Freeform 3"/>
            <p:cNvSpPr/>
            <p:nvPr/>
          </p:nvSpPr>
          <p:spPr>
            <a:xfrm>
              <a:off x="-769320" y="-1015200"/>
              <a:ext cx="19826280" cy="3804840"/>
            </a:xfrm>
            <a:custGeom>
              <a:avLst/>
              <a:gdLst>
                <a:gd name="textAreaLeft" fmla="*/ 0 w 19826280"/>
                <a:gd name="textAreaRight" fmla="*/ 19826640 w 19826280"/>
                <a:gd name="textAreaTop" fmla="*/ 0 h 3804840"/>
                <a:gd name="textAreaBottom" fmla="*/ 3805200 h 3804840"/>
              </a:gdLst>
              <a:ahLst/>
              <a:cxnLst/>
              <a:rect l="textAreaLeft" t="textAreaTop" r="textAreaRight" b="textAreaBottom"/>
              <a:pathLst>
                <a:path w="5221827" h="1002235">
                  <a:moveTo>
                    <a:pt x="0" y="0"/>
                  </a:moveTo>
                  <a:lnTo>
                    <a:pt x="5221827" y="0"/>
                  </a:lnTo>
                  <a:lnTo>
                    <a:pt x="5221827" y="1002235"/>
                  </a:lnTo>
                  <a:lnTo>
                    <a:pt x="0" y="1002235"/>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88" name="TextBox 4"/>
            <p:cNvSpPr/>
            <p:nvPr/>
          </p:nvSpPr>
          <p:spPr>
            <a:xfrm>
              <a:off x="-769320" y="-1159920"/>
              <a:ext cx="19826280" cy="3949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189" name="Freeform 5"/>
          <p:cNvSpPr/>
          <p:nvPr/>
        </p:nvSpPr>
        <p:spPr>
          <a:xfrm>
            <a:off x="1139760" y="3467880"/>
            <a:ext cx="3659400" cy="905400"/>
          </a:xfrm>
          <a:custGeom>
            <a:avLst/>
            <a:gdLst>
              <a:gd name="textAreaLeft" fmla="*/ 0 w 3659400"/>
              <a:gd name="textAreaRight" fmla="*/ 3659760 w 3659400"/>
              <a:gd name="textAreaTop" fmla="*/ 0 h 905400"/>
              <a:gd name="textAreaBottom" fmla="*/ 905760 h 905400"/>
            </a:gdLst>
            <a:ahLst/>
            <a:cxnLst/>
            <a:rect l="textAreaLeft" t="textAreaTop" r="textAreaRight" b="textAreaBottom"/>
            <a:pathLst>
              <a:path w="3659933" h="905833">
                <a:moveTo>
                  <a:pt x="0" y="0"/>
                </a:moveTo>
                <a:lnTo>
                  <a:pt x="3659933" y="0"/>
                </a:lnTo>
                <a:lnTo>
                  <a:pt x="3659933" y="905833"/>
                </a:lnTo>
                <a:lnTo>
                  <a:pt x="0" y="905833"/>
                </a:lnTo>
                <a:lnTo>
                  <a:pt x="0"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90" name="Freeform 6"/>
          <p:cNvSpPr/>
          <p:nvPr/>
        </p:nvSpPr>
        <p:spPr>
          <a:xfrm>
            <a:off x="9378000" y="3467880"/>
            <a:ext cx="3659400" cy="905400"/>
          </a:xfrm>
          <a:custGeom>
            <a:avLst/>
            <a:gdLst>
              <a:gd name="textAreaLeft" fmla="*/ 0 w 3659400"/>
              <a:gd name="textAreaRight" fmla="*/ 3659760 w 3659400"/>
              <a:gd name="textAreaTop" fmla="*/ 0 h 905400"/>
              <a:gd name="textAreaBottom" fmla="*/ 905760 h 905400"/>
            </a:gdLst>
            <a:ahLst/>
            <a:cxnLst/>
            <a:rect l="textAreaLeft" t="textAreaTop" r="textAreaRight" b="textAreaBottom"/>
            <a:pathLst>
              <a:path w="3659933" h="905833">
                <a:moveTo>
                  <a:pt x="0" y="0"/>
                </a:moveTo>
                <a:lnTo>
                  <a:pt x="3659932" y="0"/>
                </a:lnTo>
                <a:lnTo>
                  <a:pt x="3659932" y="905833"/>
                </a:lnTo>
                <a:lnTo>
                  <a:pt x="0" y="905833"/>
                </a:lnTo>
                <a:lnTo>
                  <a:pt x="0"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91" name="Freeform 7"/>
          <p:cNvSpPr/>
          <p:nvPr/>
        </p:nvSpPr>
        <p:spPr>
          <a:xfrm>
            <a:off x="1139760" y="6361560"/>
            <a:ext cx="3659400" cy="905400"/>
          </a:xfrm>
          <a:custGeom>
            <a:avLst/>
            <a:gdLst>
              <a:gd name="textAreaLeft" fmla="*/ 0 w 3659400"/>
              <a:gd name="textAreaRight" fmla="*/ 3659760 w 3659400"/>
              <a:gd name="textAreaTop" fmla="*/ 0 h 905400"/>
              <a:gd name="textAreaBottom" fmla="*/ 905760 h 905400"/>
            </a:gdLst>
            <a:ahLst/>
            <a:cxnLst/>
            <a:rect l="textAreaLeft" t="textAreaTop" r="textAreaRight" b="textAreaBottom"/>
            <a:pathLst>
              <a:path w="3659933" h="905833">
                <a:moveTo>
                  <a:pt x="0" y="0"/>
                </a:moveTo>
                <a:lnTo>
                  <a:pt x="3659933" y="0"/>
                </a:lnTo>
                <a:lnTo>
                  <a:pt x="3659933" y="905833"/>
                </a:lnTo>
                <a:lnTo>
                  <a:pt x="0" y="905833"/>
                </a:lnTo>
                <a:lnTo>
                  <a:pt x="0"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192" name="Freeform 8"/>
          <p:cNvSpPr/>
          <p:nvPr/>
        </p:nvSpPr>
        <p:spPr>
          <a:xfrm>
            <a:off x="9378000" y="6361560"/>
            <a:ext cx="3659400" cy="905400"/>
          </a:xfrm>
          <a:custGeom>
            <a:avLst/>
            <a:gdLst>
              <a:gd name="textAreaLeft" fmla="*/ 0 w 3659400"/>
              <a:gd name="textAreaRight" fmla="*/ 3659760 w 3659400"/>
              <a:gd name="textAreaTop" fmla="*/ 0 h 905400"/>
              <a:gd name="textAreaBottom" fmla="*/ 905760 h 905400"/>
            </a:gdLst>
            <a:ahLst/>
            <a:cxnLst/>
            <a:rect l="textAreaLeft" t="textAreaTop" r="textAreaRight" b="textAreaBottom"/>
            <a:pathLst>
              <a:path w="3659933" h="905833">
                <a:moveTo>
                  <a:pt x="0" y="0"/>
                </a:moveTo>
                <a:lnTo>
                  <a:pt x="3659932" y="0"/>
                </a:lnTo>
                <a:lnTo>
                  <a:pt x="3659932" y="905833"/>
                </a:lnTo>
                <a:lnTo>
                  <a:pt x="0" y="905833"/>
                </a:lnTo>
                <a:lnTo>
                  <a:pt x="0"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8"/>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193" name="Group 9"/>
          <p:cNvGrpSpPr/>
          <p:nvPr/>
        </p:nvGrpSpPr>
        <p:grpSpPr>
          <a:xfrm>
            <a:off x="2115720" y="3477240"/>
            <a:ext cx="6412680" cy="758520"/>
            <a:chOff x="2115720" y="3477240"/>
            <a:chExt cx="6412680" cy="758520"/>
          </a:xfrm>
        </p:grpSpPr>
        <p:sp>
          <p:nvSpPr>
            <p:cNvPr id="194" name="Freeform 10"/>
            <p:cNvSpPr/>
            <p:nvPr/>
          </p:nvSpPr>
          <p:spPr>
            <a:xfrm>
              <a:off x="2115720" y="3603240"/>
              <a:ext cx="6412680" cy="632520"/>
            </a:xfrm>
            <a:custGeom>
              <a:avLst/>
              <a:gdLst>
                <a:gd name="textAreaLeft" fmla="*/ 0 w 6412680"/>
                <a:gd name="textAreaRight" fmla="*/ 6413040 w 6412680"/>
                <a:gd name="textAreaTop" fmla="*/ 0 h 632520"/>
                <a:gd name="textAreaBottom" fmla="*/ 632880 h 632520"/>
              </a:gdLst>
              <a:ahLst/>
              <a:cxnLst/>
              <a:rect l="textAreaLeft" t="textAreaTop" r="textAreaRight" b="textAreaBottom"/>
              <a:pathLst>
                <a:path w="1942035" h="191679">
                  <a:moveTo>
                    <a:pt x="88126" y="0"/>
                  </a:moveTo>
                  <a:lnTo>
                    <a:pt x="1853909" y="0"/>
                  </a:lnTo>
                  <a:cubicBezTo>
                    <a:pt x="1877282" y="0"/>
                    <a:pt x="1899697" y="9285"/>
                    <a:pt x="1916224" y="25812"/>
                  </a:cubicBezTo>
                  <a:cubicBezTo>
                    <a:pt x="1932750" y="42338"/>
                    <a:pt x="1942035" y="64754"/>
                    <a:pt x="1942035" y="88126"/>
                  </a:cubicBezTo>
                  <a:lnTo>
                    <a:pt x="1942035" y="103553"/>
                  </a:lnTo>
                  <a:cubicBezTo>
                    <a:pt x="1942035" y="126926"/>
                    <a:pt x="1932750" y="149341"/>
                    <a:pt x="1916224" y="165868"/>
                  </a:cubicBezTo>
                  <a:cubicBezTo>
                    <a:pt x="1899697" y="182395"/>
                    <a:pt x="1877282" y="191679"/>
                    <a:pt x="1853909" y="191679"/>
                  </a:cubicBezTo>
                  <a:lnTo>
                    <a:pt x="88126" y="191679"/>
                  </a:lnTo>
                  <a:cubicBezTo>
                    <a:pt x="64754" y="191679"/>
                    <a:pt x="42338" y="182395"/>
                    <a:pt x="25812" y="165868"/>
                  </a:cubicBezTo>
                  <a:cubicBezTo>
                    <a:pt x="9285" y="149341"/>
                    <a:pt x="0" y="126926"/>
                    <a:pt x="0" y="103553"/>
                  </a:cubicBezTo>
                  <a:lnTo>
                    <a:pt x="0" y="88126"/>
                  </a:lnTo>
                  <a:cubicBezTo>
                    <a:pt x="0" y="64754"/>
                    <a:pt x="9285" y="42338"/>
                    <a:pt x="25812" y="25812"/>
                  </a:cubicBezTo>
                  <a:cubicBezTo>
                    <a:pt x="42338" y="9285"/>
                    <a:pt x="64754" y="0"/>
                    <a:pt x="88126" y="0"/>
                  </a:cubicBez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95" name="TextBox 11"/>
            <p:cNvSpPr/>
            <p:nvPr/>
          </p:nvSpPr>
          <p:spPr>
            <a:xfrm>
              <a:off x="2115720" y="3477240"/>
              <a:ext cx="6412680" cy="758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196" name="Group 12"/>
          <p:cNvGrpSpPr/>
          <p:nvPr/>
        </p:nvGrpSpPr>
        <p:grpSpPr>
          <a:xfrm>
            <a:off x="10353600" y="3477240"/>
            <a:ext cx="6691320" cy="758520"/>
            <a:chOff x="10353600" y="3477240"/>
            <a:chExt cx="6691320" cy="758520"/>
          </a:xfrm>
        </p:grpSpPr>
        <p:sp>
          <p:nvSpPr>
            <p:cNvPr id="197" name="Freeform 13"/>
            <p:cNvSpPr/>
            <p:nvPr/>
          </p:nvSpPr>
          <p:spPr>
            <a:xfrm>
              <a:off x="10353600" y="3603240"/>
              <a:ext cx="6691320" cy="632520"/>
            </a:xfrm>
            <a:custGeom>
              <a:avLst/>
              <a:gdLst>
                <a:gd name="textAreaLeft" fmla="*/ 0 w 6691320"/>
                <a:gd name="textAreaRight" fmla="*/ 6691680 w 6691320"/>
                <a:gd name="textAreaTop" fmla="*/ 0 h 632520"/>
                <a:gd name="textAreaBottom" fmla="*/ 632880 h 632520"/>
              </a:gdLst>
              <a:ahLst/>
              <a:cxnLst/>
              <a:rect l="textAreaLeft" t="textAreaTop" r="textAreaRight" b="textAreaBottom"/>
              <a:pathLst>
                <a:path w="2026443" h="191679">
                  <a:moveTo>
                    <a:pt x="84455" y="0"/>
                  </a:moveTo>
                  <a:lnTo>
                    <a:pt x="1941987" y="0"/>
                  </a:lnTo>
                  <a:cubicBezTo>
                    <a:pt x="1964386" y="0"/>
                    <a:pt x="1985868" y="8898"/>
                    <a:pt x="2001706" y="24736"/>
                  </a:cubicBezTo>
                  <a:cubicBezTo>
                    <a:pt x="2017545" y="40575"/>
                    <a:pt x="2026443" y="62056"/>
                    <a:pt x="2026443" y="84455"/>
                  </a:cubicBezTo>
                  <a:lnTo>
                    <a:pt x="2026443" y="107224"/>
                  </a:lnTo>
                  <a:cubicBezTo>
                    <a:pt x="2026443" y="153867"/>
                    <a:pt x="1988631" y="191679"/>
                    <a:pt x="1941987" y="191679"/>
                  </a:cubicBezTo>
                  <a:lnTo>
                    <a:pt x="84455" y="191679"/>
                  </a:lnTo>
                  <a:cubicBezTo>
                    <a:pt x="37812" y="191679"/>
                    <a:pt x="0" y="153867"/>
                    <a:pt x="0" y="107224"/>
                  </a:cubicBezTo>
                  <a:lnTo>
                    <a:pt x="0" y="84455"/>
                  </a:lnTo>
                  <a:cubicBezTo>
                    <a:pt x="0" y="37812"/>
                    <a:pt x="37812" y="0"/>
                    <a:pt x="84455" y="0"/>
                  </a:cubicBez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198" name="TextBox 14"/>
            <p:cNvSpPr/>
            <p:nvPr/>
          </p:nvSpPr>
          <p:spPr>
            <a:xfrm>
              <a:off x="10353600" y="3477240"/>
              <a:ext cx="6691320" cy="758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199" name="Group 15"/>
          <p:cNvGrpSpPr/>
          <p:nvPr/>
        </p:nvGrpSpPr>
        <p:grpSpPr>
          <a:xfrm>
            <a:off x="2115720" y="6370920"/>
            <a:ext cx="4325040" cy="758520"/>
            <a:chOff x="2115720" y="6370920"/>
            <a:chExt cx="4325040" cy="758520"/>
          </a:xfrm>
        </p:grpSpPr>
        <p:sp>
          <p:nvSpPr>
            <p:cNvPr id="200" name="Freeform 16"/>
            <p:cNvSpPr/>
            <p:nvPr/>
          </p:nvSpPr>
          <p:spPr>
            <a:xfrm>
              <a:off x="2115720" y="6496560"/>
              <a:ext cx="4325040" cy="632520"/>
            </a:xfrm>
            <a:custGeom>
              <a:avLst/>
              <a:gdLst>
                <a:gd name="textAreaLeft" fmla="*/ 0 w 4325040"/>
                <a:gd name="textAreaRight" fmla="*/ 4325400 w 4325040"/>
                <a:gd name="textAreaTop" fmla="*/ 0 h 632520"/>
                <a:gd name="textAreaBottom" fmla="*/ 632880 h 632520"/>
              </a:gdLst>
              <a:ahLst/>
              <a:cxnLst/>
              <a:rect l="textAreaLeft" t="textAreaTop" r="textAreaRight" b="textAreaBottom"/>
              <a:pathLst>
                <a:path w="1309788" h="191679">
                  <a:moveTo>
                    <a:pt x="95840" y="0"/>
                  </a:moveTo>
                  <a:lnTo>
                    <a:pt x="1213948" y="0"/>
                  </a:lnTo>
                  <a:cubicBezTo>
                    <a:pt x="1266879" y="0"/>
                    <a:pt x="1309788" y="42909"/>
                    <a:pt x="1309788" y="95840"/>
                  </a:cubicBezTo>
                  <a:lnTo>
                    <a:pt x="1309788" y="95840"/>
                  </a:lnTo>
                  <a:cubicBezTo>
                    <a:pt x="1309788" y="148770"/>
                    <a:pt x="1266879" y="191679"/>
                    <a:pt x="1213948" y="191679"/>
                  </a:cubicBezTo>
                  <a:lnTo>
                    <a:pt x="95840" y="191679"/>
                  </a:lnTo>
                  <a:cubicBezTo>
                    <a:pt x="42909" y="191679"/>
                    <a:pt x="0" y="148770"/>
                    <a:pt x="0" y="95840"/>
                  </a:cubicBezTo>
                  <a:lnTo>
                    <a:pt x="0" y="95840"/>
                  </a:lnTo>
                  <a:cubicBezTo>
                    <a:pt x="0" y="42909"/>
                    <a:pt x="42909" y="0"/>
                    <a:pt x="95840" y="0"/>
                  </a:cubicBez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201" name="TextBox 17"/>
            <p:cNvSpPr/>
            <p:nvPr/>
          </p:nvSpPr>
          <p:spPr>
            <a:xfrm>
              <a:off x="2115720" y="6370920"/>
              <a:ext cx="4325040" cy="758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202" name="Group 18"/>
          <p:cNvGrpSpPr/>
          <p:nvPr/>
        </p:nvGrpSpPr>
        <p:grpSpPr>
          <a:xfrm>
            <a:off x="10353600" y="6370920"/>
            <a:ext cx="7095600" cy="758520"/>
            <a:chOff x="10353600" y="6370920"/>
            <a:chExt cx="7095600" cy="758520"/>
          </a:xfrm>
        </p:grpSpPr>
        <p:sp>
          <p:nvSpPr>
            <p:cNvPr id="203" name="Freeform 19"/>
            <p:cNvSpPr/>
            <p:nvPr/>
          </p:nvSpPr>
          <p:spPr>
            <a:xfrm>
              <a:off x="10353600" y="6496560"/>
              <a:ext cx="7095600" cy="632520"/>
            </a:xfrm>
            <a:custGeom>
              <a:avLst/>
              <a:gdLst>
                <a:gd name="textAreaLeft" fmla="*/ 0 w 7095600"/>
                <a:gd name="textAreaRight" fmla="*/ 7095960 w 7095600"/>
                <a:gd name="textAreaTop" fmla="*/ 0 h 632520"/>
                <a:gd name="textAreaBottom" fmla="*/ 632880 h 632520"/>
              </a:gdLst>
              <a:ahLst/>
              <a:cxnLst/>
              <a:rect l="textAreaLeft" t="textAreaTop" r="textAreaRight" b="textAreaBottom"/>
              <a:pathLst>
                <a:path w="2148874" h="191679">
                  <a:moveTo>
                    <a:pt x="79643" y="0"/>
                  </a:moveTo>
                  <a:lnTo>
                    <a:pt x="2069230" y="0"/>
                  </a:lnTo>
                  <a:cubicBezTo>
                    <a:pt x="2090353" y="0"/>
                    <a:pt x="2110611" y="8391"/>
                    <a:pt x="2125547" y="23327"/>
                  </a:cubicBezTo>
                  <a:cubicBezTo>
                    <a:pt x="2140483" y="38263"/>
                    <a:pt x="2148874" y="58521"/>
                    <a:pt x="2148874" y="79643"/>
                  </a:cubicBezTo>
                  <a:lnTo>
                    <a:pt x="2148874" y="112036"/>
                  </a:lnTo>
                  <a:cubicBezTo>
                    <a:pt x="2148874" y="133159"/>
                    <a:pt x="2140483" y="153416"/>
                    <a:pt x="2125547" y="168352"/>
                  </a:cubicBezTo>
                  <a:cubicBezTo>
                    <a:pt x="2110611" y="183288"/>
                    <a:pt x="2090353" y="191679"/>
                    <a:pt x="2069230" y="191679"/>
                  </a:cubicBezTo>
                  <a:lnTo>
                    <a:pt x="79643" y="191679"/>
                  </a:lnTo>
                  <a:cubicBezTo>
                    <a:pt x="58521" y="191679"/>
                    <a:pt x="38263" y="183288"/>
                    <a:pt x="23327" y="168352"/>
                  </a:cubicBezTo>
                  <a:cubicBezTo>
                    <a:pt x="8391" y="153416"/>
                    <a:pt x="0" y="133159"/>
                    <a:pt x="0" y="112036"/>
                  </a:cubicBezTo>
                  <a:lnTo>
                    <a:pt x="0" y="79643"/>
                  </a:lnTo>
                  <a:cubicBezTo>
                    <a:pt x="0" y="58521"/>
                    <a:pt x="8391" y="38263"/>
                    <a:pt x="23327" y="23327"/>
                  </a:cubicBezTo>
                  <a:cubicBezTo>
                    <a:pt x="38263" y="8391"/>
                    <a:pt x="58521" y="0"/>
                    <a:pt x="79643" y="0"/>
                  </a:cubicBez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204" name="TextBox 20"/>
            <p:cNvSpPr/>
            <p:nvPr/>
          </p:nvSpPr>
          <p:spPr>
            <a:xfrm>
              <a:off x="10353600" y="6370920"/>
              <a:ext cx="7095600" cy="7585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205" name="TextBox 21"/>
          <p:cNvSpPr/>
          <p:nvPr/>
        </p:nvSpPr>
        <p:spPr>
          <a:xfrm>
            <a:off x="1139760" y="630000"/>
            <a:ext cx="8371440" cy="179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087"/>
              </a:lnSpc>
              <a:tabLst>
                <a:tab pos="0" algn="l"/>
              </a:tabLst>
            </a:pPr>
            <a:r>
              <a:rPr lang="en-US" sz="6270" b="1" strike="noStrike" spc="-1">
                <a:solidFill>
                  <a:srgbClr val="FFFFFF"/>
                </a:solidFill>
                <a:latin typeface="Garet Bold"/>
                <a:ea typeface="Garet Bold"/>
              </a:rPr>
              <a:t>FONCTIONNALITÉS PRINCIPALES (2)</a:t>
            </a:r>
            <a:endParaRPr lang="fr-FR" sz="6270" b="0" strike="noStrike" spc="-1">
              <a:solidFill>
                <a:srgbClr val="000000"/>
              </a:solidFill>
              <a:latin typeface="Arial"/>
            </a:endParaRPr>
          </a:p>
        </p:txBody>
      </p:sp>
      <p:sp>
        <p:nvSpPr>
          <p:cNvPr id="206" name="Freeform 22"/>
          <p:cNvSpPr/>
          <p:nvPr/>
        </p:nvSpPr>
        <p:spPr>
          <a:xfrm rot="11743200" flipH="1">
            <a:off x="8795520" y="-407484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6" y="0"/>
                </a:moveTo>
                <a:lnTo>
                  <a:pt x="0" y="0"/>
                </a:lnTo>
                <a:lnTo>
                  <a:pt x="0" y="6709319"/>
                </a:lnTo>
                <a:lnTo>
                  <a:pt x="12871596" y="6709319"/>
                </a:lnTo>
                <a:lnTo>
                  <a:pt x="12871596" y="0"/>
                </a:lnTo>
                <a:close/>
              </a:path>
            </a:pathLst>
          </a:custGeom>
          <a:blipFill rotWithShape="0">
            <a:blip r:embed="rId9">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0"/>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07" name="Freeform 23"/>
          <p:cNvSpPr/>
          <p:nvPr/>
        </p:nvSpPr>
        <p:spPr>
          <a:xfrm>
            <a:off x="9470880" y="-826560"/>
            <a:ext cx="4397040" cy="3616200"/>
          </a:xfrm>
          <a:custGeom>
            <a:avLst/>
            <a:gdLst>
              <a:gd name="textAreaLeft" fmla="*/ 0 w 4397040"/>
              <a:gd name="textAreaRight" fmla="*/ 4397400 w 4397040"/>
              <a:gd name="textAreaTop" fmla="*/ 0 h 3616200"/>
              <a:gd name="textAreaBottom" fmla="*/ 3616560 h 3616200"/>
            </a:gdLst>
            <a:ahLst/>
            <a:cxnLst/>
            <a:rect l="textAreaLeft" t="textAreaTop" r="textAreaRight" b="textAreaBottom"/>
            <a:pathLst>
              <a:path w="4397459" h="3616577">
                <a:moveTo>
                  <a:pt x="0" y="0"/>
                </a:moveTo>
                <a:lnTo>
                  <a:pt x="4397459" y="0"/>
                </a:lnTo>
                <a:lnTo>
                  <a:pt x="4397459" y="3616577"/>
                </a:lnTo>
                <a:lnTo>
                  <a:pt x="0" y="3616577"/>
                </a:lnTo>
                <a:lnTo>
                  <a:pt x="0" y="0"/>
                </a:lnTo>
                <a:close/>
              </a:path>
            </a:pathLst>
          </a:custGeom>
          <a:blipFill rotWithShape="0">
            <a:blip r:embed="rId11">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08" name="Freeform 24"/>
          <p:cNvSpPr/>
          <p:nvPr/>
        </p:nvSpPr>
        <p:spPr>
          <a:xfrm>
            <a:off x="1398600" y="3721680"/>
            <a:ext cx="380520" cy="380520"/>
          </a:xfrm>
          <a:custGeom>
            <a:avLst/>
            <a:gdLst>
              <a:gd name="textAreaLeft" fmla="*/ 0 w 380520"/>
              <a:gd name="textAreaRight" fmla="*/ 380880 w 380520"/>
              <a:gd name="textAreaTop" fmla="*/ 0 h 380520"/>
              <a:gd name="textAreaBottom" fmla="*/ 380880 h 380520"/>
            </a:gdLst>
            <a:ahLst/>
            <a:cxnLst/>
            <a:rect l="textAreaLeft" t="textAreaTop" r="textAreaRight" b="textAreaBottom"/>
            <a:pathLst>
              <a:path w="380743" h="380743">
                <a:moveTo>
                  <a:pt x="0" y="0"/>
                </a:moveTo>
                <a:lnTo>
                  <a:pt x="380743" y="0"/>
                </a:lnTo>
                <a:lnTo>
                  <a:pt x="380743" y="380742"/>
                </a:lnTo>
                <a:lnTo>
                  <a:pt x="0" y="380742"/>
                </a:lnTo>
                <a:lnTo>
                  <a:pt x="0" y="0"/>
                </a:lnTo>
                <a:close/>
              </a:path>
            </a:pathLst>
          </a:custGeom>
          <a:blipFill rotWithShape="0">
            <a:blip r:embed="rId1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09" name="Freeform 25"/>
          <p:cNvSpPr/>
          <p:nvPr/>
        </p:nvSpPr>
        <p:spPr>
          <a:xfrm>
            <a:off x="9627480" y="3655080"/>
            <a:ext cx="410760" cy="517680"/>
          </a:xfrm>
          <a:custGeom>
            <a:avLst/>
            <a:gdLst>
              <a:gd name="textAreaLeft" fmla="*/ 0 w 410760"/>
              <a:gd name="textAreaRight" fmla="*/ 411120 w 410760"/>
              <a:gd name="textAreaTop" fmla="*/ 0 h 517680"/>
              <a:gd name="textAreaBottom" fmla="*/ 518040 h 517680"/>
            </a:gdLst>
            <a:ahLst/>
            <a:cxnLst/>
            <a:rect l="textAreaLeft" t="textAreaTop" r="textAreaRight" b="textAreaBottom"/>
            <a:pathLst>
              <a:path w="410979" h="517967">
                <a:moveTo>
                  <a:pt x="0" y="0"/>
                </a:moveTo>
                <a:lnTo>
                  <a:pt x="410979" y="0"/>
                </a:lnTo>
                <a:lnTo>
                  <a:pt x="410979" y="517966"/>
                </a:lnTo>
                <a:lnTo>
                  <a:pt x="0" y="517966"/>
                </a:lnTo>
                <a:lnTo>
                  <a:pt x="0" y="0"/>
                </a:lnTo>
                <a:close/>
              </a:path>
            </a:pathLst>
          </a:custGeom>
          <a:blipFill rotWithShape="0">
            <a:blip r:embed="rId1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10" name="Freeform 26"/>
          <p:cNvSpPr/>
          <p:nvPr/>
        </p:nvSpPr>
        <p:spPr>
          <a:xfrm>
            <a:off x="1383840" y="6600240"/>
            <a:ext cx="410760" cy="410760"/>
          </a:xfrm>
          <a:custGeom>
            <a:avLst/>
            <a:gdLst>
              <a:gd name="textAreaLeft" fmla="*/ 0 w 410760"/>
              <a:gd name="textAreaRight" fmla="*/ 411120 w 410760"/>
              <a:gd name="textAreaTop" fmla="*/ 0 h 410760"/>
              <a:gd name="textAreaBottom" fmla="*/ 411120 h 410760"/>
            </a:gdLst>
            <a:ahLst/>
            <a:cxnLst/>
            <a:rect l="textAreaLeft" t="textAreaTop" r="textAreaRight" b="textAreaBottom"/>
            <a:pathLst>
              <a:path w="410979" h="410979">
                <a:moveTo>
                  <a:pt x="0" y="0"/>
                </a:moveTo>
                <a:lnTo>
                  <a:pt x="410979" y="0"/>
                </a:lnTo>
                <a:lnTo>
                  <a:pt x="410979" y="410980"/>
                </a:lnTo>
                <a:lnTo>
                  <a:pt x="0" y="410980"/>
                </a:lnTo>
                <a:lnTo>
                  <a:pt x="0" y="0"/>
                </a:lnTo>
                <a:close/>
              </a:path>
            </a:pathLst>
          </a:custGeom>
          <a:blipFill rotWithShape="0">
            <a:blip r:embed="rId1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11" name="Freeform 27"/>
          <p:cNvSpPr/>
          <p:nvPr/>
        </p:nvSpPr>
        <p:spPr>
          <a:xfrm>
            <a:off x="9622800" y="6508440"/>
            <a:ext cx="407880" cy="565200"/>
          </a:xfrm>
          <a:custGeom>
            <a:avLst/>
            <a:gdLst>
              <a:gd name="textAreaLeft" fmla="*/ 0 w 407880"/>
              <a:gd name="textAreaRight" fmla="*/ 408240 w 407880"/>
              <a:gd name="textAreaTop" fmla="*/ 0 h 565200"/>
              <a:gd name="textAreaBottom" fmla="*/ 565560 h 565200"/>
            </a:gdLst>
            <a:ahLst/>
            <a:cxnLst/>
            <a:rect l="textAreaLeft" t="textAreaTop" r="textAreaRight" b="textAreaBottom"/>
            <a:pathLst>
              <a:path w="408200" h="565591">
                <a:moveTo>
                  <a:pt x="0" y="0"/>
                </a:moveTo>
                <a:lnTo>
                  <a:pt x="408200" y="0"/>
                </a:lnTo>
                <a:lnTo>
                  <a:pt x="408200" y="565591"/>
                </a:lnTo>
                <a:lnTo>
                  <a:pt x="0" y="565591"/>
                </a:lnTo>
                <a:lnTo>
                  <a:pt x="0" y="0"/>
                </a:lnTo>
                <a:close/>
              </a:path>
            </a:pathLst>
          </a:custGeom>
          <a:blipFill rotWithShape="0">
            <a:blip r:embed="rId1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12" name="TextBox 28"/>
          <p:cNvSpPr/>
          <p:nvPr/>
        </p:nvSpPr>
        <p:spPr>
          <a:xfrm>
            <a:off x="2185920" y="3668040"/>
            <a:ext cx="5848560" cy="345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27"/>
              </a:lnSpc>
              <a:tabLst>
                <a:tab pos="0" algn="l"/>
              </a:tabLst>
            </a:pPr>
            <a:r>
              <a:rPr lang="en-US" sz="1940" b="1" strike="noStrike" spc="-1">
                <a:solidFill>
                  <a:srgbClr val="FFFFFF"/>
                </a:solidFill>
                <a:latin typeface="Garet Bold"/>
                <a:ea typeface="Garet Bold"/>
              </a:rPr>
              <a:t>Contrôle d'accès RBAC à 4 niveaux</a:t>
            </a:r>
            <a:endParaRPr lang="fr-FR" sz="1940" b="0" strike="noStrike" spc="-1">
              <a:solidFill>
                <a:srgbClr val="000000"/>
              </a:solidFill>
              <a:latin typeface="Arial"/>
            </a:endParaRPr>
          </a:p>
        </p:txBody>
      </p:sp>
      <p:sp>
        <p:nvSpPr>
          <p:cNvPr id="213" name="TextBox 29"/>
          <p:cNvSpPr/>
          <p:nvPr/>
        </p:nvSpPr>
        <p:spPr>
          <a:xfrm>
            <a:off x="10424160" y="3668040"/>
            <a:ext cx="6342120" cy="345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27"/>
              </a:lnSpc>
              <a:tabLst>
                <a:tab pos="0" algn="l"/>
              </a:tabLst>
            </a:pPr>
            <a:r>
              <a:rPr lang="en-US" sz="1940" b="1" strike="noStrike" spc="-1">
                <a:solidFill>
                  <a:srgbClr val="FFFFFF"/>
                </a:solidFill>
                <a:latin typeface="Garet Bold"/>
                <a:ea typeface="Garet Bold"/>
              </a:rPr>
              <a:t>Module import/export Excel et PDF</a:t>
            </a:r>
            <a:endParaRPr lang="fr-FR" sz="1940" b="0" strike="noStrike" spc="-1">
              <a:solidFill>
                <a:srgbClr val="000000"/>
              </a:solidFill>
              <a:latin typeface="Arial"/>
            </a:endParaRPr>
          </a:p>
        </p:txBody>
      </p:sp>
      <p:sp>
        <p:nvSpPr>
          <p:cNvPr id="214" name="TextBox 30"/>
          <p:cNvSpPr/>
          <p:nvPr/>
        </p:nvSpPr>
        <p:spPr>
          <a:xfrm>
            <a:off x="2185920" y="6561720"/>
            <a:ext cx="3688920" cy="345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27"/>
              </a:lnSpc>
              <a:tabLst>
                <a:tab pos="0" algn="l"/>
              </a:tabLst>
            </a:pPr>
            <a:r>
              <a:rPr lang="en-US" sz="1940" b="1" strike="noStrike" spc="-1">
                <a:solidFill>
                  <a:srgbClr val="FFFFFF"/>
                </a:solidFill>
                <a:latin typeface="Garet Bold"/>
                <a:ea typeface="Garet Bold"/>
              </a:rPr>
              <a:t>Journal d'audit automatique</a:t>
            </a:r>
            <a:endParaRPr lang="fr-FR" sz="1940" b="0" strike="noStrike" spc="-1">
              <a:solidFill>
                <a:srgbClr val="000000"/>
              </a:solidFill>
              <a:latin typeface="Arial"/>
            </a:endParaRPr>
          </a:p>
        </p:txBody>
      </p:sp>
      <p:sp>
        <p:nvSpPr>
          <p:cNvPr id="215" name="TextBox 31"/>
          <p:cNvSpPr/>
          <p:nvPr/>
        </p:nvSpPr>
        <p:spPr>
          <a:xfrm>
            <a:off x="10424160" y="6561720"/>
            <a:ext cx="6833160" cy="345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27"/>
              </a:lnSpc>
              <a:tabLst>
                <a:tab pos="0" algn="l"/>
              </a:tabLst>
            </a:pPr>
            <a:r>
              <a:rPr lang="en-US" sz="1940" b="1" strike="noStrike" spc="-1">
                <a:solidFill>
                  <a:srgbClr val="FFFFFF"/>
                </a:solidFill>
                <a:latin typeface="Garet Bold"/>
                <a:ea typeface="Garet Bold"/>
              </a:rPr>
              <a:t>Authentification sécurisée Django</a:t>
            </a:r>
            <a:endParaRPr lang="fr-FR" sz="1940" b="0" strike="noStrike" spc="-1">
              <a:solidFill>
                <a:srgbClr val="000000"/>
              </a:solidFill>
              <a:latin typeface="Arial"/>
            </a:endParaRPr>
          </a:p>
        </p:txBody>
      </p:sp>
      <p:sp>
        <p:nvSpPr>
          <p:cNvPr id="216" name="TextBox 32"/>
          <p:cNvSpPr/>
          <p:nvPr/>
        </p:nvSpPr>
        <p:spPr>
          <a:xfrm>
            <a:off x="1295280" y="4625640"/>
            <a:ext cx="7008120" cy="1096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Gestion hiérarchisée des permissions : national, régional, district et paroissial. Chaque utilisateur accède uniquement aux données de son périmètre géographique.</a:t>
            </a:r>
            <a:endParaRPr lang="fr-FR" sz="1850" b="0" strike="noStrike" spc="-1">
              <a:solidFill>
                <a:srgbClr val="000000"/>
              </a:solidFill>
              <a:latin typeface="Arial"/>
            </a:endParaRPr>
          </a:p>
        </p:txBody>
      </p:sp>
      <p:sp>
        <p:nvSpPr>
          <p:cNvPr id="217" name="TextBox 33"/>
          <p:cNvSpPr/>
          <p:nvPr/>
        </p:nvSpPr>
        <p:spPr>
          <a:xfrm>
            <a:off x="9533520" y="4625640"/>
            <a:ext cx="7008120" cy="109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Importation massive des données depuis fichiers Excel et génération de rapports PDF. Facilite la migration des données existantes et le partage d'informations.</a:t>
            </a:r>
            <a:endParaRPr lang="fr-FR" sz="1850" b="0" strike="noStrike" spc="-1">
              <a:solidFill>
                <a:srgbClr val="000000"/>
              </a:solidFill>
              <a:latin typeface="Arial"/>
            </a:endParaRPr>
          </a:p>
        </p:txBody>
      </p:sp>
      <p:sp>
        <p:nvSpPr>
          <p:cNvPr id="218" name="TextBox 34"/>
          <p:cNvSpPr/>
          <p:nvPr/>
        </p:nvSpPr>
        <p:spPr>
          <a:xfrm>
            <a:off x="1295280" y="7519320"/>
            <a:ext cx="7008120" cy="109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Traçabilité complète de toutes les opérations : création, modification, suppression. Historique consultable pour garantir la transparence et la conformité.</a:t>
            </a:r>
            <a:endParaRPr lang="fr-FR" sz="1850" b="0" strike="noStrike" spc="-1">
              <a:solidFill>
                <a:srgbClr val="000000"/>
              </a:solidFill>
              <a:latin typeface="Arial"/>
            </a:endParaRPr>
          </a:p>
        </p:txBody>
      </p:sp>
      <p:sp>
        <p:nvSpPr>
          <p:cNvPr id="219" name="TextBox 35"/>
          <p:cNvSpPr/>
          <p:nvPr/>
        </p:nvSpPr>
        <p:spPr>
          <a:xfrm>
            <a:off x="9533520" y="7519320"/>
            <a:ext cx="7008120" cy="109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Sessions Django sécurisées avec gestion des tokens. Protection contre les attaques CSRF et validation robuste des identifiants utilisateurs.</a:t>
            </a:r>
            <a:endParaRPr lang="fr-FR" sz="1850" b="0" strike="noStrike" spc="-1">
              <a:solidFill>
                <a:srgbClr val="000000"/>
              </a:solidFill>
              <a:latin typeface="Arial"/>
            </a:endParaRPr>
          </a:p>
        </p:txBody>
      </p:sp>
      <p:sp>
        <p:nvSpPr>
          <p:cNvPr id="2" name="Espace réservé du numéro de diapositive 1"/>
          <p:cNvSpPr>
            <a:spLocks noGrp="1"/>
          </p:cNvSpPr>
          <p:nvPr>
            <p:ph type="sldNum" idx="27"/>
          </p:nvPr>
        </p:nvSpPr>
        <p:spPr/>
        <p:txBody>
          <a:bodyPr/>
          <a:lstStyle/>
          <a:p>
            <a:fld id="{9E85BCC3-BCA3-4EBB-84DF-5638ED71F27A}" type="slidenum">
              <a:rPr lang="fr-FR" smtClean="0"/>
              <a:t>6</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38" name="Ellipse 37"/>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6</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0" name="Group 2"/>
          <p:cNvGrpSpPr/>
          <p:nvPr/>
        </p:nvGrpSpPr>
        <p:grpSpPr>
          <a:xfrm>
            <a:off x="-4595040" y="-492120"/>
            <a:ext cx="24518520" cy="18390960"/>
            <a:chOff x="-4595040" y="-492120"/>
            <a:chExt cx="24518520" cy="18390960"/>
          </a:xfrm>
        </p:grpSpPr>
        <p:sp>
          <p:nvSpPr>
            <p:cNvPr id="221" name="Freeform 3"/>
            <p:cNvSpPr/>
            <p:nvPr/>
          </p:nvSpPr>
          <p:spPr>
            <a:xfrm rot="1472400">
              <a:off x="-3560040" y="3844080"/>
              <a:ext cx="22389840" cy="9849960"/>
            </a:xfrm>
            <a:custGeom>
              <a:avLst/>
              <a:gdLst>
                <a:gd name="textAreaLeft" fmla="*/ 0 w 22389840"/>
                <a:gd name="textAreaRight" fmla="*/ 22390200 w 22389840"/>
                <a:gd name="textAreaTop" fmla="*/ 0 h 9849960"/>
                <a:gd name="textAreaBottom" fmla="*/ 9850320 h 9849960"/>
              </a:gdLst>
              <a:ahLst/>
              <a:cxnLst/>
              <a:rect l="textAreaLeft" t="textAreaTop" r="textAreaRight" b="textAreaBottom"/>
              <a:pathLst>
                <a:path w="5896968" h="2594325">
                  <a:moveTo>
                    <a:pt x="0" y="0"/>
                  </a:moveTo>
                  <a:lnTo>
                    <a:pt x="5896968" y="0"/>
                  </a:lnTo>
                  <a:lnTo>
                    <a:pt x="5896968" y="2594325"/>
                  </a:lnTo>
                  <a:lnTo>
                    <a:pt x="0" y="2594325"/>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22" name="TextBox 4"/>
            <p:cNvSpPr/>
            <p:nvPr/>
          </p:nvSpPr>
          <p:spPr>
            <a:xfrm rot="1472400">
              <a:off x="-3530520" y="3705840"/>
              <a:ext cx="22389840" cy="9994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223" name="Freeform 5"/>
          <p:cNvSpPr/>
          <p:nvPr/>
        </p:nvSpPr>
        <p:spPr>
          <a:xfrm rot="11743200" flipH="1">
            <a:off x="9635760" y="-310464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6" y="0"/>
                </a:moveTo>
                <a:lnTo>
                  <a:pt x="0" y="0"/>
                </a:lnTo>
                <a:lnTo>
                  <a:pt x="0" y="6709319"/>
                </a:lnTo>
                <a:lnTo>
                  <a:pt x="12871596" y="6709319"/>
                </a:lnTo>
                <a:lnTo>
                  <a:pt x="12871596"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224" name="Group 8"/>
          <p:cNvGrpSpPr/>
          <p:nvPr/>
        </p:nvGrpSpPr>
        <p:grpSpPr>
          <a:xfrm>
            <a:off x="790560" y="6475680"/>
            <a:ext cx="6124680" cy="3099240"/>
            <a:chOff x="790560" y="6475680"/>
            <a:chExt cx="6124680" cy="3099240"/>
          </a:xfrm>
        </p:grpSpPr>
        <p:pic>
          <p:nvPicPr>
            <p:cNvPr id="225" name="Picture 9"/>
            <p:cNvPicPr/>
            <p:nvPr/>
          </p:nvPicPr>
          <p:blipFill>
            <a:blip r:embed="rId4"/>
            <a:srcRect t="5606" b="5606"/>
            <a:stretch/>
          </p:blipFill>
          <p:spPr>
            <a:xfrm>
              <a:off x="790560" y="6475680"/>
              <a:ext cx="6124680" cy="3099240"/>
            </a:xfrm>
            <a:prstGeom prst="rect">
              <a:avLst/>
            </a:prstGeom>
            <a:ln w="0">
              <a:noFill/>
            </a:ln>
          </p:spPr>
        </p:pic>
      </p:grpSp>
      <p:sp>
        <p:nvSpPr>
          <p:cNvPr id="226" name="AutoShape 10"/>
          <p:cNvSpPr/>
          <p:nvPr/>
        </p:nvSpPr>
        <p:spPr>
          <a:xfrm flipH="1">
            <a:off x="7335720" y="3993840"/>
            <a:ext cx="5879160" cy="360"/>
          </a:xfrm>
          <a:prstGeom prst="line">
            <a:avLst/>
          </a:prstGeom>
          <a:ln w="4762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227" name="AutoShape 11"/>
          <p:cNvSpPr/>
          <p:nvPr/>
        </p:nvSpPr>
        <p:spPr>
          <a:xfrm flipH="1">
            <a:off x="7335720" y="7872480"/>
            <a:ext cx="5879160" cy="360"/>
          </a:xfrm>
          <a:prstGeom prst="line">
            <a:avLst/>
          </a:prstGeom>
          <a:ln w="4762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228" name="TextBox 12"/>
          <p:cNvSpPr/>
          <p:nvPr/>
        </p:nvSpPr>
        <p:spPr>
          <a:xfrm>
            <a:off x="790560" y="1098000"/>
            <a:ext cx="13089960" cy="82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6460"/>
              </a:lnSpc>
              <a:tabLst>
                <a:tab pos="0" algn="l"/>
              </a:tabLst>
            </a:pPr>
            <a:r>
              <a:rPr lang="en-US" sz="6270" b="1" strike="noStrike" spc="-1">
                <a:solidFill>
                  <a:srgbClr val="1679A9"/>
                </a:solidFill>
                <a:latin typeface="Garet Bold"/>
                <a:ea typeface="Garet Bold"/>
              </a:rPr>
              <a:t>Fonctionnalités Principales (3)</a:t>
            </a:r>
            <a:endParaRPr lang="fr-FR" sz="6270" b="0" strike="noStrike" spc="-1">
              <a:solidFill>
                <a:srgbClr val="000000"/>
              </a:solidFill>
              <a:latin typeface="Arial"/>
            </a:endParaRPr>
          </a:p>
        </p:txBody>
      </p:sp>
      <p:sp>
        <p:nvSpPr>
          <p:cNvPr id="229" name="TextBox 13"/>
          <p:cNvSpPr/>
          <p:nvPr/>
        </p:nvSpPr>
        <p:spPr>
          <a:xfrm>
            <a:off x="7335720" y="2857320"/>
            <a:ext cx="640332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tabLst>
                <a:tab pos="0" algn="l"/>
              </a:tabLst>
            </a:pPr>
            <a:r>
              <a:rPr lang="en-US" sz="2530" b="1" strike="noStrike" spc="-1">
                <a:solidFill>
                  <a:srgbClr val="000000"/>
                </a:solidFill>
                <a:latin typeface="Garet Bold"/>
                <a:ea typeface="Garet Bold"/>
              </a:rPr>
              <a:t>Statistiques avancées par région et année</a:t>
            </a:r>
            <a:endParaRPr lang="fr-FR" sz="2530" b="0" strike="noStrike" spc="-1">
              <a:solidFill>
                <a:srgbClr val="000000"/>
              </a:solidFill>
              <a:latin typeface="Arial"/>
            </a:endParaRPr>
          </a:p>
        </p:txBody>
      </p:sp>
      <p:sp>
        <p:nvSpPr>
          <p:cNvPr id="230" name="TextBox 14"/>
          <p:cNvSpPr/>
          <p:nvPr/>
        </p:nvSpPr>
        <p:spPr>
          <a:xfrm>
            <a:off x="7335720" y="6734160"/>
            <a:ext cx="6403320" cy="99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920"/>
              </a:lnSpc>
              <a:tabLst>
                <a:tab pos="0" algn="l"/>
              </a:tabLst>
            </a:pPr>
            <a:r>
              <a:rPr lang="en-US" sz="2530" b="1" strike="noStrike" spc="-1">
                <a:solidFill>
                  <a:srgbClr val="000000"/>
                </a:solidFill>
                <a:latin typeface="Garet Bold"/>
                <a:ea typeface="Garet Bold"/>
              </a:rPr>
              <a:t>Espace visiteur avec favoris et itinéraires</a:t>
            </a:r>
            <a:endParaRPr lang="fr-FR" sz="2530" b="0" strike="noStrike" spc="-1">
              <a:solidFill>
                <a:srgbClr val="000000"/>
              </a:solidFill>
              <a:latin typeface="Arial"/>
            </a:endParaRPr>
          </a:p>
        </p:txBody>
      </p:sp>
      <p:sp>
        <p:nvSpPr>
          <p:cNvPr id="231" name="TextBox 15"/>
          <p:cNvSpPr/>
          <p:nvPr/>
        </p:nvSpPr>
        <p:spPr>
          <a:xfrm>
            <a:off x="7335720" y="4111200"/>
            <a:ext cx="10022400" cy="127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42"/>
              </a:lnSpc>
              <a:tabLst>
                <a:tab pos="0" algn="l"/>
              </a:tabLst>
            </a:pPr>
            <a:r>
              <a:rPr lang="en-US" sz="2150" b="0" strike="noStrike" spc="-1">
                <a:solidFill>
                  <a:srgbClr val="000000"/>
                </a:solidFill>
                <a:latin typeface="Garet Light"/>
                <a:ea typeface="Garet Light"/>
              </a:rPr>
              <a:t>Tableaux de bord dynamiques affichant les statistiques détaillées des paroisses, œuvres sociales et ouvriers ecclésiastiques par région synodale et par année. Visualisation claire des tendances et évolutions.</a:t>
            </a:r>
            <a:endParaRPr lang="fr-FR" sz="2150" b="0" strike="noStrike" spc="-1">
              <a:solidFill>
                <a:srgbClr val="000000"/>
              </a:solidFill>
              <a:latin typeface="Arial"/>
            </a:endParaRPr>
          </a:p>
        </p:txBody>
      </p:sp>
      <p:sp>
        <p:nvSpPr>
          <p:cNvPr id="232" name="TextBox 16"/>
          <p:cNvSpPr/>
          <p:nvPr/>
        </p:nvSpPr>
        <p:spPr>
          <a:xfrm>
            <a:off x="7335720" y="7988400"/>
            <a:ext cx="10022400" cy="1272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42"/>
              </a:lnSpc>
              <a:tabLst>
                <a:tab pos="0" algn="l"/>
              </a:tabLst>
            </a:pPr>
            <a:r>
              <a:rPr lang="en-US" sz="2150" b="0" strike="noStrike" spc="-1">
                <a:solidFill>
                  <a:srgbClr val="000000"/>
                </a:solidFill>
                <a:latin typeface="Garet Light"/>
                <a:ea typeface="Garet Light"/>
              </a:rPr>
              <a:t>Interface visiteur permettant de sauvegarder des paroisses en favoris et de calculer les itinéraires vers les églises grâce à la formule de Haversine pour le calcul des distances à vol d'oiseau.</a:t>
            </a:r>
            <a:endParaRPr lang="fr-FR" sz="2150" b="0" strike="noStrike" spc="-1">
              <a:solidFill>
                <a:srgbClr val="000000"/>
              </a:solidFill>
              <a:latin typeface="Arial"/>
            </a:endParaRPr>
          </a:p>
        </p:txBody>
      </p:sp>
      <p:pic>
        <p:nvPicPr>
          <p:cNvPr id="233" name="Image 232"/>
          <p:cNvPicPr/>
          <p:nvPr/>
        </p:nvPicPr>
        <p:blipFill>
          <a:blip r:embed="rId5"/>
          <a:stretch/>
        </p:blipFill>
        <p:spPr>
          <a:xfrm>
            <a:off x="739080" y="2693160"/>
            <a:ext cx="6100920" cy="3246840"/>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7</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18" name="Ellipse 17"/>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7</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 name="AutoShape 2"/>
          <p:cNvSpPr/>
          <p:nvPr/>
        </p:nvSpPr>
        <p:spPr>
          <a:xfrm>
            <a:off x="790560" y="3503520"/>
            <a:ext cx="4925160" cy="360"/>
          </a:xfrm>
          <a:prstGeom prst="line">
            <a:avLst/>
          </a:prstGeom>
          <a:ln w="6667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235" name="Freeform 3"/>
          <p:cNvSpPr/>
          <p:nvPr/>
        </p:nvSpPr>
        <p:spPr>
          <a:xfrm rot="11743200" flipH="1">
            <a:off x="8168760" y="-226188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5" y="0"/>
                </a:moveTo>
                <a:lnTo>
                  <a:pt x="0" y="0"/>
                </a:lnTo>
                <a:lnTo>
                  <a:pt x="0" y="6709319"/>
                </a:lnTo>
                <a:lnTo>
                  <a:pt x="12871595" y="6709319"/>
                </a:lnTo>
                <a:lnTo>
                  <a:pt x="12871595"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236" name="Group 4"/>
          <p:cNvGrpSpPr/>
          <p:nvPr/>
        </p:nvGrpSpPr>
        <p:grpSpPr>
          <a:xfrm>
            <a:off x="-1474200" y="-340920"/>
            <a:ext cx="24770880" cy="20032200"/>
            <a:chOff x="-1474200" y="-340920"/>
            <a:chExt cx="24770880" cy="20032200"/>
          </a:xfrm>
        </p:grpSpPr>
        <p:sp>
          <p:nvSpPr>
            <p:cNvPr id="237" name="Freeform 5"/>
            <p:cNvSpPr/>
            <p:nvPr/>
          </p:nvSpPr>
          <p:spPr>
            <a:xfrm rot="19733400">
              <a:off x="-699840" y="5140080"/>
              <a:ext cx="23296320" cy="9193680"/>
            </a:xfrm>
            <a:custGeom>
              <a:avLst/>
              <a:gdLst>
                <a:gd name="textAreaLeft" fmla="*/ 0 w 23296320"/>
                <a:gd name="textAreaRight" fmla="*/ 23296680 w 23296320"/>
                <a:gd name="textAreaTop" fmla="*/ 0 h 9193680"/>
                <a:gd name="textAreaBottom" fmla="*/ 9194040 h 9193680"/>
              </a:gdLst>
              <a:ahLst/>
              <a:cxnLst/>
              <a:rect l="textAreaLeft" t="textAreaTop" r="textAreaRight" b="textAreaBottom"/>
              <a:pathLst>
                <a:path w="6135774" h="2421467">
                  <a:moveTo>
                    <a:pt x="0" y="0"/>
                  </a:moveTo>
                  <a:lnTo>
                    <a:pt x="6135774" y="0"/>
                  </a:lnTo>
                  <a:lnTo>
                    <a:pt x="6135774" y="2421467"/>
                  </a:lnTo>
                  <a:lnTo>
                    <a:pt x="0" y="2421467"/>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38" name="TextBox 6"/>
            <p:cNvSpPr/>
            <p:nvPr/>
          </p:nvSpPr>
          <p:spPr>
            <a:xfrm rot="19733400">
              <a:off x="-736920" y="5005800"/>
              <a:ext cx="23296320" cy="9338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pic>
        <p:nvPicPr>
          <p:cNvPr id="239" name="Picture 7"/>
          <p:cNvPicPr/>
          <p:nvPr/>
        </p:nvPicPr>
        <p:blipFill>
          <a:blip r:embed="rId4"/>
          <a:stretch/>
        </p:blipFill>
        <p:spPr>
          <a:xfrm>
            <a:off x="192600" y="3168360"/>
            <a:ext cx="9118440" cy="5253120"/>
          </a:xfrm>
          <a:prstGeom prst="rect">
            <a:avLst/>
          </a:prstGeom>
          <a:ln w="0">
            <a:noFill/>
          </a:ln>
        </p:spPr>
      </p:pic>
      <p:grpSp>
        <p:nvGrpSpPr>
          <p:cNvPr id="240" name="Group 8"/>
          <p:cNvGrpSpPr/>
          <p:nvPr/>
        </p:nvGrpSpPr>
        <p:grpSpPr>
          <a:xfrm>
            <a:off x="9407520" y="4828680"/>
            <a:ext cx="9841680" cy="3477960"/>
            <a:chOff x="9407520" y="4828680"/>
            <a:chExt cx="9841680" cy="3477960"/>
          </a:xfrm>
        </p:grpSpPr>
        <p:sp>
          <p:nvSpPr>
            <p:cNvPr id="241" name="Freeform 9"/>
            <p:cNvSpPr/>
            <p:nvPr/>
          </p:nvSpPr>
          <p:spPr>
            <a:xfrm>
              <a:off x="9407520" y="5131800"/>
              <a:ext cx="9841680" cy="3174840"/>
            </a:xfrm>
            <a:custGeom>
              <a:avLst/>
              <a:gdLst>
                <a:gd name="textAreaLeft" fmla="*/ 0 w 9841680"/>
                <a:gd name="textAreaRight" fmla="*/ 9842040 w 9841680"/>
                <a:gd name="textAreaTop" fmla="*/ 0 h 3174840"/>
                <a:gd name="textAreaBottom" fmla="*/ 3175200 h 3174840"/>
              </a:gdLst>
              <a:ahLst/>
              <a:cxnLst/>
              <a:rect l="textAreaLeft" t="textAreaTop" r="textAreaRight" b="textAreaBottom"/>
              <a:pathLst>
                <a:path w="1236743" h="398997">
                  <a:moveTo>
                    <a:pt x="0" y="0"/>
                  </a:moveTo>
                  <a:lnTo>
                    <a:pt x="1236743" y="0"/>
                  </a:lnTo>
                  <a:lnTo>
                    <a:pt x="1236743" y="398997"/>
                  </a:lnTo>
                  <a:lnTo>
                    <a:pt x="0" y="398997"/>
                  </a:lnTo>
                  <a:close/>
                </a:path>
              </a:pathLst>
            </a:custGeom>
            <a:solidFill>
              <a:srgbClr val="79C2EC">
                <a:alpha val="21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42" name="TextBox 10"/>
            <p:cNvSpPr/>
            <p:nvPr/>
          </p:nvSpPr>
          <p:spPr>
            <a:xfrm>
              <a:off x="9407520" y="4828680"/>
              <a:ext cx="9841680" cy="347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243" name="Group 11"/>
          <p:cNvGrpSpPr/>
          <p:nvPr/>
        </p:nvGrpSpPr>
        <p:grpSpPr>
          <a:xfrm>
            <a:off x="9407520" y="1676520"/>
            <a:ext cx="9841680" cy="3477960"/>
            <a:chOff x="9407520" y="1676520"/>
            <a:chExt cx="9841680" cy="3477960"/>
          </a:xfrm>
        </p:grpSpPr>
        <p:sp>
          <p:nvSpPr>
            <p:cNvPr id="244" name="Freeform 12"/>
            <p:cNvSpPr/>
            <p:nvPr/>
          </p:nvSpPr>
          <p:spPr>
            <a:xfrm>
              <a:off x="9407520" y="1979640"/>
              <a:ext cx="9841680" cy="3174840"/>
            </a:xfrm>
            <a:custGeom>
              <a:avLst/>
              <a:gdLst>
                <a:gd name="textAreaLeft" fmla="*/ 0 w 9841680"/>
                <a:gd name="textAreaRight" fmla="*/ 9842040 w 9841680"/>
                <a:gd name="textAreaTop" fmla="*/ 0 h 3174840"/>
                <a:gd name="textAreaBottom" fmla="*/ 3175200 h 3174840"/>
              </a:gdLst>
              <a:ahLst/>
              <a:cxnLst/>
              <a:rect l="textAreaLeft" t="textAreaTop" r="textAreaRight" b="textAreaBottom"/>
              <a:pathLst>
                <a:path w="1236743" h="398997">
                  <a:moveTo>
                    <a:pt x="0" y="0"/>
                  </a:moveTo>
                  <a:lnTo>
                    <a:pt x="1236743" y="0"/>
                  </a:lnTo>
                  <a:lnTo>
                    <a:pt x="1236743" y="398997"/>
                  </a:lnTo>
                  <a:lnTo>
                    <a:pt x="0" y="398997"/>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245" name="TextBox 13"/>
            <p:cNvSpPr/>
            <p:nvPr/>
          </p:nvSpPr>
          <p:spPr>
            <a:xfrm>
              <a:off x="9407520" y="1676520"/>
              <a:ext cx="9841680" cy="3477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246" name="Freeform 14"/>
          <p:cNvSpPr/>
          <p:nvPr/>
        </p:nvSpPr>
        <p:spPr>
          <a:xfrm>
            <a:off x="9961560" y="2934000"/>
            <a:ext cx="951840" cy="1274400"/>
          </a:xfrm>
          <a:custGeom>
            <a:avLst/>
            <a:gdLst>
              <a:gd name="textAreaLeft" fmla="*/ 0 w 951840"/>
              <a:gd name="textAreaRight" fmla="*/ 952200 w 951840"/>
              <a:gd name="textAreaTop" fmla="*/ 0 h 1274400"/>
              <a:gd name="textAreaBottom" fmla="*/ 1274760 h 1274400"/>
            </a:gdLst>
            <a:ahLst/>
            <a:cxnLst/>
            <a:rect l="textAreaLeft" t="textAreaTop" r="textAreaRight" b="textAreaBottom"/>
            <a:pathLst>
              <a:path w="952363" h="1274729">
                <a:moveTo>
                  <a:pt x="0" y="0"/>
                </a:moveTo>
                <a:lnTo>
                  <a:pt x="952363" y="0"/>
                </a:lnTo>
                <a:lnTo>
                  <a:pt x="952363" y="1274729"/>
                </a:lnTo>
                <a:lnTo>
                  <a:pt x="0" y="1274729"/>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47" name="Freeform 15"/>
          <p:cNvSpPr/>
          <p:nvPr/>
        </p:nvSpPr>
        <p:spPr>
          <a:xfrm>
            <a:off x="9784800" y="6041160"/>
            <a:ext cx="1337400" cy="1337400"/>
          </a:xfrm>
          <a:custGeom>
            <a:avLst/>
            <a:gdLst>
              <a:gd name="textAreaLeft" fmla="*/ 0 w 1337400"/>
              <a:gd name="textAreaRight" fmla="*/ 1337760 w 1337400"/>
              <a:gd name="textAreaTop" fmla="*/ 0 h 1337400"/>
              <a:gd name="textAreaBottom" fmla="*/ 1337760 h 1337400"/>
            </a:gdLst>
            <a:ahLst/>
            <a:cxnLst/>
            <a:rect l="textAreaLeft" t="textAreaTop" r="textAreaRight" b="textAreaBottom"/>
            <a:pathLst>
              <a:path w="1337778" h="1337778">
                <a:moveTo>
                  <a:pt x="0" y="0"/>
                </a:moveTo>
                <a:lnTo>
                  <a:pt x="1337779" y="0"/>
                </a:lnTo>
                <a:lnTo>
                  <a:pt x="1337779" y="1337778"/>
                </a:lnTo>
                <a:lnTo>
                  <a:pt x="0" y="1337778"/>
                </a:lnTo>
                <a:lnTo>
                  <a:pt x="0" y="0"/>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48" name="TextBox 16"/>
          <p:cNvSpPr/>
          <p:nvPr/>
        </p:nvSpPr>
        <p:spPr>
          <a:xfrm>
            <a:off x="790560" y="768960"/>
            <a:ext cx="6715800" cy="179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087"/>
              </a:lnSpc>
              <a:tabLst>
                <a:tab pos="0" algn="l"/>
              </a:tabLst>
            </a:pPr>
            <a:r>
              <a:rPr lang="en-US" sz="6270" b="1" strike="noStrike" spc="-1">
                <a:solidFill>
                  <a:srgbClr val="1679A9"/>
                </a:solidFill>
                <a:latin typeface="Garet Bold"/>
                <a:ea typeface="Garet Bold"/>
              </a:rPr>
              <a:t>RÉSULTATS OBTENUS</a:t>
            </a:r>
            <a:endParaRPr lang="fr-FR" sz="6270" b="0" strike="noStrike" spc="-1">
              <a:solidFill>
                <a:srgbClr val="000000"/>
              </a:solidFill>
              <a:latin typeface="Arial"/>
            </a:endParaRPr>
          </a:p>
        </p:txBody>
      </p:sp>
      <p:sp>
        <p:nvSpPr>
          <p:cNvPr id="249" name="TextBox 17"/>
          <p:cNvSpPr/>
          <p:nvPr/>
        </p:nvSpPr>
        <p:spPr>
          <a:xfrm>
            <a:off x="796680" y="2739600"/>
            <a:ext cx="4918680" cy="489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855"/>
              </a:lnSpc>
              <a:tabLst>
                <a:tab pos="0" algn="l"/>
              </a:tabLst>
            </a:pPr>
            <a:r>
              <a:rPr lang="en-US" sz="2760" b="1" strike="noStrike" spc="-1">
                <a:solidFill>
                  <a:srgbClr val="1679A9"/>
                </a:solidFill>
                <a:latin typeface="Garet Bold"/>
                <a:ea typeface="Garet Bold"/>
              </a:rPr>
              <a:t>Couverture GPS par région</a:t>
            </a:r>
            <a:endParaRPr lang="fr-FR" sz="2760" b="0" strike="noStrike" spc="-1">
              <a:solidFill>
                <a:srgbClr val="000000"/>
              </a:solidFill>
              <a:latin typeface="Arial"/>
            </a:endParaRPr>
          </a:p>
        </p:txBody>
      </p:sp>
      <p:sp>
        <p:nvSpPr>
          <p:cNvPr id="250" name="TextBox 18"/>
          <p:cNvSpPr/>
          <p:nvPr/>
        </p:nvSpPr>
        <p:spPr>
          <a:xfrm>
            <a:off x="11361960" y="2521080"/>
            <a:ext cx="4547160" cy="441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81"/>
              </a:lnSpc>
              <a:tabLst>
                <a:tab pos="0" algn="l"/>
              </a:tabLst>
            </a:pPr>
            <a:r>
              <a:rPr lang="en-US" sz="2490" b="1" strike="noStrike" spc="-1">
                <a:solidFill>
                  <a:srgbClr val="FFFFFF"/>
                </a:solidFill>
                <a:latin typeface="Garet Bold"/>
                <a:ea typeface="Garet Bold"/>
              </a:rPr>
              <a:t>Paroisses géolocalisées</a:t>
            </a:r>
            <a:endParaRPr lang="fr-FR" sz="2490" b="0" strike="noStrike" spc="-1">
              <a:solidFill>
                <a:srgbClr val="000000"/>
              </a:solidFill>
              <a:latin typeface="Arial"/>
            </a:endParaRPr>
          </a:p>
        </p:txBody>
      </p:sp>
      <p:sp>
        <p:nvSpPr>
          <p:cNvPr id="251" name="TextBox 19"/>
          <p:cNvSpPr/>
          <p:nvPr/>
        </p:nvSpPr>
        <p:spPr>
          <a:xfrm>
            <a:off x="11361960" y="5450400"/>
            <a:ext cx="4547160" cy="883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81"/>
              </a:lnSpc>
              <a:tabLst>
                <a:tab pos="0" algn="l"/>
              </a:tabLst>
            </a:pPr>
            <a:r>
              <a:rPr lang="en-US" sz="2490" b="1" strike="noStrike" spc="-1">
                <a:solidFill>
                  <a:srgbClr val="000000"/>
                </a:solidFill>
                <a:latin typeface="Garet Bold"/>
                <a:ea typeface="Garet Bold"/>
              </a:rPr>
              <a:t>Publication conforme aux standards OGC</a:t>
            </a:r>
            <a:endParaRPr lang="fr-FR" sz="2490" b="0" strike="noStrike" spc="-1">
              <a:solidFill>
                <a:srgbClr val="000000"/>
              </a:solidFill>
              <a:latin typeface="Arial"/>
            </a:endParaRPr>
          </a:p>
        </p:txBody>
      </p:sp>
      <p:sp>
        <p:nvSpPr>
          <p:cNvPr id="252" name="TextBox 20"/>
          <p:cNvSpPr/>
          <p:nvPr/>
        </p:nvSpPr>
        <p:spPr>
          <a:xfrm>
            <a:off x="11361960" y="3247560"/>
            <a:ext cx="6570000" cy="120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172"/>
              </a:lnSpc>
              <a:tabLst>
                <a:tab pos="0" algn="l"/>
              </a:tabLst>
            </a:pPr>
            <a:r>
              <a:rPr lang="en-US" sz="2040" b="0" strike="noStrike" spc="-1">
                <a:solidFill>
                  <a:srgbClr val="FFFFFF"/>
                </a:solidFill>
                <a:latin typeface="Garet Light"/>
                <a:ea typeface="Garet Light"/>
              </a:rPr>
              <a:t>553 paroisses importées et géolocalisées avec succès, représentant 78% de couverture GPS sur l'ensemble du territoire camerounais.</a:t>
            </a:r>
            <a:endParaRPr lang="fr-FR" sz="2040" b="0" strike="noStrike" spc="-1">
              <a:solidFill>
                <a:srgbClr val="000000"/>
              </a:solidFill>
              <a:latin typeface="Arial"/>
            </a:endParaRPr>
          </a:p>
        </p:txBody>
      </p:sp>
      <p:sp>
        <p:nvSpPr>
          <p:cNvPr id="253" name="TextBox 21"/>
          <p:cNvSpPr/>
          <p:nvPr/>
        </p:nvSpPr>
        <p:spPr>
          <a:xfrm>
            <a:off x="11361960" y="6537600"/>
            <a:ext cx="6570000" cy="120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172"/>
              </a:lnSpc>
              <a:tabLst>
                <a:tab pos="0" algn="l"/>
              </a:tabLst>
            </a:pPr>
            <a:r>
              <a:rPr lang="en-US" sz="2040" b="0" strike="noStrike" spc="-1">
                <a:solidFill>
                  <a:srgbClr val="000000"/>
                </a:solidFill>
                <a:latin typeface="Garet Light"/>
                <a:ea typeface="Garet Light"/>
              </a:rPr>
              <a:t>Données cartographiques publiées via GeoServer selon les standards OGC (WMS/WFS). Déploiement reproductible via Docker Compose.</a:t>
            </a:r>
            <a:endParaRPr lang="fr-FR" sz="2040" b="0" strike="noStrike" spc="-1">
              <a:solidFill>
                <a:srgbClr val="000000"/>
              </a:solidFill>
              <a:latin typeface="Arial"/>
            </a:endParaRPr>
          </a:p>
        </p:txBody>
      </p:sp>
      <p:sp>
        <p:nvSpPr>
          <p:cNvPr id="254" name="TextBox 22"/>
          <p:cNvSpPr/>
          <p:nvPr/>
        </p:nvSpPr>
        <p:spPr>
          <a:xfrm>
            <a:off x="796680" y="8270280"/>
            <a:ext cx="7974720" cy="1208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172"/>
              </a:lnSpc>
              <a:tabLst>
                <a:tab pos="0" algn="l"/>
              </a:tabLst>
            </a:pPr>
            <a:r>
              <a:rPr lang="en-US" sz="2040" b="0" strike="noStrike" spc="-1">
                <a:solidFill>
                  <a:srgbClr val="000000"/>
                </a:solidFill>
                <a:latin typeface="Garet Light"/>
                <a:ea typeface="Garet Light"/>
              </a:rPr>
              <a:t>Traçabilité complète des opérations assurée par le journal d'audit automatique. Infrastructure conteneurisée garantissant la portabilité et la maintenance simplifiée.</a:t>
            </a:r>
            <a:endParaRPr lang="fr-FR" sz="2040" b="0" strike="noStrike" spc="-1">
              <a:solidFill>
                <a:srgbClr val="000000"/>
              </a:solidFill>
              <a:latin typeface="Arial"/>
            </a:endParaRPr>
          </a:p>
        </p:txBody>
      </p:sp>
      <p:sp>
        <p:nvSpPr>
          <p:cNvPr id="2" name="Espace réservé du numéro de diapositive 1"/>
          <p:cNvSpPr>
            <a:spLocks noGrp="1"/>
          </p:cNvSpPr>
          <p:nvPr>
            <p:ph type="sldNum" idx="27"/>
          </p:nvPr>
        </p:nvSpPr>
        <p:spPr/>
        <p:txBody>
          <a:bodyPr/>
          <a:lstStyle/>
          <a:p>
            <a:fld id="{9E85BCC3-BCA3-4EBB-84DF-5638ED71F27A}" type="slidenum">
              <a:rPr lang="fr-FR" smtClean="0"/>
              <a:t>8</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5" name="Ellipse 24"/>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8</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55" name="Group 2"/>
          <p:cNvGrpSpPr/>
          <p:nvPr/>
        </p:nvGrpSpPr>
        <p:grpSpPr>
          <a:xfrm>
            <a:off x="0" y="0"/>
            <a:ext cx="18287640" cy="4892040"/>
            <a:chOff x="0" y="0"/>
            <a:chExt cx="18287640" cy="4892040"/>
          </a:xfrm>
        </p:grpSpPr>
        <p:pic>
          <p:nvPicPr>
            <p:cNvPr id="256" name="Picture 3"/>
            <p:cNvPicPr/>
            <p:nvPr/>
          </p:nvPicPr>
          <p:blipFill>
            <a:blip r:embed="rId2"/>
            <a:srcRect t="26532" b="26532"/>
            <a:stretch/>
          </p:blipFill>
          <p:spPr>
            <a:xfrm>
              <a:off x="0" y="0"/>
              <a:ext cx="18287640" cy="4892040"/>
            </a:xfrm>
            <a:prstGeom prst="rect">
              <a:avLst/>
            </a:prstGeom>
            <a:ln w="0">
              <a:noFill/>
            </a:ln>
          </p:spPr>
        </p:pic>
      </p:grpSp>
      <p:grpSp>
        <p:nvGrpSpPr>
          <p:cNvPr id="257" name="Group 4"/>
          <p:cNvGrpSpPr/>
          <p:nvPr/>
        </p:nvGrpSpPr>
        <p:grpSpPr>
          <a:xfrm>
            <a:off x="-4594680" y="-549000"/>
            <a:ext cx="24544440" cy="18447840"/>
            <a:chOff x="-4594680" y="-549000"/>
            <a:chExt cx="24544440" cy="18447840"/>
          </a:xfrm>
        </p:grpSpPr>
        <p:sp>
          <p:nvSpPr>
            <p:cNvPr id="258" name="Freeform 5"/>
            <p:cNvSpPr/>
            <p:nvPr/>
          </p:nvSpPr>
          <p:spPr>
            <a:xfrm rot="1472400">
              <a:off x="-3547080" y="3783960"/>
              <a:ext cx="22389840" cy="9912600"/>
            </a:xfrm>
            <a:custGeom>
              <a:avLst/>
              <a:gdLst>
                <a:gd name="textAreaLeft" fmla="*/ 0 w 22389840"/>
                <a:gd name="textAreaRight" fmla="*/ 22390200 w 22389840"/>
                <a:gd name="textAreaTop" fmla="*/ 0 h 9912600"/>
                <a:gd name="textAreaBottom" fmla="*/ 9912960 h 9912600"/>
              </a:gdLst>
              <a:ahLst/>
              <a:cxnLst/>
              <a:rect l="textAreaLeft" t="textAreaTop" r="textAreaRight" b="textAreaBottom"/>
              <a:pathLst>
                <a:path w="5896968" h="2610836">
                  <a:moveTo>
                    <a:pt x="0" y="0"/>
                  </a:moveTo>
                  <a:lnTo>
                    <a:pt x="5896968" y="0"/>
                  </a:lnTo>
                  <a:lnTo>
                    <a:pt x="5896968" y="2610836"/>
                  </a:lnTo>
                  <a:lnTo>
                    <a:pt x="0" y="2610836"/>
                  </a:lnTo>
                  <a:close/>
                </a:path>
              </a:pathLst>
            </a:custGeom>
            <a:solidFill>
              <a:srgbClr val="1679A9">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259" name="TextBox 6"/>
            <p:cNvSpPr/>
            <p:nvPr/>
          </p:nvSpPr>
          <p:spPr>
            <a:xfrm rot="1472400">
              <a:off x="-3517200" y="3646080"/>
              <a:ext cx="22389840" cy="100573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260" name="Freeform 7"/>
          <p:cNvSpPr/>
          <p:nvPr/>
        </p:nvSpPr>
        <p:spPr>
          <a:xfrm rot="11743200" flipH="1" flipV="1">
            <a:off x="-2736360" y="6518880"/>
            <a:ext cx="10943640" cy="5704560"/>
          </a:xfrm>
          <a:custGeom>
            <a:avLst/>
            <a:gdLst>
              <a:gd name="textAreaLeft" fmla="*/ -360 w 10943640"/>
              <a:gd name="textAreaRight" fmla="*/ 10943640 w 10943640"/>
              <a:gd name="textAreaTop" fmla="*/ 360 h 5704560"/>
              <a:gd name="textAreaBottom" fmla="*/ 5705280 h 5704560"/>
            </a:gdLst>
            <a:ahLst/>
            <a:cxnLst/>
            <a:rect l="textAreaLeft" t="textAreaTop" r="textAreaRight" b="textAreaBottom"/>
            <a:pathLst>
              <a:path w="10944091" h="5704608">
                <a:moveTo>
                  <a:pt x="10944091" y="5704608"/>
                </a:moveTo>
                <a:lnTo>
                  <a:pt x="0" y="5704608"/>
                </a:lnTo>
                <a:lnTo>
                  <a:pt x="0" y="0"/>
                </a:lnTo>
                <a:lnTo>
                  <a:pt x="10944091" y="0"/>
                </a:lnTo>
                <a:lnTo>
                  <a:pt x="10944091" y="5704608"/>
                </a:lnTo>
                <a:close/>
              </a:path>
            </a:pathLst>
          </a:custGeom>
          <a:blipFill rotWithShape="0">
            <a:blip r:embed="rId3">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1" name="Freeform 8"/>
          <p:cNvSpPr/>
          <p:nvPr/>
        </p:nvSpPr>
        <p:spPr>
          <a:xfrm>
            <a:off x="1419480" y="3040200"/>
            <a:ext cx="2630880" cy="3208320"/>
          </a:xfrm>
          <a:custGeom>
            <a:avLst/>
            <a:gdLst>
              <a:gd name="textAreaLeft" fmla="*/ 0 w 2630880"/>
              <a:gd name="textAreaRight" fmla="*/ 2631240 w 2630880"/>
              <a:gd name="textAreaTop" fmla="*/ 0 h 3208320"/>
              <a:gd name="textAreaBottom" fmla="*/ 3208680 h 3208320"/>
            </a:gdLst>
            <a:ahLst/>
            <a:cxnLst/>
            <a:rect l="textAreaLeft" t="textAreaTop" r="textAreaRight" b="textAreaBottom"/>
            <a:pathLst>
              <a:path w="2631158" h="3208730">
                <a:moveTo>
                  <a:pt x="0" y="0"/>
                </a:moveTo>
                <a:lnTo>
                  <a:pt x="2631158" y="0"/>
                </a:lnTo>
                <a:lnTo>
                  <a:pt x="2631158" y="3208730"/>
                </a:lnTo>
                <a:lnTo>
                  <a:pt x="0" y="3208730"/>
                </a:lnTo>
                <a:lnTo>
                  <a:pt x="0" y="0"/>
                </a:lnTo>
                <a:close/>
              </a:path>
            </a:pathLst>
          </a:custGeom>
          <a:blipFill rotWithShape="0">
            <a:blip r:embed="rId5">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6"/>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2" name="Freeform 9"/>
          <p:cNvSpPr/>
          <p:nvPr/>
        </p:nvSpPr>
        <p:spPr>
          <a:xfrm>
            <a:off x="8257320" y="3040200"/>
            <a:ext cx="2630880" cy="3208320"/>
          </a:xfrm>
          <a:custGeom>
            <a:avLst/>
            <a:gdLst>
              <a:gd name="textAreaLeft" fmla="*/ 0 w 2630880"/>
              <a:gd name="textAreaRight" fmla="*/ 2631240 w 2630880"/>
              <a:gd name="textAreaTop" fmla="*/ 0 h 3208320"/>
              <a:gd name="textAreaBottom" fmla="*/ 3208680 h 3208320"/>
            </a:gdLst>
            <a:ahLst/>
            <a:cxnLst/>
            <a:rect l="textAreaLeft" t="textAreaTop" r="textAreaRight" b="textAreaBottom"/>
            <a:pathLst>
              <a:path w="2631158" h="3208730">
                <a:moveTo>
                  <a:pt x="0" y="0"/>
                </a:moveTo>
                <a:lnTo>
                  <a:pt x="2631158" y="0"/>
                </a:lnTo>
                <a:lnTo>
                  <a:pt x="2631158" y="3208730"/>
                </a:lnTo>
                <a:lnTo>
                  <a:pt x="0" y="3208730"/>
                </a:lnTo>
                <a:lnTo>
                  <a:pt x="0" y="0"/>
                </a:lnTo>
                <a:close/>
              </a:path>
            </a:pathLst>
          </a:custGeom>
          <a:blipFill rotWithShape="0">
            <a:blip r:embed="rId5">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7"/>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3" name="Freeform 10"/>
          <p:cNvSpPr/>
          <p:nvPr/>
        </p:nvSpPr>
        <p:spPr>
          <a:xfrm>
            <a:off x="4840920" y="3040200"/>
            <a:ext cx="2630880" cy="3208320"/>
          </a:xfrm>
          <a:custGeom>
            <a:avLst/>
            <a:gdLst>
              <a:gd name="textAreaLeft" fmla="*/ 0 w 2630880"/>
              <a:gd name="textAreaRight" fmla="*/ 2631240 w 2630880"/>
              <a:gd name="textAreaTop" fmla="*/ 0 h 3208320"/>
              <a:gd name="textAreaBottom" fmla="*/ 3208680 h 3208320"/>
            </a:gdLst>
            <a:ahLst/>
            <a:cxnLst/>
            <a:rect l="textAreaLeft" t="textAreaTop" r="textAreaRight" b="textAreaBottom"/>
            <a:pathLst>
              <a:path w="2631158" h="3208730">
                <a:moveTo>
                  <a:pt x="0" y="0"/>
                </a:moveTo>
                <a:lnTo>
                  <a:pt x="2631158" y="0"/>
                </a:lnTo>
                <a:lnTo>
                  <a:pt x="2631158" y="3208730"/>
                </a:lnTo>
                <a:lnTo>
                  <a:pt x="0" y="3208730"/>
                </a:lnTo>
                <a:lnTo>
                  <a:pt x="0" y="0"/>
                </a:lnTo>
                <a:close/>
              </a:path>
            </a:pathLst>
          </a:custGeom>
          <a:blipFill rotWithShape="0">
            <a:blip r:embed="rId5">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9"/>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4" name="Freeform 11"/>
          <p:cNvSpPr/>
          <p:nvPr/>
        </p:nvSpPr>
        <p:spPr>
          <a:xfrm>
            <a:off x="11678760" y="3040200"/>
            <a:ext cx="2630880" cy="3208320"/>
          </a:xfrm>
          <a:custGeom>
            <a:avLst/>
            <a:gdLst>
              <a:gd name="textAreaLeft" fmla="*/ 0 w 2630880"/>
              <a:gd name="textAreaRight" fmla="*/ 2631240 w 2630880"/>
              <a:gd name="textAreaTop" fmla="*/ 0 h 3208320"/>
              <a:gd name="textAreaBottom" fmla="*/ 3208680 h 3208320"/>
            </a:gdLst>
            <a:ahLst/>
            <a:cxnLst/>
            <a:rect l="textAreaLeft" t="textAreaTop" r="textAreaRight" b="textAreaBottom"/>
            <a:pathLst>
              <a:path w="2631158" h="3208730">
                <a:moveTo>
                  <a:pt x="0" y="0"/>
                </a:moveTo>
                <a:lnTo>
                  <a:pt x="2631159" y="0"/>
                </a:lnTo>
                <a:lnTo>
                  <a:pt x="2631159" y="3208730"/>
                </a:lnTo>
                <a:lnTo>
                  <a:pt x="0" y="3208730"/>
                </a:lnTo>
                <a:lnTo>
                  <a:pt x="0" y="0"/>
                </a:lnTo>
                <a:close/>
              </a:path>
            </a:pathLst>
          </a:custGeom>
          <a:blipFill rotWithShape="0">
            <a:blip r:embed="rId5">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1"/>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5" name="Freeform 12"/>
          <p:cNvSpPr/>
          <p:nvPr/>
        </p:nvSpPr>
        <p:spPr>
          <a:xfrm>
            <a:off x="1961640" y="3819240"/>
            <a:ext cx="1496880" cy="2068920"/>
          </a:xfrm>
          <a:custGeom>
            <a:avLst/>
            <a:gdLst>
              <a:gd name="textAreaLeft" fmla="*/ 0 w 1496880"/>
              <a:gd name="textAreaRight" fmla="*/ 1497240 w 1496880"/>
              <a:gd name="textAreaTop" fmla="*/ 0 h 2068920"/>
              <a:gd name="textAreaBottom" fmla="*/ 2069280 h 2068920"/>
            </a:gdLst>
            <a:ahLst/>
            <a:cxnLst/>
            <a:rect l="textAreaLeft" t="textAreaTop" r="textAreaRight" b="textAreaBottom"/>
            <a:pathLst>
              <a:path w="1497368" h="2069307">
                <a:moveTo>
                  <a:pt x="0" y="0"/>
                </a:moveTo>
                <a:lnTo>
                  <a:pt x="1497368" y="0"/>
                </a:lnTo>
                <a:lnTo>
                  <a:pt x="1497368" y="2069308"/>
                </a:lnTo>
                <a:lnTo>
                  <a:pt x="0" y="2069308"/>
                </a:lnTo>
                <a:lnTo>
                  <a:pt x="0" y="0"/>
                </a:lnTo>
                <a:close/>
              </a:path>
            </a:pathLst>
          </a:custGeom>
          <a:blipFill rotWithShape="0">
            <a:blip r:embed="rId1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6" name="Freeform 13"/>
          <p:cNvSpPr/>
          <p:nvPr/>
        </p:nvSpPr>
        <p:spPr>
          <a:xfrm>
            <a:off x="4392000" y="3307320"/>
            <a:ext cx="3257640" cy="2531520"/>
          </a:xfrm>
          <a:custGeom>
            <a:avLst/>
            <a:gdLst>
              <a:gd name="textAreaLeft" fmla="*/ 0 w 3257640"/>
              <a:gd name="textAreaRight" fmla="*/ 3258000 w 3257640"/>
              <a:gd name="textAreaTop" fmla="*/ 0 h 2531520"/>
              <a:gd name="textAreaBottom" fmla="*/ 2531880 h 2531520"/>
            </a:gdLst>
            <a:ahLst/>
            <a:cxnLst/>
            <a:rect l="textAreaLeft" t="textAreaTop" r="textAreaRight" b="textAreaBottom"/>
            <a:pathLst>
              <a:path w="3257970" h="2532041">
                <a:moveTo>
                  <a:pt x="0" y="0"/>
                </a:moveTo>
                <a:lnTo>
                  <a:pt x="3257971" y="0"/>
                </a:lnTo>
                <a:lnTo>
                  <a:pt x="3257971" y="2532041"/>
                </a:lnTo>
                <a:lnTo>
                  <a:pt x="0" y="2532041"/>
                </a:lnTo>
                <a:lnTo>
                  <a:pt x="0" y="0"/>
                </a:lnTo>
                <a:close/>
              </a:path>
            </a:pathLst>
          </a:custGeom>
          <a:blipFill rotWithShape="0">
            <a:blip r:embed="rId1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7" name="Freeform 14"/>
          <p:cNvSpPr/>
          <p:nvPr/>
        </p:nvSpPr>
        <p:spPr>
          <a:xfrm>
            <a:off x="9043200" y="3697200"/>
            <a:ext cx="1117800" cy="2024280"/>
          </a:xfrm>
          <a:custGeom>
            <a:avLst/>
            <a:gdLst>
              <a:gd name="textAreaLeft" fmla="*/ 0 w 1117800"/>
              <a:gd name="textAreaRight" fmla="*/ 1118160 w 1117800"/>
              <a:gd name="textAreaTop" fmla="*/ 0 h 2024280"/>
              <a:gd name="textAreaBottom" fmla="*/ 2024640 h 2024280"/>
            </a:gdLst>
            <a:ahLst/>
            <a:cxnLst/>
            <a:rect l="textAreaLeft" t="textAreaTop" r="textAreaRight" b="textAreaBottom"/>
            <a:pathLst>
              <a:path w="1118242" h="2024747">
                <a:moveTo>
                  <a:pt x="0" y="0"/>
                </a:moveTo>
                <a:lnTo>
                  <a:pt x="1118242" y="0"/>
                </a:lnTo>
                <a:lnTo>
                  <a:pt x="1118242" y="2024746"/>
                </a:lnTo>
                <a:lnTo>
                  <a:pt x="0" y="2024746"/>
                </a:lnTo>
                <a:lnTo>
                  <a:pt x="0" y="0"/>
                </a:lnTo>
                <a:close/>
              </a:path>
            </a:pathLst>
          </a:custGeom>
          <a:blipFill rotWithShape="0">
            <a:blip r:embed="rId1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8" name="Freeform 15"/>
          <p:cNvSpPr/>
          <p:nvPr/>
        </p:nvSpPr>
        <p:spPr>
          <a:xfrm>
            <a:off x="12397680" y="3958200"/>
            <a:ext cx="1174680" cy="1451520"/>
          </a:xfrm>
          <a:custGeom>
            <a:avLst/>
            <a:gdLst>
              <a:gd name="textAreaLeft" fmla="*/ 0 w 1174680"/>
              <a:gd name="textAreaRight" fmla="*/ 1175040 w 1174680"/>
              <a:gd name="textAreaTop" fmla="*/ 0 h 1451520"/>
              <a:gd name="textAreaBottom" fmla="*/ 1451880 h 1451520"/>
            </a:gdLst>
            <a:ahLst/>
            <a:cxnLst/>
            <a:rect l="textAreaLeft" t="textAreaTop" r="textAreaRight" b="textAreaBottom"/>
            <a:pathLst>
              <a:path w="1174878" h="1451901">
                <a:moveTo>
                  <a:pt x="0" y="0"/>
                </a:moveTo>
                <a:lnTo>
                  <a:pt x="1174878" y="0"/>
                </a:lnTo>
                <a:lnTo>
                  <a:pt x="1174878" y="1451901"/>
                </a:lnTo>
                <a:lnTo>
                  <a:pt x="0" y="1451901"/>
                </a:lnTo>
                <a:lnTo>
                  <a:pt x="0" y="0"/>
                </a:lnTo>
                <a:close/>
              </a:path>
            </a:pathLst>
          </a:custGeom>
          <a:blipFill rotWithShape="0">
            <a:blip r:embed="rId1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69" name="TextBox 16"/>
          <p:cNvSpPr/>
          <p:nvPr/>
        </p:nvSpPr>
        <p:spPr>
          <a:xfrm>
            <a:off x="1247040" y="820080"/>
            <a:ext cx="6507000" cy="184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268"/>
              </a:lnSpc>
              <a:tabLst>
                <a:tab pos="0" algn="l"/>
              </a:tabLst>
            </a:pPr>
            <a:r>
              <a:rPr lang="en-US" sz="6430" b="1" strike="noStrike" spc="-1">
                <a:solidFill>
                  <a:srgbClr val="FFFFFF"/>
                </a:solidFill>
                <a:latin typeface="Garet Bold"/>
                <a:ea typeface="Garet Bold"/>
              </a:rPr>
              <a:t>LIMITES IDENTIFIÉES</a:t>
            </a:r>
            <a:endParaRPr lang="fr-FR" sz="6430" b="0" strike="noStrike" spc="-1">
              <a:solidFill>
                <a:srgbClr val="000000"/>
              </a:solidFill>
              <a:latin typeface="Arial"/>
            </a:endParaRPr>
          </a:p>
        </p:txBody>
      </p:sp>
      <p:sp>
        <p:nvSpPr>
          <p:cNvPr id="270" name="TextBox 17"/>
          <p:cNvSpPr/>
          <p:nvPr/>
        </p:nvSpPr>
        <p:spPr>
          <a:xfrm>
            <a:off x="1677600" y="6561000"/>
            <a:ext cx="2115000" cy="53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15"/>
              </a:lnSpc>
              <a:tabLst>
                <a:tab pos="0" algn="l"/>
              </a:tabLst>
            </a:pPr>
            <a:r>
              <a:rPr lang="en-US" sz="1510" b="1" strike="noStrike" spc="-1">
                <a:solidFill>
                  <a:srgbClr val="000000"/>
                </a:solidFill>
                <a:latin typeface="Garet Bold"/>
                <a:ea typeface="Garet Bold"/>
              </a:rPr>
              <a:t>Données GPS incomplètes</a:t>
            </a:r>
            <a:endParaRPr lang="fr-FR" sz="1510" b="0" strike="noStrike" spc="-1">
              <a:solidFill>
                <a:srgbClr val="000000"/>
              </a:solidFill>
              <a:latin typeface="Arial"/>
            </a:endParaRPr>
          </a:p>
        </p:txBody>
      </p:sp>
      <p:sp>
        <p:nvSpPr>
          <p:cNvPr id="271" name="TextBox 18"/>
          <p:cNvSpPr/>
          <p:nvPr/>
        </p:nvSpPr>
        <p:spPr>
          <a:xfrm>
            <a:off x="8515440" y="6561000"/>
            <a:ext cx="2115000" cy="536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15"/>
              </a:lnSpc>
              <a:tabLst>
                <a:tab pos="0" algn="l"/>
              </a:tabLst>
            </a:pPr>
            <a:r>
              <a:rPr lang="en-US" sz="1510" b="1" strike="noStrike" spc="-1">
                <a:solidFill>
                  <a:srgbClr val="000000"/>
                </a:solidFill>
                <a:latin typeface="Garet Bold"/>
                <a:ea typeface="Garet Bold"/>
              </a:rPr>
              <a:t>Calcul d'itinéraire basique</a:t>
            </a:r>
            <a:endParaRPr lang="fr-FR" sz="1510" b="0" strike="noStrike" spc="-1">
              <a:solidFill>
                <a:srgbClr val="000000"/>
              </a:solidFill>
              <a:latin typeface="Arial"/>
            </a:endParaRPr>
          </a:p>
        </p:txBody>
      </p:sp>
      <p:sp>
        <p:nvSpPr>
          <p:cNvPr id="272" name="TextBox 19"/>
          <p:cNvSpPr/>
          <p:nvPr/>
        </p:nvSpPr>
        <p:spPr>
          <a:xfrm>
            <a:off x="4840920" y="6561000"/>
            <a:ext cx="2630880" cy="26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15"/>
              </a:lnSpc>
              <a:tabLst>
                <a:tab pos="0" algn="l"/>
              </a:tabLst>
            </a:pPr>
            <a:r>
              <a:rPr lang="en-US" sz="1510" b="1" strike="noStrike" spc="-1">
                <a:solidFill>
                  <a:srgbClr val="000000"/>
                </a:solidFill>
                <a:latin typeface="Garet Bold"/>
                <a:ea typeface="Garet Bold"/>
              </a:rPr>
              <a:t>Mesures de mitigation</a:t>
            </a:r>
            <a:endParaRPr lang="fr-FR" sz="1510" b="0" strike="noStrike" spc="-1">
              <a:solidFill>
                <a:srgbClr val="000000"/>
              </a:solidFill>
              <a:latin typeface="Arial"/>
            </a:endParaRPr>
          </a:p>
        </p:txBody>
      </p:sp>
      <p:sp>
        <p:nvSpPr>
          <p:cNvPr id="273" name="TextBox 20"/>
          <p:cNvSpPr/>
          <p:nvPr/>
        </p:nvSpPr>
        <p:spPr>
          <a:xfrm>
            <a:off x="11936520" y="6561000"/>
            <a:ext cx="2115000" cy="2682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2115"/>
              </a:lnSpc>
              <a:tabLst>
                <a:tab pos="0" algn="l"/>
              </a:tabLst>
            </a:pPr>
            <a:r>
              <a:rPr lang="en-US" sz="1510" b="1" strike="noStrike" spc="-1">
                <a:solidFill>
                  <a:srgbClr val="000000"/>
                </a:solidFill>
                <a:latin typeface="Garet Bold"/>
                <a:ea typeface="Garet Bold"/>
              </a:rPr>
              <a:t>Sécurité à renforcer</a:t>
            </a:r>
            <a:endParaRPr lang="fr-FR" sz="1510" b="0" strike="noStrike" spc="-1">
              <a:solidFill>
                <a:srgbClr val="000000"/>
              </a:solidFill>
              <a:latin typeface="Arial"/>
            </a:endParaRPr>
          </a:p>
        </p:txBody>
      </p:sp>
      <p:sp>
        <p:nvSpPr>
          <p:cNvPr id="274" name="TextBox 21"/>
          <p:cNvSpPr/>
          <p:nvPr/>
        </p:nvSpPr>
        <p:spPr>
          <a:xfrm>
            <a:off x="1339920" y="7387560"/>
            <a:ext cx="2790720" cy="1396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200"/>
              </a:lnSpc>
              <a:tabLst>
                <a:tab pos="0" algn="l"/>
              </a:tabLst>
            </a:pPr>
            <a:r>
              <a:rPr lang="en-US" sz="1420" b="0" strike="noStrike" spc="-1">
                <a:solidFill>
                  <a:srgbClr val="000000"/>
                </a:solidFill>
                <a:latin typeface="Garet Light"/>
                <a:ea typeface="Garet Light"/>
              </a:rPr>
              <a:t>22% des paroisses sans coordonnées GPS valides, limitant la couverture cartographique complète du territoire.</a:t>
            </a:r>
            <a:endParaRPr lang="fr-FR" sz="1420" b="0" strike="noStrike" spc="-1">
              <a:solidFill>
                <a:srgbClr val="000000"/>
              </a:solidFill>
              <a:latin typeface="Arial"/>
            </a:endParaRPr>
          </a:p>
        </p:txBody>
      </p:sp>
      <p:sp>
        <p:nvSpPr>
          <p:cNvPr id="275" name="TextBox 22"/>
          <p:cNvSpPr/>
          <p:nvPr/>
        </p:nvSpPr>
        <p:spPr>
          <a:xfrm>
            <a:off x="8177400" y="7387560"/>
            <a:ext cx="2790720" cy="111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200"/>
              </a:lnSpc>
              <a:tabLst>
                <a:tab pos="0" algn="l"/>
              </a:tabLst>
            </a:pPr>
            <a:r>
              <a:rPr lang="en-US" sz="1420" b="0" strike="noStrike" spc="-1">
                <a:solidFill>
                  <a:srgbClr val="000000"/>
                </a:solidFill>
                <a:latin typeface="Garet Light"/>
                <a:ea typeface="Garet Light"/>
              </a:rPr>
              <a:t>Calcul d'itinéraire limité à la formule Haversine (ligne droite), sans prise en compte du réseau routier réel.</a:t>
            </a:r>
            <a:endParaRPr lang="fr-FR" sz="1420" b="0" strike="noStrike" spc="-1">
              <a:solidFill>
                <a:srgbClr val="000000"/>
              </a:solidFill>
              <a:latin typeface="Arial"/>
            </a:endParaRPr>
          </a:p>
        </p:txBody>
      </p:sp>
      <p:sp>
        <p:nvSpPr>
          <p:cNvPr id="276" name="TextBox 23"/>
          <p:cNvSpPr/>
          <p:nvPr/>
        </p:nvSpPr>
        <p:spPr>
          <a:xfrm>
            <a:off x="4761000" y="7387560"/>
            <a:ext cx="2790720" cy="111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200"/>
              </a:lnSpc>
              <a:tabLst>
                <a:tab pos="0" algn="l"/>
              </a:tabLst>
            </a:pPr>
            <a:r>
              <a:rPr lang="en-US" sz="1420" b="0" strike="noStrike" spc="-1">
                <a:solidFill>
                  <a:srgbClr val="000000"/>
                </a:solidFill>
                <a:latin typeface="Garet Light"/>
                <a:ea typeface="Garet Light"/>
              </a:rPr>
              <a:t>Absence d'application mobile terrain pour la collecte de données GPS sur le terrain par les agents.</a:t>
            </a:r>
            <a:endParaRPr lang="fr-FR" sz="1420" b="0" strike="noStrike" spc="-1">
              <a:solidFill>
                <a:srgbClr val="000000"/>
              </a:solidFill>
              <a:latin typeface="Arial"/>
            </a:endParaRPr>
          </a:p>
        </p:txBody>
      </p:sp>
      <p:sp>
        <p:nvSpPr>
          <p:cNvPr id="277" name="TextBox 24"/>
          <p:cNvSpPr/>
          <p:nvPr/>
        </p:nvSpPr>
        <p:spPr>
          <a:xfrm>
            <a:off x="11598840" y="7387560"/>
            <a:ext cx="2790720" cy="11170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200"/>
              </a:lnSpc>
              <a:tabLst>
                <a:tab pos="0" algn="l"/>
              </a:tabLst>
            </a:pPr>
            <a:r>
              <a:rPr lang="en-US" sz="1420" b="0" strike="noStrike" spc="-1">
                <a:solidFill>
                  <a:srgbClr val="000000"/>
                </a:solidFill>
                <a:latin typeface="Garet Light"/>
                <a:ea typeface="Garet Light"/>
              </a:rPr>
              <a:t>Authentification à facteur unique, nécessitant une évolution vers la double authentification (2FA).</a:t>
            </a:r>
            <a:endParaRPr lang="fr-FR" sz="1420" b="0" strike="noStrike" spc="-1">
              <a:solidFill>
                <a:srgbClr val="000000"/>
              </a:solidFill>
              <a:latin typeface="Arial"/>
            </a:endParaRPr>
          </a:p>
        </p:txBody>
      </p:sp>
      <p:sp>
        <p:nvSpPr>
          <p:cNvPr id="2" name="Espace réservé du numéro de diapositive 1"/>
          <p:cNvSpPr>
            <a:spLocks noGrp="1"/>
          </p:cNvSpPr>
          <p:nvPr>
            <p:ph type="sldNum" idx="27"/>
          </p:nvPr>
        </p:nvSpPr>
        <p:spPr/>
        <p:txBody>
          <a:bodyPr/>
          <a:lstStyle/>
          <a:p>
            <a:fld id="{9E85BCC3-BCA3-4EBB-84DF-5638ED71F27A}" type="slidenum">
              <a:rPr lang="fr-FR" smtClean="0"/>
              <a:t>9</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8" name="Ellipse 27"/>
          <p:cNvSpPr/>
          <p:nvPr/>
        </p:nvSpPr>
        <p:spPr>
          <a:xfrm>
            <a:off x="16897611" y="9557359"/>
            <a:ext cx="901874" cy="551145"/>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a:t>9</a:t>
            </a:r>
            <a:r>
              <a:rPr lang="fr-FR" dirty="0" smtClean="0"/>
              <a:t>/14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78" name="Group 2"/>
          <p:cNvGrpSpPr/>
          <p:nvPr/>
        </p:nvGrpSpPr>
        <p:grpSpPr>
          <a:xfrm>
            <a:off x="-4595040" y="-492120"/>
            <a:ext cx="24518520" cy="18390960"/>
            <a:chOff x="-4595040" y="-492120"/>
            <a:chExt cx="24518520" cy="18390960"/>
          </a:xfrm>
        </p:grpSpPr>
        <p:sp>
          <p:nvSpPr>
            <p:cNvPr id="279" name="Freeform 3"/>
            <p:cNvSpPr/>
            <p:nvPr/>
          </p:nvSpPr>
          <p:spPr>
            <a:xfrm rot="1472400">
              <a:off x="-3560040" y="3844080"/>
              <a:ext cx="22389840" cy="9849960"/>
            </a:xfrm>
            <a:custGeom>
              <a:avLst/>
              <a:gdLst>
                <a:gd name="textAreaLeft" fmla="*/ 0 w 22389840"/>
                <a:gd name="textAreaRight" fmla="*/ 22390200 w 22389840"/>
                <a:gd name="textAreaTop" fmla="*/ 0 h 9849960"/>
                <a:gd name="textAreaBottom" fmla="*/ 9850320 h 9849960"/>
              </a:gdLst>
              <a:ahLst/>
              <a:cxnLst/>
              <a:rect l="textAreaLeft" t="textAreaTop" r="textAreaRight" b="textAreaBottom"/>
              <a:pathLst>
                <a:path w="5896968" h="2594325">
                  <a:moveTo>
                    <a:pt x="0" y="0"/>
                  </a:moveTo>
                  <a:lnTo>
                    <a:pt x="5896968" y="0"/>
                  </a:lnTo>
                  <a:lnTo>
                    <a:pt x="5896968" y="2594325"/>
                  </a:lnTo>
                  <a:lnTo>
                    <a:pt x="0" y="2594325"/>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80" name="TextBox 4"/>
            <p:cNvSpPr/>
            <p:nvPr/>
          </p:nvSpPr>
          <p:spPr>
            <a:xfrm rot="1472400">
              <a:off x="-3530520" y="3705840"/>
              <a:ext cx="22389840" cy="99946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281" name="Group 5"/>
          <p:cNvGrpSpPr/>
          <p:nvPr/>
        </p:nvGrpSpPr>
        <p:grpSpPr>
          <a:xfrm>
            <a:off x="-769320" y="7847280"/>
            <a:ext cx="19826280" cy="3949560"/>
            <a:chOff x="-769320" y="7847280"/>
            <a:chExt cx="19826280" cy="3949560"/>
          </a:xfrm>
        </p:grpSpPr>
        <p:sp>
          <p:nvSpPr>
            <p:cNvPr id="282" name="Freeform 6"/>
            <p:cNvSpPr/>
            <p:nvPr/>
          </p:nvSpPr>
          <p:spPr>
            <a:xfrm>
              <a:off x="-769320" y="7992000"/>
              <a:ext cx="19826280" cy="3804840"/>
            </a:xfrm>
            <a:custGeom>
              <a:avLst/>
              <a:gdLst>
                <a:gd name="textAreaLeft" fmla="*/ 0 w 19826280"/>
                <a:gd name="textAreaRight" fmla="*/ 19826640 w 19826280"/>
                <a:gd name="textAreaTop" fmla="*/ 0 h 3804840"/>
                <a:gd name="textAreaBottom" fmla="*/ 3805200 h 3804840"/>
              </a:gdLst>
              <a:ahLst/>
              <a:cxnLst/>
              <a:rect l="textAreaLeft" t="textAreaTop" r="textAreaRight" b="textAreaBottom"/>
              <a:pathLst>
                <a:path w="5221827" h="1002235">
                  <a:moveTo>
                    <a:pt x="0" y="0"/>
                  </a:moveTo>
                  <a:lnTo>
                    <a:pt x="5221827" y="0"/>
                  </a:lnTo>
                  <a:lnTo>
                    <a:pt x="5221827" y="1002235"/>
                  </a:lnTo>
                  <a:lnTo>
                    <a:pt x="0" y="1002235"/>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283" name="TextBox 7"/>
            <p:cNvSpPr/>
            <p:nvPr/>
          </p:nvSpPr>
          <p:spPr>
            <a:xfrm>
              <a:off x="-769320" y="7847280"/>
              <a:ext cx="19826280" cy="39495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284" name="Freeform 8"/>
          <p:cNvSpPr/>
          <p:nvPr/>
        </p:nvSpPr>
        <p:spPr>
          <a:xfrm>
            <a:off x="964080" y="3590640"/>
            <a:ext cx="7930080" cy="1758240"/>
          </a:xfrm>
          <a:custGeom>
            <a:avLst/>
            <a:gdLst>
              <a:gd name="textAreaLeft" fmla="*/ 0 w 7930080"/>
              <a:gd name="textAreaRight" fmla="*/ 7930440 w 7930080"/>
              <a:gd name="textAreaTop" fmla="*/ 0 h 1758240"/>
              <a:gd name="textAreaBottom" fmla="*/ 1758600 h 1758240"/>
            </a:gdLst>
            <a:ahLst/>
            <a:cxnLst/>
            <a:rect l="textAreaLeft" t="textAreaTop" r="textAreaRight" b="textAreaBottom"/>
            <a:pathLst>
              <a:path w="7930607" h="1758661">
                <a:moveTo>
                  <a:pt x="0" y="0"/>
                </a:moveTo>
                <a:lnTo>
                  <a:pt x="7930606" y="0"/>
                </a:lnTo>
                <a:lnTo>
                  <a:pt x="7930606" y="1758660"/>
                </a:lnTo>
                <a:lnTo>
                  <a:pt x="0" y="1758660"/>
                </a:lnTo>
                <a:lnTo>
                  <a:pt x="0"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85" name="Freeform 9"/>
          <p:cNvSpPr/>
          <p:nvPr/>
        </p:nvSpPr>
        <p:spPr>
          <a:xfrm rot="10800000">
            <a:off x="9393840" y="5573160"/>
            <a:ext cx="7930080" cy="1758240"/>
          </a:xfrm>
          <a:custGeom>
            <a:avLst/>
            <a:gdLst>
              <a:gd name="textAreaLeft" fmla="*/ 0 w 7930080"/>
              <a:gd name="textAreaRight" fmla="*/ 7930440 w 7930080"/>
              <a:gd name="textAreaTop" fmla="*/ 0 h 1758240"/>
              <a:gd name="textAreaBottom" fmla="*/ 1758600 h 1758240"/>
            </a:gdLst>
            <a:ahLst/>
            <a:cxnLst/>
            <a:rect l="textAreaLeft" t="textAreaTop" r="textAreaRight" b="textAreaBottom"/>
            <a:pathLst>
              <a:path w="7930607" h="1758661">
                <a:moveTo>
                  <a:pt x="0" y="0"/>
                </a:moveTo>
                <a:lnTo>
                  <a:pt x="7930606" y="0"/>
                </a:lnTo>
                <a:lnTo>
                  <a:pt x="7930606" y="1758660"/>
                </a:lnTo>
                <a:lnTo>
                  <a:pt x="0" y="1758660"/>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86" name="Freeform 10"/>
          <p:cNvSpPr/>
          <p:nvPr/>
        </p:nvSpPr>
        <p:spPr>
          <a:xfrm>
            <a:off x="964080" y="5796000"/>
            <a:ext cx="7930080" cy="1758240"/>
          </a:xfrm>
          <a:custGeom>
            <a:avLst/>
            <a:gdLst>
              <a:gd name="textAreaLeft" fmla="*/ 0 w 7930080"/>
              <a:gd name="textAreaRight" fmla="*/ 7930440 w 7930080"/>
              <a:gd name="textAreaTop" fmla="*/ 0 h 1758240"/>
              <a:gd name="textAreaBottom" fmla="*/ 1758600 h 1758240"/>
            </a:gdLst>
            <a:ahLst/>
            <a:cxnLst/>
            <a:rect l="textAreaLeft" t="textAreaTop" r="textAreaRight" b="textAreaBottom"/>
            <a:pathLst>
              <a:path w="7930607" h="1758661">
                <a:moveTo>
                  <a:pt x="0" y="0"/>
                </a:moveTo>
                <a:lnTo>
                  <a:pt x="7930606" y="0"/>
                </a:lnTo>
                <a:lnTo>
                  <a:pt x="7930606" y="1758661"/>
                </a:lnTo>
                <a:lnTo>
                  <a:pt x="0" y="1758661"/>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87" name="Freeform 11"/>
          <p:cNvSpPr/>
          <p:nvPr/>
        </p:nvSpPr>
        <p:spPr>
          <a:xfrm rot="10800000">
            <a:off x="9393840" y="3367800"/>
            <a:ext cx="7930080" cy="1758240"/>
          </a:xfrm>
          <a:custGeom>
            <a:avLst/>
            <a:gdLst>
              <a:gd name="textAreaLeft" fmla="*/ 0 w 7930080"/>
              <a:gd name="textAreaRight" fmla="*/ 7930440 w 7930080"/>
              <a:gd name="textAreaTop" fmla="*/ 0 h 1758240"/>
              <a:gd name="textAreaBottom" fmla="*/ 1758600 h 1758240"/>
            </a:gdLst>
            <a:ahLst/>
            <a:cxnLst/>
            <a:rect l="textAreaLeft" t="textAreaTop" r="textAreaRight" b="textAreaBottom"/>
            <a:pathLst>
              <a:path w="7930607" h="1758661">
                <a:moveTo>
                  <a:pt x="0" y="0"/>
                </a:moveTo>
                <a:lnTo>
                  <a:pt x="7930606" y="0"/>
                </a:lnTo>
                <a:lnTo>
                  <a:pt x="7930606" y="1758660"/>
                </a:lnTo>
                <a:lnTo>
                  <a:pt x="0" y="1758660"/>
                </a:lnTo>
                <a:lnTo>
                  <a:pt x="0" y="0"/>
                </a:lnTo>
                <a:close/>
              </a:path>
            </a:pathLst>
          </a:custGeom>
          <a:blipFill rotWithShape="0">
            <a:blip r:embed="rId4"/>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88" name="Freeform 12"/>
          <p:cNvSpPr/>
          <p:nvPr/>
        </p:nvSpPr>
        <p:spPr>
          <a:xfrm>
            <a:off x="7976880" y="3729960"/>
            <a:ext cx="734400" cy="1258200"/>
          </a:xfrm>
          <a:custGeom>
            <a:avLst/>
            <a:gdLst>
              <a:gd name="textAreaLeft" fmla="*/ 0 w 734400"/>
              <a:gd name="textAreaRight" fmla="*/ 734760 w 734400"/>
              <a:gd name="textAreaTop" fmla="*/ 0 h 1258200"/>
              <a:gd name="textAreaBottom" fmla="*/ 1258560 h 1258200"/>
            </a:gdLst>
            <a:ahLst/>
            <a:cxnLst/>
            <a:rect l="textAreaLeft" t="textAreaTop" r="textAreaRight" b="textAreaBottom"/>
            <a:pathLst>
              <a:path w="734871" h="1258532">
                <a:moveTo>
                  <a:pt x="0" y="0"/>
                </a:moveTo>
                <a:lnTo>
                  <a:pt x="734871" y="0"/>
                </a:lnTo>
                <a:lnTo>
                  <a:pt x="734871" y="1258532"/>
                </a:lnTo>
                <a:lnTo>
                  <a:pt x="0" y="1258532"/>
                </a:lnTo>
                <a:lnTo>
                  <a:pt x="0" y="0"/>
                </a:lnTo>
                <a:close/>
              </a:path>
            </a:pathLst>
          </a:custGeom>
          <a:blipFill rotWithShape="0">
            <a:blip r:embed="rId5"/>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89" name="Freeform 13"/>
          <p:cNvSpPr/>
          <p:nvPr/>
        </p:nvSpPr>
        <p:spPr>
          <a:xfrm>
            <a:off x="9680040" y="4096800"/>
            <a:ext cx="499680" cy="499680"/>
          </a:xfrm>
          <a:custGeom>
            <a:avLst/>
            <a:gdLst>
              <a:gd name="textAreaLeft" fmla="*/ 0 w 499680"/>
              <a:gd name="textAreaRight" fmla="*/ 500040 w 499680"/>
              <a:gd name="textAreaTop" fmla="*/ 0 h 499680"/>
              <a:gd name="textAreaBottom" fmla="*/ 500040 h 499680"/>
            </a:gdLst>
            <a:ahLst/>
            <a:cxnLst/>
            <a:rect l="textAreaLeft" t="textAreaTop" r="textAreaRight" b="textAreaBottom"/>
            <a:pathLst>
              <a:path w="499971" h="499971">
                <a:moveTo>
                  <a:pt x="0" y="0"/>
                </a:moveTo>
                <a:lnTo>
                  <a:pt x="499971" y="0"/>
                </a:lnTo>
                <a:lnTo>
                  <a:pt x="499971" y="499971"/>
                </a:lnTo>
                <a:lnTo>
                  <a:pt x="0" y="499971"/>
                </a:lnTo>
                <a:lnTo>
                  <a:pt x="0" y="0"/>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90" name="Freeform 14"/>
          <p:cNvSpPr/>
          <p:nvPr/>
        </p:nvSpPr>
        <p:spPr>
          <a:xfrm>
            <a:off x="9679680" y="6294240"/>
            <a:ext cx="546120" cy="675000"/>
          </a:xfrm>
          <a:custGeom>
            <a:avLst/>
            <a:gdLst>
              <a:gd name="textAreaLeft" fmla="*/ 0 w 546120"/>
              <a:gd name="textAreaRight" fmla="*/ 546480 w 546120"/>
              <a:gd name="textAreaTop" fmla="*/ 0 h 675000"/>
              <a:gd name="textAreaBottom" fmla="*/ 675360 h 675000"/>
            </a:gdLst>
            <a:ahLst/>
            <a:cxnLst/>
            <a:rect l="textAreaLeft" t="textAreaTop" r="textAreaRight" b="textAreaBottom"/>
            <a:pathLst>
              <a:path w="546646" h="675324">
                <a:moveTo>
                  <a:pt x="0" y="0"/>
                </a:moveTo>
                <a:lnTo>
                  <a:pt x="546646" y="0"/>
                </a:lnTo>
                <a:lnTo>
                  <a:pt x="546646" y="675324"/>
                </a:lnTo>
                <a:lnTo>
                  <a:pt x="0" y="675324"/>
                </a:lnTo>
                <a:lnTo>
                  <a:pt x="0" y="0"/>
                </a:lnTo>
                <a:close/>
              </a:path>
            </a:pathLst>
          </a:custGeom>
          <a:blipFill rotWithShape="0">
            <a:blip r:embed="rId7"/>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91" name="Freeform 15"/>
          <p:cNvSpPr/>
          <p:nvPr/>
        </p:nvSpPr>
        <p:spPr>
          <a:xfrm>
            <a:off x="8117640" y="6318000"/>
            <a:ext cx="461520" cy="468000"/>
          </a:xfrm>
          <a:custGeom>
            <a:avLst/>
            <a:gdLst>
              <a:gd name="textAreaLeft" fmla="*/ 0 w 461520"/>
              <a:gd name="textAreaRight" fmla="*/ 461880 w 461520"/>
              <a:gd name="textAreaTop" fmla="*/ 0 h 468000"/>
              <a:gd name="textAreaBottom" fmla="*/ 468360 h 468000"/>
            </a:gdLst>
            <a:ahLst/>
            <a:cxnLst/>
            <a:rect l="textAreaLeft" t="textAreaTop" r="textAreaRight" b="textAreaBottom"/>
            <a:pathLst>
              <a:path w="461843" h="468405">
                <a:moveTo>
                  <a:pt x="0" y="0"/>
                </a:moveTo>
                <a:lnTo>
                  <a:pt x="461843" y="0"/>
                </a:lnTo>
                <a:lnTo>
                  <a:pt x="461843" y="468406"/>
                </a:lnTo>
                <a:lnTo>
                  <a:pt x="0" y="468406"/>
                </a:lnTo>
                <a:lnTo>
                  <a:pt x="0" y="0"/>
                </a:lnTo>
                <a:close/>
              </a:path>
            </a:pathLst>
          </a:custGeom>
          <a:blipFill rotWithShape="0">
            <a:blip r:embed="rId8"/>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292" name="TextBox 16"/>
          <p:cNvSpPr/>
          <p:nvPr/>
        </p:nvSpPr>
        <p:spPr>
          <a:xfrm>
            <a:off x="2231640" y="3777120"/>
            <a:ext cx="5392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2730"/>
              </a:lnSpc>
              <a:tabLst>
                <a:tab pos="0" algn="l"/>
              </a:tabLst>
            </a:pPr>
            <a:r>
              <a:rPr lang="en-US" sz="1950" b="1" strike="noStrike" spc="-1">
                <a:solidFill>
                  <a:srgbClr val="FFFFFF"/>
                </a:solidFill>
                <a:latin typeface="Garet Bold"/>
                <a:ea typeface="Garet Bold"/>
              </a:rPr>
              <a:t>Application mobile terrain</a:t>
            </a:r>
            <a:endParaRPr lang="fr-FR" sz="1950" b="0" strike="noStrike" spc="-1">
              <a:solidFill>
                <a:srgbClr val="000000"/>
              </a:solidFill>
              <a:latin typeface="Arial"/>
            </a:endParaRPr>
          </a:p>
        </p:txBody>
      </p:sp>
      <p:sp>
        <p:nvSpPr>
          <p:cNvPr id="293" name="TextBox 17"/>
          <p:cNvSpPr/>
          <p:nvPr/>
        </p:nvSpPr>
        <p:spPr>
          <a:xfrm>
            <a:off x="10622520" y="3780000"/>
            <a:ext cx="539244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30"/>
              </a:lnSpc>
              <a:tabLst>
                <a:tab pos="0" algn="l"/>
              </a:tabLst>
            </a:pPr>
            <a:r>
              <a:rPr lang="en-US" sz="1950" b="1" strike="noStrike" spc="-1">
                <a:solidFill>
                  <a:srgbClr val="FFFFFF"/>
                </a:solidFill>
                <a:latin typeface="Garet Bold"/>
                <a:ea typeface="Garet Bold"/>
              </a:rPr>
              <a:t>Intégration routage avancé</a:t>
            </a:r>
            <a:endParaRPr lang="fr-FR" sz="1950" b="0" strike="noStrike" spc="-1">
              <a:solidFill>
                <a:srgbClr val="000000"/>
              </a:solidFill>
              <a:latin typeface="Arial"/>
            </a:endParaRPr>
          </a:p>
        </p:txBody>
      </p:sp>
      <p:sp>
        <p:nvSpPr>
          <p:cNvPr id="294" name="TextBox 18"/>
          <p:cNvSpPr/>
          <p:nvPr/>
        </p:nvSpPr>
        <p:spPr>
          <a:xfrm>
            <a:off x="10622520" y="6030720"/>
            <a:ext cx="56383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30"/>
              </a:lnSpc>
              <a:tabLst>
                <a:tab pos="0" algn="l"/>
              </a:tabLst>
            </a:pPr>
            <a:r>
              <a:rPr lang="en-US" sz="1950" b="1" strike="noStrike" spc="-1">
                <a:solidFill>
                  <a:srgbClr val="FFFFFF"/>
                </a:solidFill>
                <a:latin typeface="Garet Bold"/>
                <a:ea typeface="Garet Bold"/>
              </a:rPr>
              <a:t>Double authentification</a:t>
            </a:r>
            <a:endParaRPr lang="fr-FR" sz="1950" b="0" strike="noStrike" spc="-1">
              <a:solidFill>
                <a:srgbClr val="000000"/>
              </a:solidFill>
              <a:latin typeface="Arial"/>
            </a:endParaRPr>
          </a:p>
        </p:txBody>
      </p:sp>
      <p:sp>
        <p:nvSpPr>
          <p:cNvPr id="295" name="TextBox 19"/>
          <p:cNvSpPr/>
          <p:nvPr/>
        </p:nvSpPr>
        <p:spPr>
          <a:xfrm>
            <a:off x="0" y="5925240"/>
            <a:ext cx="7623720" cy="346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2730"/>
              </a:lnSpc>
              <a:tabLst>
                <a:tab pos="0" algn="l"/>
              </a:tabLst>
            </a:pPr>
            <a:r>
              <a:rPr lang="en-US" sz="1950" b="1" strike="noStrike" spc="-1">
                <a:solidFill>
                  <a:srgbClr val="FFFFFF"/>
                </a:solidFill>
                <a:latin typeface="Garet Bold"/>
                <a:ea typeface="Garet Bold"/>
              </a:rPr>
              <a:t>Module langage naturel</a:t>
            </a:r>
            <a:endParaRPr lang="fr-FR" sz="1950" b="0" strike="noStrike" spc="-1">
              <a:solidFill>
                <a:srgbClr val="000000"/>
              </a:solidFill>
              <a:latin typeface="Arial"/>
            </a:endParaRPr>
          </a:p>
        </p:txBody>
      </p:sp>
      <p:sp>
        <p:nvSpPr>
          <p:cNvPr id="296" name="TextBox 20"/>
          <p:cNvSpPr/>
          <p:nvPr/>
        </p:nvSpPr>
        <p:spPr>
          <a:xfrm>
            <a:off x="5548680" y="958680"/>
            <a:ext cx="7189920" cy="1799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7087"/>
              </a:lnSpc>
              <a:tabLst>
                <a:tab pos="0" algn="l"/>
              </a:tabLst>
            </a:pPr>
            <a:r>
              <a:rPr lang="en-US" sz="6270" b="1" strike="noStrike" spc="-1">
                <a:solidFill>
                  <a:srgbClr val="1679A9"/>
                </a:solidFill>
                <a:latin typeface="Garet Bold"/>
                <a:ea typeface="Garet Bold"/>
              </a:rPr>
              <a:t>PERSPECTIVES D'ÉVOLUTION</a:t>
            </a:r>
            <a:endParaRPr lang="fr-FR" sz="6270" b="0" strike="noStrike" spc="-1">
              <a:solidFill>
                <a:srgbClr val="000000"/>
              </a:solidFill>
              <a:latin typeface="Arial"/>
            </a:endParaRPr>
          </a:p>
        </p:txBody>
      </p:sp>
      <p:sp>
        <p:nvSpPr>
          <p:cNvPr id="297" name="TextBox 21"/>
          <p:cNvSpPr/>
          <p:nvPr/>
        </p:nvSpPr>
        <p:spPr>
          <a:xfrm>
            <a:off x="1359000" y="8262000"/>
            <a:ext cx="15569280" cy="804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ctr" defTabSz="914400">
              <a:lnSpc>
                <a:spcPts val="3166"/>
              </a:lnSpc>
              <a:tabLst>
                <a:tab pos="0" algn="l"/>
              </a:tabLst>
            </a:pPr>
            <a:r>
              <a:rPr lang="en-US" sz="2040" b="0" strike="noStrike" spc="-1">
                <a:solidFill>
                  <a:srgbClr val="FFFFFF"/>
                </a:solidFill>
                <a:latin typeface="Garet Light"/>
                <a:ea typeface="Garet Light"/>
              </a:rPr>
              <a:t>Ces perspectives d'évolution visent à améliorer la couverture GPS, optimiser l'expérience utilisateur avec des itinéraires réalistes, renforcer la sécurité du système et faciliter l'interaction avec les données grâce à l'intelligence artificielle.</a:t>
            </a:r>
            <a:endParaRPr lang="fr-FR" sz="2040" b="0" strike="noStrike" spc="-1">
              <a:solidFill>
                <a:srgbClr val="000000"/>
              </a:solidFill>
              <a:latin typeface="Arial"/>
            </a:endParaRPr>
          </a:p>
        </p:txBody>
      </p:sp>
      <p:sp>
        <p:nvSpPr>
          <p:cNvPr id="298" name="TextBox 22"/>
          <p:cNvSpPr/>
          <p:nvPr/>
        </p:nvSpPr>
        <p:spPr>
          <a:xfrm>
            <a:off x="1147320" y="4235760"/>
            <a:ext cx="6476400" cy="57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2276"/>
              </a:lnSpc>
              <a:tabLst>
                <a:tab pos="0" algn="l"/>
              </a:tabLst>
            </a:pPr>
            <a:r>
              <a:rPr lang="en-US" sz="1470" b="0" strike="noStrike" spc="-1">
                <a:solidFill>
                  <a:srgbClr val="FFFFFF"/>
                </a:solidFill>
                <a:latin typeface="Garet Light"/>
                <a:ea typeface="Garet Light"/>
              </a:rPr>
              <a:t>Développement d'une application mobile pour la collecte GPS sur le terrain et mise à jour des coordonnées manquantes.</a:t>
            </a:r>
            <a:endParaRPr lang="fr-FR" sz="1470" b="0" strike="noStrike" spc="-1">
              <a:solidFill>
                <a:srgbClr val="000000"/>
              </a:solidFill>
              <a:latin typeface="Arial"/>
            </a:endParaRPr>
          </a:p>
        </p:txBody>
      </p:sp>
      <p:sp>
        <p:nvSpPr>
          <p:cNvPr id="299" name="TextBox 23"/>
          <p:cNvSpPr/>
          <p:nvPr/>
        </p:nvSpPr>
        <p:spPr>
          <a:xfrm>
            <a:off x="10622520" y="4238640"/>
            <a:ext cx="6476400" cy="57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76"/>
              </a:lnSpc>
              <a:tabLst>
                <a:tab pos="0" algn="l"/>
              </a:tabLst>
            </a:pPr>
            <a:r>
              <a:rPr lang="en-US" sz="1470" b="0" strike="noStrike" spc="-1">
                <a:solidFill>
                  <a:srgbClr val="FFFFFF"/>
                </a:solidFill>
                <a:latin typeface="Garet Light"/>
                <a:ea typeface="Garet Light"/>
              </a:rPr>
              <a:t>Intégration d'un moteur de routage OSRM ou GraphHopper pour calcul d'itinéraires réels.</a:t>
            </a:r>
            <a:endParaRPr lang="fr-FR" sz="1470" b="0" strike="noStrike" spc="-1">
              <a:solidFill>
                <a:srgbClr val="000000"/>
              </a:solidFill>
              <a:latin typeface="Arial"/>
            </a:endParaRPr>
          </a:p>
        </p:txBody>
      </p:sp>
      <p:sp>
        <p:nvSpPr>
          <p:cNvPr id="300" name="TextBox 24"/>
          <p:cNvSpPr/>
          <p:nvPr/>
        </p:nvSpPr>
        <p:spPr>
          <a:xfrm>
            <a:off x="10622520" y="6489720"/>
            <a:ext cx="6476400" cy="57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276"/>
              </a:lnSpc>
              <a:tabLst>
                <a:tab pos="0" algn="l"/>
              </a:tabLst>
            </a:pPr>
            <a:r>
              <a:rPr lang="en-US" sz="1470" b="0" strike="noStrike" spc="-1">
                <a:solidFill>
                  <a:srgbClr val="FFFFFF"/>
                </a:solidFill>
                <a:latin typeface="Garet Light"/>
                <a:ea typeface="Garet Light"/>
              </a:rPr>
              <a:t>Mise en place de l'authentification à double facteur (TOTP) pour renforcer la sécurité.</a:t>
            </a:r>
            <a:endParaRPr lang="fr-FR" sz="1470" b="0" strike="noStrike" spc="-1">
              <a:solidFill>
                <a:srgbClr val="000000"/>
              </a:solidFill>
              <a:latin typeface="Arial"/>
            </a:endParaRPr>
          </a:p>
        </p:txBody>
      </p:sp>
      <p:sp>
        <p:nvSpPr>
          <p:cNvPr id="301" name="TextBox 25"/>
          <p:cNvSpPr/>
          <p:nvPr/>
        </p:nvSpPr>
        <p:spPr>
          <a:xfrm>
            <a:off x="1147320" y="6383880"/>
            <a:ext cx="6476400" cy="577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r" defTabSz="914400">
              <a:lnSpc>
                <a:spcPts val="2276"/>
              </a:lnSpc>
              <a:tabLst>
                <a:tab pos="0" algn="l"/>
              </a:tabLst>
            </a:pPr>
            <a:r>
              <a:rPr lang="en-US" sz="1470" b="0" strike="noStrike" spc="-1">
                <a:solidFill>
                  <a:srgbClr val="FFFFFF"/>
                </a:solidFill>
                <a:latin typeface="Garet Light"/>
                <a:ea typeface="Garet Light"/>
              </a:rPr>
              <a:t>Module questions-réponses en langage naturel pour faciliter l'accès aux informations.</a:t>
            </a:r>
            <a:endParaRPr lang="fr-FR" sz="1470" b="0" strike="noStrike" spc="-1">
              <a:solidFill>
                <a:srgbClr val="000000"/>
              </a:solidFill>
              <a:latin typeface="Arial"/>
            </a:endParaRPr>
          </a:p>
        </p:txBody>
      </p:sp>
      <p:sp>
        <p:nvSpPr>
          <p:cNvPr id="302" name="Freeform 26"/>
          <p:cNvSpPr/>
          <p:nvPr/>
        </p:nvSpPr>
        <p:spPr>
          <a:xfrm rot="11743200" flipH="1">
            <a:off x="9635760" y="-310464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6" y="0"/>
                </a:moveTo>
                <a:lnTo>
                  <a:pt x="0" y="0"/>
                </a:lnTo>
                <a:lnTo>
                  <a:pt x="0" y="6709319"/>
                </a:lnTo>
                <a:lnTo>
                  <a:pt x="12871596" y="6709319"/>
                </a:lnTo>
                <a:lnTo>
                  <a:pt x="12871596" y="0"/>
                </a:lnTo>
                <a:close/>
              </a:path>
            </a:pathLst>
          </a:custGeom>
          <a:blipFill rotWithShape="0">
            <a:blip r:embed="rId9">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1"/>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pic>
        <p:nvPicPr>
          <p:cNvPr id="303" name="Image 302"/>
          <p:cNvPicPr/>
          <p:nvPr/>
        </p:nvPicPr>
        <p:blipFill>
          <a:blip r:embed="rId12"/>
          <a:stretch/>
        </p:blipFill>
        <p:spPr>
          <a:xfrm>
            <a:off x="-1776960" y="0"/>
            <a:ext cx="20676960" cy="11148164"/>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10</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30" name="Ellipse 29"/>
          <p:cNvSpPr/>
          <p:nvPr/>
        </p:nvSpPr>
        <p:spPr>
          <a:xfrm>
            <a:off x="17256536" y="10015708"/>
            <a:ext cx="1252603" cy="5425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10/14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04" name="Group 2"/>
          <p:cNvGrpSpPr/>
          <p:nvPr/>
        </p:nvGrpSpPr>
        <p:grpSpPr>
          <a:xfrm>
            <a:off x="-1474200" y="-560880"/>
            <a:ext cx="25135560" cy="20252160"/>
            <a:chOff x="-1474200" y="-560880"/>
            <a:chExt cx="25135560" cy="20252160"/>
          </a:xfrm>
        </p:grpSpPr>
        <p:sp>
          <p:nvSpPr>
            <p:cNvPr id="305" name="Freeform 3"/>
            <p:cNvSpPr/>
            <p:nvPr/>
          </p:nvSpPr>
          <p:spPr>
            <a:xfrm rot="19733400">
              <a:off x="-730440" y="5029920"/>
              <a:ext cx="23722560" cy="9193680"/>
            </a:xfrm>
            <a:custGeom>
              <a:avLst/>
              <a:gdLst>
                <a:gd name="textAreaLeft" fmla="*/ 0 w 23722560"/>
                <a:gd name="textAreaRight" fmla="*/ 23722920 w 23722560"/>
                <a:gd name="textAreaTop" fmla="*/ 0 h 9193680"/>
                <a:gd name="textAreaBottom" fmla="*/ 9194040 h 9193680"/>
              </a:gdLst>
              <a:ahLst/>
              <a:cxnLst/>
              <a:rect l="textAreaLeft" t="textAreaTop" r="textAreaRight" b="textAreaBottom"/>
              <a:pathLst>
                <a:path w="6247970" h="2421467">
                  <a:moveTo>
                    <a:pt x="0" y="0"/>
                  </a:moveTo>
                  <a:lnTo>
                    <a:pt x="6247970" y="0"/>
                  </a:lnTo>
                  <a:lnTo>
                    <a:pt x="6247970" y="2421467"/>
                  </a:lnTo>
                  <a:lnTo>
                    <a:pt x="0" y="2421467"/>
                  </a:lnTo>
                  <a:close/>
                </a:path>
              </a:pathLst>
            </a:custGeom>
            <a:solidFill>
              <a:srgbClr val="79C2EC">
                <a:alpha val="14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06" name="TextBox 4"/>
            <p:cNvSpPr/>
            <p:nvPr/>
          </p:nvSpPr>
          <p:spPr>
            <a:xfrm rot="19733400">
              <a:off x="-767520" y="4895640"/>
              <a:ext cx="23722560" cy="933840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07" name="Group 5"/>
          <p:cNvGrpSpPr/>
          <p:nvPr/>
        </p:nvGrpSpPr>
        <p:grpSpPr>
          <a:xfrm>
            <a:off x="-593640" y="-320400"/>
            <a:ext cx="6510600" cy="10782720"/>
            <a:chOff x="-593640" y="-320400"/>
            <a:chExt cx="6510600" cy="10782720"/>
          </a:xfrm>
        </p:grpSpPr>
        <p:sp>
          <p:nvSpPr>
            <p:cNvPr id="308" name="Freeform 6"/>
            <p:cNvSpPr/>
            <p:nvPr/>
          </p:nvSpPr>
          <p:spPr>
            <a:xfrm>
              <a:off x="-593640" y="-175680"/>
              <a:ext cx="6510600" cy="10638000"/>
            </a:xfrm>
            <a:custGeom>
              <a:avLst/>
              <a:gdLst>
                <a:gd name="textAreaLeft" fmla="*/ 0 w 6510600"/>
                <a:gd name="textAreaRight" fmla="*/ 6510960 w 6510600"/>
                <a:gd name="textAreaTop" fmla="*/ 0 h 10638000"/>
                <a:gd name="textAreaBottom" fmla="*/ 10638360 h 10638000"/>
              </a:gdLst>
              <a:ahLst/>
              <a:cxnLst/>
              <a:rect l="textAreaLeft" t="textAreaTop" r="textAreaRight" b="textAreaBottom"/>
              <a:pathLst>
                <a:path w="1714787" h="2801830">
                  <a:moveTo>
                    <a:pt x="0" y="0"/>
                  </a:moveTo>
                  <a:lnTo>
                    <a:pt x="1714787" y="0"/>
                  </a:lnTo>
                  <a:lnTo>
                    <a:pt x="1714787" y="2801830"/>
                  </a:lnTo>
                  <a:lnTo>
                    <a:pt x="0" y="280183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09" name="TextBox 7"/>
            <p:cNvSpPr/>
            <p:nvPr/>
          </p:nvSpPr>
          <p:spPr>
            <a:xfrm>
              <a:off x="-593640" y="-320400"/>
              <a:ext cx="6510600" cy="107823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310" name="TextBox 8"/>
          <p:cNvSpPr/>
          <p:nvPr/>
        </p:nvSpPr>
        <p:spPr>
          <a:xfrm>
            <a:off x="6572160" y="758520"/>
            <a:ext cx="6346800" cy="90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7087"/>
              </a:lnSpc>
              <a:tabLst>
                <a:tab pos="0" algn="l"/>
              </a:tabLst>
            </a:pPr>
            <a:r>
              <a:rPr lang="en-US" sz="6270" b="1" strike="noStrike" spc="-1">
                <a:solidFill>
                  <a:srgbClr val="1679A9"/>
                </a:solidFill>
                <a:latin typeface="Garet Bold"/>
                <a:ea typeface="Garet Bold"/>
              </a:rPr>
              <a:t>ÉQUIPE PROJET</a:t>
            </a:r>
            <a:endParaRPr lang="fr-FR" sz="6270" b="0" strike="noStrike" spc="-1">
              <a:solidFill>
                <a:srgbClr val="000000"/>
              </a:solidFill>
              <a:latin typeface="Arial"/>
            </a:endParaRPr>
          </a:p>
        </p:txBody>
      </p:sp>
      <p:sp>
        <p:nvSpPr>
          <p:cNvPr id="311" name="Freeform 9"/>
          <p:cNvSpPr/>
          <p:nvPr/>
        </p:nvSpPr>
        <p:spPr>
          <a:xfrm rot="11743200" flipH="1">
            <a:off x="9635760" y="-3104640"/>
            <a:ext cx="12871080" cy="6708960"/>
          </a:xfrm>
          <a:custGeom>
            <a:avLst/>
            <a:gdLst>
              <a:gd name="textAreaLeft" fmla="*/ -360 w 12871080"/>
              <a:gd name="textAreaRight" fmla="*/ 12871080 w 12871080"/>
              <a:gd name="textAreaTop" fmla="*/ 0 h 6708960"/>
              <a:gd name="textAreaBottom" fmla="*/ 6709320 h 6708960"/>
            </a:gdLst>
            <a:ahLst/>
            <a:cxnLst/>
            <a:rect l="textAreaLeft" t="textAreaTop" r="textAreaRight" b="textAreaBottom"/>
            <a:pathLst>
              <a:path w="12871595" h="6709319">
                <a:moveTo>
                  <a:pt x="12871596" y="0"/>
                </a:moveTo>
                <a:lnTo>
                  <a:pt x="0" y="0"/>
                </a:lnTo>
                <a:lnTo>
                  <a:pt x="0" y="6709319"/>
                </a:lnTo>
                <a:lnTo>
                  <a:pt x="12871596" y="6709319"/>
                </a:lnTo>
                <a:lnTo>
                  <a:pt x="12871596"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12" name="Freeform 10"/>
          <p:cNvSpPr/>
          <p:nvPr/>
        </p:nvSpPr>
        <p:spPr>
          <a:xfrm>
            <a:off x="-1292760" y="0"/>
            <a:ext cx="6374880" cy="5864760"/>
          </a:xfrm>
          <a:custGeom>
            <a:avLst/>
            <a:gdLst>
              <a:gd name="textAreaLeft" fmla="*/ 0 w 6374880"/>
              <a:gd name="textAreaRight" fmla="*/ 6375240 w 6374880"/>
              <a:gd name="textAreaTop" fmla="*/ 0 h 5864760"/>
              <a:gd name="textAreaBottom" fmla="*/ 5865120 h 5864760"/>
            </a:gdLst>
            <a:ahLst/>
            <a:cxnLst/>
            <a:rect l="textAreaLeft" t="textAreaTop" r="textAreaRight" b="textAreaBottom"/>
            <a:pathLst>
              <a:path w="6375124" h="5865114">
                <a:moveTo>
                  <a:pt x="0" y="0"/>
                </a:moveTo>
                <a:lnTo>
                  <a:pt x="6375124" y="0"/>
                </a:lnTo>
                <a:lnTo>
                  <a:pt x="6375124" y="5865114"/>
                </a:lnTo>
                <a:lnTo>
                  <a:pt x="0" y="5865114"/>
                </a:lnTo>
                <a:lnTo>
                  <a:pt x="0" y="0"/>
                </a:lnTo>
                <a:close/>
              </a:path>
            </a:pathLst>
          </a:custGeom>
          <a:blipFill rotWithShape="0">
            <a:blip r:embed="rId4">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13" name="Freeform 17"/>
          <p:cNvSpPr/>
          <p:nvPr/>
        </p:nvSpPr>
        <p:spPr>
          <a:xfrm>
            <a:off x="1028880" y="7822800"/>
            <a:ext cx="430920" cy="430920"/>
          </a:xfrm>
          <a:custGeom>
            <a:avLst/>
            <a:gdLst>
              <a:gd name="textAreaLeft" fmla="*/ 0 w 430920"/>
              <a:gd name="textAreaRight" fmla="*/ 431280 w 430920"/>
              <a:gd name="textAreaTop" fmla="*/ 0 h 430920"/>
              <a:gd name="textAreaBottom" fmla="*/ 431280 h 430920"/>
            </a:gdLst>
            <a:ahLst/>
            <a:cxnLst/>
            <a:rect l="textAreaLeft" t="textAreaTop" r="textAreaRight" b="textAreaBottom"/>
            <a:pathLst>
              <a:path w="431200" h="431200">
                <a:moveTo>
                  <a:pt x="0" y="0"/>
                </a:moveTo>
                <a:lnTo>
                  <a:pt x="431200" y="0"/>
                </a:lnTo>
                <a:lnTo>
                  <a:pt x="431200" y="431200"/>
                </a:lnTo>
                <a:lnTo>
                  <a:pt x="0" y="431200"/>
                </a:lnTo>
                <a:lnTo>
                  <a:pt x="0" y="0"/>
                </a:lnTo>
                <a:close/>
              </a:path>
            </a:pathLst>
          </a:custGeom>
          <a:blipFill rotWithShape="0">
            <a:blip r:embed="rId6">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7"/>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14" name="Freeform 18"/>
          <p:cNvSpPr/>
          <p:nvPr/>
        </p:nvSpPr>
        <p:spPr>
          <a:xfrm>
            <a:off x="6572160" y="7870680"/>
            <a:ext cx="430920" cy="430920"/>
          </a:xfrm>
          <a:custGeom>
            <a:avLst/>
            <a:gdLst>
              <a:gd name="textAreaLeft" fmla="*/ 0 w 430920"/>
              <a:gd name="textAreaRight" fmla="*/ 431280 w 430920"/>
              <a:gd name="textAreaTop" fmla="*/ 0 h 430920"/>
              <a:gd name="textAreaBottom" fmla="*/ 431280 h 430920"/>
            </a:gdLst>
            <a:ahLst/>
            <a:cxnLst/>
            <a:rect l="textAreaLeft" t="textAreaTop" r="textAreaRight" b="textAreaBottom"/>
            <a:pathLst>
              <a:path w="431200" h="431200">
                <a:moveTo>
                  <a:pt x="0" y="0"/>
                </a:moveTo>
                <a:lnTo>
                  <a:pt x="431200" y="0"/>
                </a:lnTo>
                <a:lnTo>
                  <a:pt x="431200" y="431200"/>
                </a:lnTo>
                <a:lnTo>
                  <a:pt x="0" y="431200"/>
                </a:lnTo>
                <a:lnTo>
                  <a:pt x="0" y="0"/>
                </a:lnTo>
                <a:close/>
              </a:path>
            </a:pathLst>
          </a:custGeom>
          <a:blipFill rotWithShape="0">
            <a:blip r:embed="rId6">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8"/>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15" name="Freeform 19"/>
          <p:cNvSpPr/>
          <p:nvPr/>
        </p:nvSpPr>
        <p:spPr>
          <a:xfrm>
            <a:off x="12115440" y="7918200"/>
            <a:ext cx="430920" cy="430920"/>
          </a:xfrm>
          <a:custGeom>
            <a:avLst/>
            <a:gdLst>
              <a:gd name="textAreaLeft" fmla="*/ 0 w 430920"/>
              <a:gd name="textAreaRight" fmla="*/ 431280 w 430920"/>
              <a:gd name="textAreaTop" fmla="*/ 0 h 430920"/>
              <a:gd name="textAreaBottom" fmla="*/ 431280 h 430920"/>
            </a:gdLst>
            <a:ahLst/>
            <a:cxnLst/>
            <a:rect l="textAreaLeft" t="textAreaTop" r="textAreaRight" b="textAreaBottom"/>
            <a:pathLst>
              <a:path w="431200" h="431200">
                <a:moveTo>
                  <a:pt x="0" y="0"/>
                </a:moveTo>
                <a:lnTo>
                  <a:pt x="431200" y="0"/>
                </a:lnTo>
                <a:lnTo>
                  <a:pt x="431200" y="431200"/>
                </a:lnTo>
                <a:lnTo>
                  <a:pt x="0" y="431200"/>
                </a:lnTo>
                <a:lnTo>
                  <a:pt x="0" y="0"/>
                </a:lnTo>
                <a:close/>
              </a:path>
            </a:pathLst>
          </a:custGeom>
          <a:blipFill rotWithShape="0">
            <a:blip r:embed="rId6">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0"/>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16" name="TextBox 20"/>
          <p:cNvSpPr/>
          <p:nvPr/>
        </p:nvSpPr>
        <p:spPr>
          <a:xfrm>
            <a:off x="6626520" y="2810160"/>
            <a:ext cx="5159160" cy="450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549"/>
              </a:lnSpc>
              <a:tabLst>
                <a:tab pos="0" algn="l"/>
              </a:tabLst>
            </a:pPr>
            <a:r>
              <a:rPr lang="en-US" sz="2530" b="1" strike="noStrike" spc="-1">
                <a:solidFill>
                  <a:srgbClr val="000000"/>
                </a:solidFill>
                <a:latin typeface="Garet Bold"/>
                <a:ea typeface="Garet Bold"/>
              </a:rPr>
              <a:t>Notre équipe pluridisciplinaire</a:t>
            </a:r>
            <a:endParaRPr lang="fr-FR" sz="2530" b="0" strike="noStrike" spc="-1">
              <a:solidFill>
                <a:srgbClr val="000000"/>
              </a:solidFill>
              <a:latin typeface="Arial"/>
            </a:endParaRPr>
          </a:p>
        </p:txBody>
      </p:sp>
      <p:sp>
        <p:nvSpPr>
          <p:cNvPr id="317" name="TextBox 21"/>
          <p:cNvSpPr/>
          <p:nvPr/>
        </p:nvSpPr>
        <p:spPr>
          <a:xfrm>
            <a:off x="6626520" y="3485520"/>
            <a:ext cx="108712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Ce projet a été réalisé grâce à la collaboration d'une équipe d'étudiants motivés et l'encadrement de professionnels expérimentés de l'ENPSY pour l'année académique 2025-2026.</a:t>
            </a:r>
            <a:endParaRPr lang="fr-FR" sz="1850" b="0" strike="noStrike" spc="-1">
              <a:solidFill>
                <a:srgbClr val="000000"/>
              </a:solidFill>
              <a:latin typeface="Arial"/>
            </a:endParaRPr>
          </a:p>
        </p:txBody>
      </p:sp>
      <p:sp>
        <p:nvSpPr>
          <p:cNvPr id="318" name="TextBox 22"/>
          <p:cNvSpPr/>
          <p:nvPr/>
        </p:nvSpPr>
        <p:spPr>
          <a:xfrm>
            <a:off x="1032480" y="8359200"/>
            <a:ext cx="4586760" cy="146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FFFFFF"/>
                </a:solidFill>
                <a:latin typeface="Garet Light"/>
                <a:ea typeface="Garet Light"/>
              </a:rPr>
              <a:t>NJIKI TCHOUBIA MIGUEL (22p533) - Coordination générale, architecture technique et supervision du développement.</a:t>
            </a:r>
            <a:endParaRPr lang="fr-FR" sz="1850" b="0" strike="noStrike" spc="-1">
              <a:solidFill>
                <a:srgbClr val="000000"/>
              </a:solidFill>
              <a:latin typeface="Arial"/>
            </a:endParaRPr>
          </a:p>
        </p:txBody>
      </p:sp>
      <p:sp>
        <p:nvSpPr>
          <p:cNvPr id="319" name="TextBox 23"/>
          <p:cNvSpPr/>
          <p:nvPr/>
        </p:nvSpPr>
        <p:spPr>
          <a:xfrm>
            <a:off x="6572160" y="8359200"/>
            <a:ext cx="4586760" cy="1461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MBOUGANG IGOR-FRED, NGUEPI NGUEDIA ILAN, ENYEGUE BAVOUA FREDY, FEZE DJOUMESSI FRED, KUSONIKA.</a:t>
            </a:r>
            <a:endParaRPr lang="fr-FR" sz="1850" b="0" strike="noStrike" spc="-1">
              <a:solidFill>
                <a:srgbClr val="000000"/>
              </a:solidFill>
              <a:latin typeface="Arial"/>
            </a:endParaRPr>
          </a:p>
        </p:txBody>
      </p:sp>
      <p:sp>
        <p:nvSpPr>
          <p:cNvPr id="320" name="TextBox 24"/>
          <p:cNvSpPr/>
          <p:nvPr/>
        </p:nvSpPr>
        <p:spPr>
          <a:xfrm>
            <a:off x="1557720" y="7818120"/>
            <a:ext cx="3226320" cy="45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3572"/>
              </a:lnSpc>
              <a:tabLst>
                <a:tab pos="0" algn="l"/>
              </a:tabLst>
            </a:pPr>
            <a:r>
              <a:rPr lang="en-US" sz="2300" b="1" strike="noStrike" spc="-1">
                <a:solidFill>
                  <a:srgbClr val="FFFFFF"/>
                </a:solidFill>
                <a:latin typeface="Garet Bold"/>
                <a:ea typeface="Garet Bold"/>
              </a:rPr>
              <a:t>Chef de projet</a:t>
            </a:r>
            <a:endParaRPr lang="fr-FR" sz="2300" b="0" strike="noStrike" spc="-1">
              <a:solidFill>
                <a:srgbClr val="000000"/>
              </a:solidFill>
              <a:latin typeface="Arial"/>
            </a:endParaRPr>
          </a:p>
        </p:txBody>
      </p:sp>
      <p:sp>
        <p:nvSpPr>
          <p:cNvPr id="321" name="TextBox 25"/>
          <p:cNvSpPr/>
          <p:nvPr/>
        </p:nvSpPr>
        <p:spPr>
          <a:xfrm>
            <a:off x="7176600" y="7818120"/>
            <a:ext cx="3226320" cy="45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3572"/>
              </a:lnSpc>
              <a:tabLst>
                <a:tab pos="0" algn="l"/>
              </a:tabLst>
            </a:pPr>
            <a:r>
              <a:rPr lang="en-US" sz="2300" b="1" strike="noStrike" spc="-1">
                <a:solidFill>
                  <a:srgbClr val="000000"/>
                </a:solidFill>
                <a:latin typeface="Garet Bold"/>
                <a:ea typeface="Garet Bold"/>
              </a:rPr>
              <a:t>Membres de l'équipe</a:t>
            </a:r>
            <a:endParaRPr lang="fr-FR" sz="2300" b="0" strike="noStrike" spc="-1">
              <a:solidFill>
                <a:srgbClr val="000000"/>
              </a:solidFill>
              <a:latin typeface="Arial"/>
            </a:endParaRPr>
          </a:p>
        </p:txBody>
      </p:sp>
      <p:sp>
        <p:nvSpPr>
          <p:cNvPr id="322" name="TextBox 26"/>
          <p:cNvSpPr/>
          <p:nvPr/>
        </p:nvSpPr>
        <p:spPr>
          <a:xfrm>
            <a:off x="12115440" y="8359200"/>
            <a:ext cx="4586760" cy="1095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2877"/>
              </a:lnSpc>
              <a:tabLst>
                <a:tab pos="0" algn="l"/>
              </a:tabLst>
            </a:pPr>
            <a:r>
              <a:rPr lang="en-US" sz="1850" b="0" strike="noStrike" spc="-1">
                <a:solidFill>
                  <a:srgbClr val="000000"/>
                </a:solidFill>
                <a:latin typeface="Garet Light"/>
                <a:ea typeface="Garet Light"/>
              </a:rPr>
              <a:t>ING ALAIN MBO, ING Abel ZOGNING, ING Nassair FOUPAOUGNIGNI, PR BATCHAKUI.</a:t>
            </a:r>
            <a:endParaRPr lang="fr-FR" sz="1850" b="0" strike="noStrike" spc="-1">
              <a:solidFill>
                <a:srgbClr val="000000"/>
              </a:solidFill>
              <a:latin typeface="Arial"/>
            </a:endParaRPr>
          </a:p>
        </p:txBody>
      </p:sp>
      <p:sp>
        <p:nvSpPr>
          <p:cNvPr id="323" name="TextBox 27"/>
          <p:cNvSpPr/>
          <p:nvPr/>
        </p:nvSpPr>
        <p:spPr>
          <a:xfrm>
            <a:off x="12718080" y="7818120"/>
            <a:ext cx="3226320" cy="453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algn="just" defTabSz="914400">
              <a:lnSpc>
                <a:spcPts val="3572"/>
              </a:lnSpc>
              <a:tabLst>
                <a:tab pos="0" algn="l"/>
              </a:tabLst>
            </a:pPr>
            <a:r>
              <a:rPr lang="en-US" sz="2300" b="1" strike="noStrike" spc="-1">
                <a:solidFill>
                  <a:srgbClr val="000000"/>
                </a:solidFill>
                <a:latin typeface="Garet Bold"/>
                <a:ea typeface="Garet Bold"/>
              </a:rPr>
              <a:t>Encadreurs</a:t>
            </a:r>
            <a:endParaRPr lang="fr-FR" sz="2300" b="0" strike="noStrike" spc="-1">
              <a:solidFill>
                <a:srgbClr val="000000"/>
              </a:solidFill>
              <a:latin typeface="Arial"/>
            </a:endParaRPr>
          </a:p>
        </p:txBody>
      </p:sp>
      <p:pic>
        <p:nvPicPr>
          <p:cNvPr id="324" name="Image 323"/>
          <p:cNvPicPr/>
          <p:nvPr/>
        </p:nvPicPr>
        <p:blipFill>
          <a:blip r:embed="rId11"/>
          <a:stretch/>
        </p:blipFill>
        <p:spPr>
          <a:xfrm>
            <a:off x="6660000" y="4340553"/>
            <a:ext cx="4860000" cy="3399447"/>
          </a:xfrm>
          <a:prstGeom prst="rect">
            <a:avLst/>
          </a:prstGeom>
          <a:ln w="0">
            <a:noFill/>
          </a:ln>
        </p:spPr>
      </p:pic>
      <p:pic>
        <p:nvPicPr>
          <p:cNvPr id="325" name="Image 324"/>
          <p:cNvPicPr/>
          <p:nvPr/>
        </p:nvPicPr>
        <p:blipFill>
          <a:blip r:embed="rId12"/>
          <a:stretch/>
        </p:blipFill>
        <p:spPr>
          <a:xfrm>
            <a:off x="12060000" y="4254523"/>
            <a:ext cx="4320000" cy="3663643"/>
          </a:xfrm>
          <a:prstGeom prst="rect">
            <a:avLst/>
          </a:prstGeom>
          <a:ln w="0">
            <a:noFill/>
          </a:ln>
        </p:spPr>
      </p:pic>
      <p:pic>
        <p:nvPicPr>
          <p:cNvPr id="326" name="Image 325"/>
          <p:cNvPicPr/>
          <p:nvPr/>
        </p:nvPicPr>
        <p:blipFill>
          <a:blip r:embed="rId13"/>
          <a:stretch/>
        </p:blipFill>
        <p:spPr>
          <a:xfrm>
            <a:off x="1080000" y="4045907"/>
            <a:ext cx="4836960" cy="3706619"/>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11</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7" name="Ellipse 26"/>
          <p:cNvSpPr/>
          <p:nvPr/>
        </p:nvSpPr>
        <p:spPr>
          <a:xfrm>
            <a:off x="16871498" y="9383931"/>
            <a:ext cx="1252603" cy="5425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11/14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27" name="Group 2"/>
          <p:cNvGrpSpPr/>
          <p:nvPr/>
        </p:nvGrpSpPr>
        <p:grpSpPr>
          <a:xfrm>
            <a:off x="5217480" y="4891680"/>
            <a:ext cx="18363600" cy="11055960"/>
            <a:chOff x="5217480" y="4891680"/>
            <a:chExt cx="18363600" cy="11055960"/>
          </a:xfrm>
        </p:grpSpPr>
        <p:sp>
          <p:nvSpPr>
            <p:cNvPr id="328" name="Freeform 3"/>
            <p:cNvSpPr/>
            <p:nvPr/>
          </p:nvSpPr>
          <p:spPr>
            <a:xfrm>
              <a:off x="5217480" y="4891680"/>
              <a:ext cx="18363600" cy="11055960"/>
            </a:xfrm>
            <a:custGeom>
              <a:avLst/>
              <a:gdLst>
                <a:gd name="textAreaLeft" fmla="*/ 0 w 18363600"/>
                <a:gd name="textAreaRight" fmla="*/ 18363960 w 18363600"/>
                <a:gd name="textAreaTop" fmla="*/ 0 h 11055960"/>
                <a:gd name="textAreaBottom" fmla="*/ 11056320 h 11055960"/>
              </a:gdLst>
              <a:ahLst/>
              <a:cxnLst/>
              <a:rect l="textAreaLeft" t="textAreaTop" r="textAreaRight" b="textAreaBottom"/>
              <a:pathLst>
                <a:path w="812800" h="489349">
                  <a:moveTo>
                    <a:pt x="406400" y="0"/>
                  </a:moveTo>
                  <a:lnTo>
                    <a:pt x="812800" y="244675"/>
                  </a:lnTo>
                  <a:lnTo>
                    <a:pt x="406400" y="489349"/>
                  </a:lnTo>
                  <a:lnTo>
                    <a:pt x="0" y="244675"/>
                  </a:lnTo>
                  <a:lnTo>
                    <a:pt x="406400" y="0"/>
                  </a:lnTo>
                  <a:close/>
                </a:path>
              </a:pathLst>
            </a:custGeom>
            <a:blipFill rotWithShape="0">
              <a:blip r:embed="rId2">
                <a:alphaModFix amt="48000"/>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grpSp>
        <p:nvGrpSpPr>
          <p:cNvPr id="329" name="Group 6"/>
          <p:cNvGrpSpPr/>
          <p:nvPr/>
        </p:nvGrpSpPr>
        <p:grpSpPr>
          <a:xfrm>
            <a:off x="5706000" y="-2152800"/>
            <a:ext cx="6151320" cy="3657240"/>
            <a:chOff x="5706000" y="-2152800"/>
            <a:chExt cx="6151320" cy="3657240"/>
          </a:xfrm>
        </p:grpSpPr>
        <p:sp>
          <p:nvSpPr>
            <p:cNvPr id="330" name="Freeform 7"/>
            <p:cNvSpPr/>
            <p:nvPr/>
          </p:nvSpPr>
          <p:spPr>
            <a:xfrm>
              <a:off x="5706000" y="-2152800"/>
              <a:ext cx="6151320" cy="3657240"/>
            </a:xfrm>
            <a:custGeom>
              <a:avLst/>
              <a:gdLst>
                <a:gd name="textAreaLeft" fmla="*/ 0 w 6151320"/>
                <a:gd name="textAreaRight" fmla="*/ 6151680 w 6151320"/>
                <a:gd name="textAreaTop" fmla="*/ 0 h 3657240"/>
                <a:gd name="textAreaBottom" fmla="*/ 3657600 h 3657240"/>
              </a:gdLst>
              <a:ahLst/>
              <a:cxnLst/>
              <a:rect l="textAreaLeft" t="textAreaTop" r="textAreaRight" b="textAreaBottom"/>
              <a:pathLst>
                <a:path w="812800" h="483281">
                  <a:moveTo>
                    <a:pt x="406400" y="0"/>
                  </a:moveTo>
                  <a:lnTo>
                    <a:pt x="812800" y="241641"/>
                  </a:lnTo>
                  <a:lnTo>
                    <a:pt x="406400" y="483281"/>
                  </a:lnTo>
                  <a:lnTo>
                    <a:pt x="0" y="241641"/>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31" name="TextBox 8"/>
            <p:cNvSpPr/>
            <p:nvPr/>
          </p:nvSpPr>
          <p:spPr>
            <a:xfrm>
              <a:off x="6763320" y="-1812600"/>
              <a:ext cx="4036680" cy="26884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32" name="Group 9"/>
          <p:cNvGrpSpPr/>
          <p:nvPr/>
        </p:nvGrpSpPr>
        <p:grpSpPr>
          <a:xfrm>
            <a:off x="14379120" y="2220480"/>
            <a:ext cx="8480880" cy="5159520"/>
            <a:chOff x="14379120" y="2220480"/>
            <a:chExt cx="8480880" cy="5159520"/>
          </a:xfrm>
        </p:grpSpPr>
        <p:sp>
          <p:nvSpPr>
            <p:cNvPr id="333" name="Freeform 10"/>
            <p:cNvSpPr/>
            <p:nvPr/>
          </p:nvSpPr>
          <p:spPr>
            <a:xfrm>
              <a:off x="14379120" y="2220480"/>
              <a:ext cx="8480880" cy="5159520"/>
            </a:xfrm>
            <a:custGeom>
              <a:avLst/>
              <a:gdLst>
                <a:gd name="textAreaLeft" fmla="*/ 0 w 8480880"/>
                <a:gd name="textAreaRight" fmla="*/ 8481240 w 8480880"/>
                <a:gd name="textAreaTop" fmla="*/ 0 h 5159520"/>
                <a:gd name="textAreaBottom" fmla="*/ 5159880 h 5159520"/>
              </a:gdLst>
              <a:ahLst/>
              <a:cxnLst/>
              <a:rect l="textAreaLeft" t="textAreaTop" r="textAreaRight" b="textAreaBottom"/>
              <a:pathLst>
                <a:path w="812800" h="494501">
                  <a:moveTo>
                    <a:pt x="406400" y="0"/>
                  </a:moveTo>
                  <a:lnTo>
                    <a:pt x="812800" y="247250"/>
                  </a:lnTo>
                  <a:lnTo>
                    <a:pt x="406400" y="494501"/>
                  </a:lnTo>
                  <a:lnTo>
                    <a:pt x="0" y="247250"/>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34" name="TextBox 11"/>
            <p:cNvSpPr/>
            <p:nvPr/>
          </p:nvSpPr>
          <p:spPr>
            <a:xfrm>
              <a:off x="15836760" y="2709720"/>
              <a:ext cx="5565240" cy="37832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335" name="Freeform 12"/>
          <p:cNvSpPr/>
          <p:nvPr/>
        </p:nvSpPr>
        <p:spPr>
          <a:xfrm flipH="1">
            <a:off x="-1670040" y="5945400"/>
            <a:ext cx="9237960" cy="4815000"/>
          </a:xfrm>
          <a:custGeom>
            <a:avLst/>
            <a:gdLst>
              <a:gd name="textAreaLeft" fmla="*/ -360 w 9237960"/>
              <a:gd name="textAreaRight" fmla="*/ 9237960 w 9237960"/>
              <a:gd name="textAreaTop" fmla="*/ 0 h 4815000"/>
              <a:gd name="textAreaBottom" fmla="*/ 4815360 h 4815000"/>
            </a:gdLst>
            <a:ahLst/>
            <a:cxnLst/>
            <a:rect l="textAreaLeft" t="textAreaTop" r="textAreaRight" b="textAreaBottom"/>
            <a:pathLst>
              <a:path w="9238411" h="4815521">
                <a:moveTo>
                  <a:pt x="9238411" y="0"/>
                </a:moveTo>
                <a:lnTo>
                  <a:pt x="0" y="0"/>
                </a:lnTo>
                <a:lnTo>
                  <a:pt x="0" y="4815521"/>
                </a:lnTo>
                <a:lnTo>
                  <a:pt x="9238411" y="4815521"/>
                </a:lnTo>
                <a:lnTo>
                  <a:pt x="9238411" y="0"/>
                </a:lnTo>
                <a:close/>
              </a:path>
            </a:pathLst>
          </a:custGeom>
          <a:blipFill rotWithShape="0">
            <a:blip r:embed="rId3">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4"/>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336" name="Group 13"/>
          <p:cNvGrpSpPr/>
          <p:nvPr/>
        </p:nvGrpSpPr>
        <p:grpSpPr>
          <a:xfrm>
            <a:off x="-1455480" y="1919880"/>
            <a:ext cx="10408320" cy="906120"/>
            <a:chOff x="-1455480" y="1919880"/>
            <a:chExt cx="10408320" cy="906120"/>
          </a:xfrm>
        </p:grpSpPr>
        <p:sp>
          <p:nvSpPr>
            <p:cNvPr id="337" name="Freeform 14"/>
            <p:cNvSpPr/>
            <p:nvPr/>
          </p:nvSpPr>
          <p:spPr>
            <a:xfrm>
              <a:off x="-1455480" y="2143080"/>
              <a:ext cx="10408320" cy="682920"/>
            </a:xfrm>
            <a:custGeom>
              <a:avLst/>
              <a:gdLst>
                <a:gd name="textAreaLeft" fmla="*/ 0 w 10408320"/>
                <a:gd name="textAreaRight" fmla="*/ 10408680 w 10408320"/>
                <a:gd name="textAreaTop" fmla="*/ 0 h 682920"/>
                <a:gd name="textAreaBottom" fmla="*/ 683280 h 682920"/>
              </a:gdLst>
              <a:ahLst/>
              <a:cxnLst/>
              <a:rect l="textAreaLeft" t="textAreaTop" r="textAreaRight" b="textAreaBottom"/>
              <a:pathLst>
                <a:path w="1775075" h="116505">
                  <a:moveTo>
                    <a:pt x="1571875" y="0"/>
                  </a:moveTo>
                  <a:lnTo>
                    <a:pt x="0" y="0"/>
                  </a:lnTo>
                  <a:lnTo>
                    <a:pt x="203200" y="116505"/>
                  </a:lnTo>
                  <a:lnTo>
                    <a:pt x="1775075" y="116505"/>
                  </a:lnTo>
                  <a:lnTo>
                    <a:pt x="1571875"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38" name="TextBox 15"/>
            <p:cNvSpPr/>
            <p:nvPr/>
          </p:nvSpPr>
          <p:spPr>
            <a:xfrm>
              <a:off x="-859680" y="1919880"/>
              <a:ext cx="9216720" cy="9061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339" name="AutoShape 16"/>
          <p:cNvSpPr/>
          <p:nvPr/>
        </p:nvSpPr>
        <p:spPr>
          <a:xfrm>
            <a:off x="790560" y="6637680"/>
            <a:ext cx="3358080" cy="360"/>
          </a:xfrm>
          <a:prstGeom prst="line">
            <a:avLst/>
          </a:prstGeom>
          <a:ln w="4762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340" name="AutoShape 17"/>
          <p:cNvSpPr/>
          <p:nvPr/>
        </p:nvSpPr>
        <p:spPr>
          <a:xfrm>
            <a:off x="5217120" y="6637680"/>
            <a:ext cx="3358080" cy="360"/>
          </a:xfrm>
          <a:prstGeom prst="line">
            <a:avLst/>
          </a:prstGeom>
          <a:ln w="47625">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341" name="TextBox 18"/>
          <p:cNvSpPr/>
          <p:nvPr/>
        </p:nvSpPr>
        <p:spPr>
          <a:xfrm>
            <a:off x="790560" y="1069560"/>
            <a:ext cx="6715800" cy="64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5074"/>
              </a:lnSpc>
              <a:tabLst>
                <a:tab pos="0" algn="l"/>
              </a:tabLst>
            </a:pPr>
            <a:r>
              <a:rPr lang="en-US" sz="4920" b="1" strike="noStrike" spc="-1">
                <a:solidFill>
                  <a:srgbClr val="1679A9"/>
                </a:solidFill>
                <a:latin typeface="Garet Bold"/>
                <a:ea typeface="Garet Bold"/>
              </a:rPr>
              <a:t>ANNÉE ACADÉMIQUE</a:t>
            </a:r>
            <a:endParaRPr lang="fr-FR" sz="4920" b="0" strike="noStrike" spc="-1">
              <a:solidFill>
                <a:srgbClr val="000000"/>
              </a:solidFill>
              <a:latin typeface="Arial"/>
            </a:endParaRPr>
          </a:p>
        </p:txBody>
      </p:sp>
      <p:sp>
        <p:nvSpPr>
          <p:cNvPr id="342" name="TextBox 19"/>
          <p:cNvSpPr/>
          <p:nvPr/>
        </p:nvSpPr>
        <p:spPr>
          <a:xfrm>
            <a:off x="843480" y="2948040"/>
            <a:ext cx="7765920" cy="24123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166"/>
              </a:lnSpc>
              <a:tabLst>
                <a:tab pos="0" algn="l"/>
              </a:tabLst>
            </a:pPr>
            <a:r>
              <a:rPr lang="en-US" sz="2040" b="0" strike="noStrike" spc="-1">
                <a:solidFill>
                  <a:srgbClr val="000000"/>
                </a:solidFill>
                <a:latin typeface="Garet Light"/>
                <a:ea typeface="Garet Light"/>
              </a:rPr>
              <a:t>Ce projet de géolocalisation des Églises Évangéliques du Cameroun s'inscrit dans le cadre de la formation académique ENPSY. Il représente l'aboutissement d'une année de travail collaboratif, combinant les compétences acquises en développement web, systèmes d'information géographique et gestion de projet.</a:t>
            </a:r>
            <a:endParaRPr lang="fr-FR" sz="2040" b="0" strike="noStrike" spc="-1">
              <a:solidFill>
                <a:srgbClr val="000000"/>
              </a:solidFill>
              <a:latin typeface="Arial"/>
            </a:endParaRPr>
          </a:p>
        </p:txBody>
      </p:sp>
      <p:sp>
        <p:nvSpPr>
          <p:cNvPr id="343" name="TextBox 20"/>
          <p:cNvSpPr/>
          <p:nvPr/>
        </p:nvSpPr>
        <p:spPr>
          <a:xfrm>
            <a:off x="790560" y="6899400"/>
            <a:ext cx="4227840" cy="16081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166"/>
              </a:lnSpc>
              <a:tabLst>
                <a:tab pos="0" algn="l"/>
              </a:tabLst>
            </a:pPr>
            <a:r>
              <a:rPr lang="en-US" sz="2040" b="0" strike="noStrike" spc="-1">
                <a:solidFill>
                  <a:srgbClr val="000000"/>
                </a:solidFill>
                <a:latin typeface="Garet Light"/>
                <a:ea typeface="Garet Light"/>
              </a:rPr>
              <a:t>L'année 2025-2026 marque une étape importante dans la digitalisation des données ecclésiastiques au Cameroun.</a:t>
            </a:r>
            <a:endParaRPr lang="fr-FR" sz="2040" b="0" strike="noStrike" spc="-1">
              <a:solidFill>
                <a:srgbClr val="000000"/>
              </a:solidFill>
              <a:latin typeface="Arial"/>
            </a:endParaRPr>
          </a:p>
        </p:txBody>
      </p:sp>
      <p:sp>
        <p:nvSpPr>
          <p:cNvPr id="344" name="TextBox 21"/>
          <p:cNvSpPr/>
          <p:nvPr/>
        </p:nvSpPr>
        <p:spPr>
          <a:xfrm>
            <a:off x="5247720" y="6899400"/>
            <a:ext cx="4147200" cy="1608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166"/>
              </a:lnSpc>
              <a:tabLst>
                <a:tab pos="0" algn="l"/>
              </a:tabLst>
            </a:pPr>
            <a:r>
              <a:rPr lang="en-US" sz="2040" b="0" strike="noStrike" spc="-1">
                <a:solidFill>
                  <a:srgbClr val="000000"/>
                </a:solidFill>
                <a:latin typeface="Garet Light"/>
                <a:ea typeface="Garet Light"/>
              </a:rPr>
              <a:t>Ce projet contribue à la modernisation des outils de gestion de l'EEC et à la formation pratique des étudiants.</a:t>
            </a:r>
            <a:endParaRPr lang="fr-FR" sz="2040" b="0" strike="noStrike" spc="-1">
              <a:solidFill>
                <a:srgbClr val="000000"/>
              </a:solidFill>
              <a:latin typeface="Arial"/>
            </a:endParaRPr>
          </a:p>
        </p:txBody>
      </p:sp>
      <p:sp>
        <p:nvSpPr>
          <p:cNvPr id="345" name="TextBox 22"/>
          <p:cNvSpPr/>
          <p:nvPr/>
        </p:nvSpPr>
        <p:spPr>
          <a:xfrm>
            <a:off x="843480" y="2256120"/>
            <a:ext cx="7765920" cy="419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05"/>
              </a:lnSpc>
              <a:tabLst>
                <a:tab pos="0" algn="l"/>
              </a:tabLst>
            </a:pPr>
            <a:r>
              <a:rPr lang="en-US" sz="2130" b="1" strike="noStrike" spc="-1">
                <a:solidFill>
                  <a:srgbClr val="FFFFFF"/>
                </a:solidFill>
                <a:latin typeface="Garet Bold"/>
                <a:ea typeface="Garet Bold"/>
              </a:rPr>
              <a:t>Contexte temporel du projet académique ENPSY.</a:t>
            </a:r>
            <a:endParaRPr lang="fr-FR" sz="2130" b="0" strike="noStrike" spc="-1">
              <a:solidFill>
                <a:srgbClr val="000000"/>
              </a:solidFill>
              <a:latin typeface="Arial"/>
            </a:endParaRPr>
          </a:p>
        </p:txBody>
      </p:sp>
      <p:sp>
        <p:nvSpPr>
          <p:cNvPr id="346" name="TextBox 23"/>
          <p:cNvSpPr/>
          <p:nvPr/>
        </p:nvSpPr>
        <p:spPr>
          <a:xfrm>
            <a:off x="843480" y="5712120"/>
            <a:ext cx="3934080" cy="378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985"/>
              </a:lnSpc>
              <a:tabLst>
                <a:tab pos="0" algn="l"/>
              </a:tabLst>
            </a:pPr>
            <a:r>
              <a:rPr lang="en-US" sz="2130" b="1" strike="noStrike" spc="-1">
                <a:solidFill>
                  <a:srgbClr val="1679A9"/>
                </a:solidFill>
                <a:latin typeface="Garet Bold"/>
                <a:ea typeface="Garet Bold"/>
              </a:rPr>
              <a:t>Promotion 2025-2026</a:t>
            </a:r>
            <a:endParaRPr lang="fr-FR" sz="2130" b="0" strike="noStrike" spc="-1">
              <a:solidFill>
                <a:srgbClr val="000000"/>
              </a:solidFill>
              <a:latin typeface="Arial"/>
            </a:endParaRPr>
          </a:p>
        </p:txBody>
      </p:sp>
      <p:sp>
        <p:nvSpPr>
          <p:cNvPr id="347" name="TextBox 24"/>
          <p:cNvSpPr/>
          <p:nvPr/>
        </p:nvSpPr>
        <p:spPr>
          <a:xfrm>
            <a:off x="5270400" y="5712120"/>
            <a:ext cx="4124880" cy="379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985"/>
              </a:lnSpc>
              <a:tabLst>
                <a:tab pos="0" algn="l"/>
              </a:tabLst>
            </a:pPr>
            <a:r>
              <a:rPr lang="en-US" sz="2130" b="1" strike="noStrike" spc="-1">
                <a:solidFill>
                  <a:srgbClr val="1679A9"/>
                </a:solidFill>
                <a:latin typeface="Garet Bold"/>
                <a:ea typeface="Garet Bold"/>
              </a:rPr>
              <a:t>Formation ENPSY - Cameroun</a:t>
            </a:r>
            <a:endParaRPr lang="fr-FR" sz="2130" b="0" strike="noStrike" spc="-1">
              <a:solidFill>
                <a:srgbClr val="000000"/>
              </a:solidFill>
              <a:latin typeface="Arial"/>
            </a:endParaRPr>
          </a:p>
        </p:txBody>
      </p:sp>
      <p:pic>
        <p:nvPicPr>
          <p:cNvPr id="348" name="Image 347"/>
          <p:cNvPicPr/>
          <p:nvPr/>
        </p:nvPicPr>
        <p:blipFill>
          <a:blip r:embed="rId5"/>
          <a:stretch/>
        </p:blipFill>
        <p:spPr>
          <a:xfrm>
            <a:off x="9000000" y="-87840"/>
            <a:ext cx="9767880" cy="5127840"/>
          </a:xfrm>
          <a:prstGeom prst="rect">
            <a:avLst/>
          </a:prstGeom>
          <a:ln w="0">
            <a:noFill/>
          </a:ln>
        </p:spPr>
      </p:pic>
      <p:sp>
        <p:nvSpPr>
          <p:cNvPr id="349" name="Organigramme : Décision 348"/>
          <p:cNvSpPr/>
          <p:nvPr/>
        </p:nvSpPr>
        <p:spPr>
          <a:xfrm>
            <a:off x="5706000" y="-2152800"/>
            <a:ext cx="6151320" cy="3657240"/>
          </a:xfrm>
          <a:prstGeom prst="flowChartDecision">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strike="noStrike" spc="-1">
              <a:solidFill>
                <a:srgbClr val="000000"/>
              </a:solidFill>
              <a:latin typeface="Arial"/>
            </a:endParaRPr>
          </a:p>
        </p:txBody>
      </p:sp>
      <p:sp>
        <p:nvSpPr>
          <p:cNvPr id="350" name="Organigramme : Décision 349"/>
          <p:cNvSpPr/>
          <p:nvPr/>
        </p:nvSpPr>
        <p:spPr>
          <a:xfrm>
            <a:off x="14041080" y="2340000"/>
            <a:ext cx="9540000" cy="5220000"/>
          </a:xfrm>
          <a:prstGeom prst="flowChartDecision">
            <a:avLst/>
          </a:prstGeom>
          <a:solidFill>
            <a:srgbClr val="729FCF"/>
          </a:solidFill>
          <a:ln w="0">
            <a:solidFill>
              <a:srgbClr val="3465A4"/>
            </a:solidFill>
          </a:ln>
        </p:spPr>
        <p:style>
          <a:lnRef idx="0">
            <a:scrgbClr r="0" g="0" b="0"/>
          </a:lnRef>
          <a:fillRef idx="0">
            <a:scrgbClr r="0" g="0" b="0"/>
          </a:fillRef>
          <a:effectRef idx="0">
            <a:scrgbClr r="0" g="0" b="0"/>
          </a:effectRef>
          <a:fontRef idx="minor"/>
        </p:style>
        <p:txBody>
          <a:bodyPr lIns="90000" tIns="45000" rIns="90000" bIns="45000" anchor="ctr">
            <a:noAutofit/>
          </a:bodyPr>
          <a:lstStyle/>
          <a:p>
            <a:endParaRPr lang="fr-FR" sz="1800" b="0" strike="noStrike" spc="-1">
              <a:solidFill>
                <a:srgbClr val="000000"/>
              </a:solidFill>
              <a:latin typeface="Arial"/>
            </a:endParaRPr>
          </a:p>
        </p:txBody>
      </p:sp>
      <p:sp>
        <p:nvSpPr>
          <p:cNvPr id="2" name="Espace réservé du numéro de diapositive 1"/>
          <p:cNvSpPr>
            <a:spLocks noGrp="1"/>
          </p:cNvSpPr>
          <p:nvPr>
            <p:ph type="sldNum" idx="27"/>
          </p:nvPr>
        </p:nvSpPr>
        <p:spPr/>
        <p:txBody>
          <a:bodyPr/>
          <a:lstStyle/>
          <a:p>
            <a:fld id="{9E85BCC3-BCA3-4EBB-84DF-5638ED71F27A}" type="slidenum">
              <a:rPr lang="fr-FR" smtClean="0"/>
              <a:t>12</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8" name="Ellipse 27"/>
          <p:cNvSpPr/>
          <p:nvPr/>
        </p:nvSpPr>
        <p:spPr>
          <a:xfrm>
            <a:off x="17035397" y="9741960"/>
            <a:ext cx="1252603" cy="5425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12/14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1" name="Freeform 2"/>
          <p:cNvSpPr/>
          <p:nvPr/>
        </p:nvSpPr>
        <p:spPr>
          <a:xfrm flipH="1">
            <a:off x="-1732320" y="5945040"/>
            <a:ext cx="9237960" cy="4815000"/>
          </a:xfrm>
          <a:custGeom>
            <a:avLst/>
            <a:gdLst>
              <a:gd name="textAreaLeft" fmla="*/ -360 w 9237960"/>
              <a:gd name="textAreaRight" fmla="*/ 9237960 w 9237960"/>
              <a:gd name="textAreaTop" fmla="*/ 0 h 4815000"/>
              <a:gd name="textAreaBottom" fmla="*/ 4815360 h 4815000"/>
            </a:gdLst>
            <a:ahLst/>
            <a:cxnLst/>
            <a:rect l="textAreaLeft" t="textAreaTop" r="textAreaRight" b="textAreaBottom"/>
            <a:pathLst>
              <a:path w="9238411" h="4815521">
                <a:moveTo>
                  <a:pt x="9238411" y="0"/>
                </a:moveTo>
                <a:lnTo>
                  <a:pt x="0" y="0"/>
                </a:lnTo>
                <a:lnTo>
                  <a:pt x="0" y="4815522"/>
                </a:lnTo>
                <a:lnTo>
                  <a:pt x="9238411" y="4815522"/>
                </a:lnTo>
                <a:lnTo>
                  <a:pt x="9238411" y="0"/>
                </a:lnTo>
                <a:close/>
              </a:path>
            </a:pathLst>
          </a:custGeom>
          <a:blipFill rotWithShape="0">
            <a:blip r:embed="rId2">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3"/>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352" name="Group 7"/>
          <p:cNvGrpSpPr/>
          <p:nvPr/>
        </p:nvGrpSpPr>
        <p:grpSpPr>
          <a:xfrm>
            <a:off x="5760000" y="-1391400"/>
            <a:ext cx="6151320" cy="3657240"/>
            <a:chOff x="5760000" y="-1391400"/>
            <a:chExt cx="6151320" cy="3657240"/>
          </a:xfrm>
        </p:grpSpPr>
        <p:sp>
          <p:nvSpPr>
            <p:cNvPr id="353" name="Freeform 8"/>
            <p:cNvSpPr/>
            <p:nvPr/>
          </p:nvSpPr>
          <p:spPr>
            <a:xfrm>
              <a:off x="5760000" y="-1391400"/>
              <a:ext cx="6151320" cy="3657240"/>
            </a:xfrm>
            <a:custGeom>
              <a:avLst/>
              <a:gdLst>
                <a:gd name="textAreaLeft" fmla="*/ 0 w 6151320"/>
                <a:gd name="textAreaRight" fmla="*/ 6151680 w 6151320"/>
                <a:gd name="textAreaTop" fmla="*/ 0 h 3657240"/>
                <a:gd name="textAreaBottom" fmla="*/ 3657600 h 3657240"/>
              </a:gdLst>
              <a:ahLst/>
              <a:cxnLst/>
              <a:rect l="textAreaLeft" t="textAreaTop" r="textAreaRight" b="textAreaBottom"/>
              <a:pathLst>
                <a:path w="812800" h="483281">
                  <a:moveTo>
                    <a:pt x="406400" y="0"/>
                  </a:moveTo>
                  <a:lnTo>
                    <a:pt x="812800" y="241641"/>
                  </a:lnTo>
                  <a:lnTo>
                    <a:pt x="406400" y="483281"/>
                  </a:lnTo>
                  <a:lnTo>
                    <a:pt x="0" y="241641"/>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54" name="TextBox 9"/>
            <p:cNvSpPr/>
            <p:nvPr/>
          </p:nvSpPr>
          <p:spPr>
            <a:xfrm>
              <a:off x="6817320" y="-1050840"/>
              <a:ext cx="4036680" cy="26884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55" name="Group 10"/>
          <p:cNvGrpSpPr/>
          <p:nvPr/>
        </p:nvGrpSpPr>
        <p:grpSpPr>
          <a:xfrm>
            <a:off x="14040000" y="3600000"/>
            <a:ext cx="8480880" cy="5159520"/>
            <a:chOff x="14040000" y="3600000"/>
            <a:chExt cx="8480880" cy="5159520"/>
          </a:xfrm>
        </p:grpSpPr>
        <p:sp>
          <p:nvSpPr>
            <p:cNvPr id="356" name="Freeform 11"/>
            <p:cNvSpPr/>
            <p:nvPr/>
          </p:nvSpPr>
          <p:spPr>
            <a:xfrm>
              <a:off x="14040000" y="3600000"/>
              <a:ext cx="8480880" cy="5159520"/>
            </a:xfrm>
            <a:custGeom>
              <a:avLst/>
              <a:gdLst>
                <a:gd name="textAreaLeft" fmla="*/ 0 w 8480880"/>
                <a:gd name="textAreaRight" fmla="*/ 8481240 w 8480880"/>
                <a:gd name="textAreaTop" fmla="*/ 0 h 5159520"/>
                <a:gd name="textAreaBottom" fmla="*/ 5159880 h 5159520"/>
              </a:gdLst>
              <a:ahLst/>
              <a:cxnLst/>
              <a:rect l="textAreaLeft" t="textAreaTop" r="textAreaRight" b="textAreaBottom"/>
              <a:pathLst>
                <a:path w="812800" h="494501">
                  <a:moveTo>
                    <a:pt x="406400" y="0"/>
                  </a:moveTo>
                  <a:lnTo>
                    <a:pt x="812800" y="247250"/>
                  </a:lnTo>
                  <a:lnTo>
                    <a:pt x="406400" y="494501"/>
                  </a:lnTo>
                  <a:lnTo>
                    <a:pt x="0" y="247250"/>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57" name="TextBox 12"/>
            <p:cNvSpPr/>
            <p:nvPr/>
          </p:nvSpPr>
          <p:spPr>
            <a:xfrm>
              <a:off x="15497640" y="4089240"/>
              <a:ext cx="5565240" cy="37832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58" name="Group 13"/>
          <p:cNvGrpSpPr/>
          <p:nvPr/>
        </p:nvGrpSpPr>
        <p:grpSpPr>
          <a:xfrm>
            <a:off x="-1455480" y="1919880"/>
            <a:ext cx="8962200" cy="906120"/>
            <a:chOff x="-1455480" y="1919880"/>
            <a:chExt cx="8962200" cy="906120"/>
          </a:xfrm>
        </p:grpSpPr>
        <p:sp>
          <p:nvSpPr>
            <p:cNvPr id="359" name="Freeform 14"/>
            <p:cNvSpPr/>
            <p:nvPr/>
          </p:nvSpPr>
          <p:spPr>
            <a:xfrm>
              <a:off x="-1455480" y="2143080"/>
              <a:ext cx="8962200" cy="682920"/>
            </a:xfrm>
            <a:custGeom>
              <a:avLst/>
              <a:gdLst>
                <a:gd name="textAreaLeft" fmla="*/ 0 w 8962200"/>
                <a:gd name="textAreaRight" fmla="*/ 8962560 w 8962200"/>
                <a:gd name="textAreaTop" fmla="*/ 0 h 682920"/>
                <a:gd name="textAreaBottom" fmla="*/ 683280 h 682920"/>
              </a:gdLst>
              <a:ahLst/>
              <a:cxnLst/>
              <a:rect l="textAreaLeft" t="textAreaTop" r="textAreaRight" b="textAreaBottom"/>
              <a:pathLst>
                <a:path w="1528419" h="116505">
                  <a:moveTo>
                    <a:pt x="1325219" y="0"/>
                  </a:moveTo>
                  <a:lnTo>
                    <a:pt x="0" y="0"/>
                  </a:lnTo>
                  <a:lnTo>
                    <a:pt x="203200" y="116505"/>
                  </a:lnTo>
                  <a:lnTo>
                    <a:pt x="1528419" y="116505"/>
                  </a:lnTo>
                  <a:lnTo>
                    <a:pt x="1325219"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60" name="TextBox 15"/>
            <p:cNvSpPr/>
            <p:nvPr/>
          </p:nvSpPr>
          <p:spPr>
            <a:xfrm>
              <a:off x="-859680" y="1919880"/>
              <a:ext cx="7770600" cy="90612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361" name="AutoShape 16"/>
          <p:cNvSpPr/>
          <p:nvPr/>
        </p:nvSpPr>
        <p:spPr>
          <a:xfrm>
            <a:off x="5114880" y="5252040"/>
            <a:ext cx="360" cy="953640"/>
          </a:xfrm>
          <a:prstGeom prst="line">
            <a:avLst/>
          </a:prstGeom>
          <a:ln w="57150">
            <a:solidFill>
              <a:srgbClr val="1679A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fr-FR" sz="1800" b="0" strike="noStrike" spc="-1">
              <a:solidFill>
                <a:srgbClr val="000000"/>
              </a:solidFill>
              <a:latin typeface="Arial"/>
            </a:endParaRPr>
          </a:p>
        </p:txBody>
      </p:sp>
      <p:sp>
        <p:nvSpPr>
          <p:cNvPr id="362" name="AutoShape 17"/>
          <p:cNvSpPr/>
          <p:nvPr/>
        </p:nvSpPr>
        <p:spPr>
          <a:xfrm>
            <a:off x="5114880" y="6789960"/>
            <a:ext cx="360" cy="954000"/>
          </a:xfrm>
          <a:prstGeom prst="line">
            <a:avLst/>
          </a:prstGeom>
          <a:ln w="57150">
            <a:solidFill>
              <a:srgbClr val="1679A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fr-FR" sz="1800" b="0" strike="noStrike" spc="-1">
              <a:solidFill>
                <a:srgbClr val="000000"/>
              </a:solidFill>
              <a:latin typeface="Arial"/>
            </a:endParaRPr>
          </a:p>
        </p:txBody>
      </p:sp>
      <p:sp>
        <p:nvSpPr>
          <p:cNvPr id="363" name="AutoShape 18"/>
          <p:cNvSpPr/>
          <p:nvPr/>
        </p:nvSpPr>
        <p:spPr>
          <a:xfrm>
            <a:off x="5114880" y="8271000"/>
            <a:ext cx="360" cy="953640"/>
          </a:xfrm>
          <a:prstGeom prst="line">
            <a:avLst/>
          </a:prstGeom>
          <a:ln w="57150">
            <a:solidFill>
              <a:srgbClr val="1679A9"/>
            </a:solidFill>
            <a:round/>
          </a:ln>
        </p:spPr>
        <p:style>
          <a:lnRef idx="0">
            <a:scrgbClr r="0" g="0" b="0"/>
          </a:lnRef>
          <a:fillRef idx="0">
            <a:scrgbClr r="0" g="0" b="0"/>
          </a:fillRef>
          <a:effectRef idx="0">
            <a:scrgbClr r="0" g="0" b="0"/>
          </a:effectRef>
          <a:fontRef idx="minor"/>
        </p:style>
        <p:txBody>
          <a:bodyPr lIns="90000" tIns="45000" rIns="90000" bIns="45000" anchor="t" anchorCtr="1">
            <a:noAutofit/>
          </a:bodyPr>
          <a:lstStyle/>
          <a:p>
            <a:endParaRPr lang="fr-FR" sz="1800" b="0" strike="noStrike" spc="-1">
              <a:solidFill>
                <a:srgbClr val="000000"/>
              </a:solidFill>
              <a:latin typeface="Arial"/>
            </a:endParaRPr>
          </a:p>
        </p:txBody>
      </p:sp>
      <p:sp>
        <p:nvSpPr>
          <p:cNvPr id="364" name="TextBox 19"/>
          <p:cNvSpPr/>
          <p:nvPr/>
        </p:nvSpPr>
        <p:spPr>
          <a:xfrm>
            <a:off x="790560" y="1098000"/>
            <a:ext cx="10579680" cy="820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6460"/>
              </a:lnSpc>
              <a:tabLst>
                <a:tab pos="0" algn="l"/>
              </a:tabLst>
            </a:pPr>
            <a:r>
              <a:rPr lang="en-US" sz="6270" b="1" strike="noStrike" spc="-1">
                <a:solidFill>
                  <a:srgbClr val="1679A9"/>
                </a:solidFill>
                <a:latin typeface="Garet Bold"/>
                <a:ea typeface="Garet Bold"/>
              </a:rPr>
              <a:t>Remerciements</a:t>
            </a:r>
            <a:endParaRPr lang="fr-FR" sz="6270" b="0" strike="noStrike" spc="-1">
              <a:solidFill>
                <a:srgbClr val="000000"/>
              </a:solidFill>
              <a:latin typeface="Arial"/>
            </a:endParaRPr>
          </a:p>
        </p:txBody>
      </p:sp>
      <p:sp>
        <p:nvSpPr>
          <p:cNvPr id="365" name="TextBox 20"/>
          <p:cNvSpPr/>
          <p:nvPr/>
        </p:nvSpPr>
        <p:spPr>
          <a:xfrm>
            <a:off x="843480" y="3140640"/>
            <a:ext cx="10526760" cy="17247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396"/>
              </a:lnSpc>
              <a:tabLst>
                <a:tab pos="0" algn="l"/>
              </a:tabLst>
            </a:pPr>
            <a:r>
              <a:rPr lang="en-US" sz="2190" b="0" strike="noStrike" spc="-1">
                <a:solidFill>
                  <a:srgbClr val="000000"/>
                </a:solidFill>
                <a:latin typeface="Garet Light"/>
                <a:ea typeface="Garet Light"/>
              </a:rPr>
              <a:t>Nous tenons à exprimer notre profonde gratitude à toutes les personnes qui ont contribué à la réalisation de ce projet. Leur soutien, leurs conseils et leur expertise ont été essentiels pour mener à bien cette application de géolocalisation des Églises Évangéliques du Cameroun.</a:t>
            </a:r>
            <a:endParaRPr lang="fr-FR" sz="2190" b="0" strike="noStrike" spc="-1">
              <a:solidFill>
                <a:srgbClr val="000000"/>
              </a:solidFill>
              <a:latin typeface="Arial"/>
            </a:endParaRPr>
          </a:p>
        </p:txBody>
      </p:sp>
      <p:sp>
        <p:nvSpPr>
          <p:cNvPr id="366" name="TextBox 21"/>
          <p:cNvSpPr/>
          <p:nvPr/>
        </p:nvSpPr>
        <p:spPr>
          <a:xfrm>
            <a:off x="5447520" y="5194800"/>
            <a:ext cx="8410680" cy="11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985"/>
              </a:lnSpc>
              <a:tabLst>
                <a:tab pos="0" algn="l"/>
              </a:tabLst>
            </a:pPr>
            <a:r>
              <a:rPr lang="en-US" sz="1920" b="0" strike="noStrike" spc="-1">
                <a:solidFill>
                  <a:srgbClr val="000000"/>
                </a:solidFill>
                <a:latin typeface="Garet Light"/>
                <a:ea typeface="Garet Light"/>
              </a:rPr>
              <a:t>Nous remercions chaleureusement ING Alain MBO, ING Abel ZOGNING, ING Nassair FOUPAOUGNIGNI et PR BATCHAKUI pour leur encadrement précieux et leurs orientations techniques.</a:t>
            </a:r>
            <a:endParaRPr lang="fr-FR" sz="1920" b="0" strike="noStrike" spc="-1">
              <a:solidFill>
                <a:srgbClr val="000000"/>
              </a:solidFill>
              <a:latin typeface="Arial"/>
            </a:endParaRPr>
          </a:p>
        </p:txBody>
      </p:sp>
      <p:sp>
        <p:nvSpPr>
          <p:cNvPr id="367" name="TextBox 22"/>
          <p:cNvSpPr/>
          <p:nvPr/>
        </p:nvSpPr>
        <p:spPr>
          <a:xfrm>
            <a:off x="5447520" y="6733080"/>
            <a:ext cx="8410680" cy="11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985"/>
              </a:lnSpc>
              <a:tabLst>
                <a:tab pos="0" algn="l"/>
              </a:tabLst>
            </a:pPr>
            <a:r>
              <a:rPr lang="en-US" sz="1920" b="0" strike="noStrike" spc="-1">
                <a:solidFill>
                  <a:srgbClr val="000000"/>
                </a:solidFill>
                <a:latin typeface="Garet Light"/>
                <a:ea typeface="Garet Light"/>
              </a:rPr>
              <a:t>Notre reconnaissance va également à l'ENPSY et à l'administration de l'EEC pour leur confiance et leur collaboration dans la mise à disposition des données nécessaires au projet.</a:t>
            </a:r>
            <a:endParaRPr lang="fr-FR" sz="1920" b="0" strike="noStrike" spc="-1">
              <a:solidFill>
                <a:srgbClr val="000000"/>
              </a:solidFill>
              <a:latin typeface="Arial"/>
            </a:endParaRPr>
          </a:p>
        </p:txBody>
      </p:sp>
      <p:sp>
        <p:nvSpPr>
          <p:cNvPr id="368" name="TextBox 23"/>
          <p:cNvSpPr/>
          <p:nvPr/>
        </p:nvSpPr>
        <p:spPr>
          <a:xfrm>
            <a:off x="5447520" y="8214120"/>
            <a:ext cx="8410680" cy="113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985"/>
              </a:lnSpc>
              <a:tabLst>
                <a:tab pos="0" algn="l"/>
              </a:tabLst>
            </a:pPr>
            <a:r>
              <a:rPr lang="en-US" sz="1920" b="0" strike="noStrike" spc="-1">
                <a:solidFill>
                  <a:srgbClr val="000000"/>
                </a:solidFill>
                <a:latin typeface="Garet Light"/>
                <a:ea typeface="Garet Light"/>
              </a:rPr>
              <a:t>Enfin, nous remercions tous les membres de l'équipe projet pour leur engagement, leur travail acharné et leur esprit de collaboration tout au long de cette année académique 2025-2026.</a:t>
            </a:r>
            <a:endParaRPr lang="fr-FR" sz="1920" b="0" strike="noStrike" spc="-1">
              <a:solidFill>
                <a:srgbClr val="000000"/>
              </a:solidFill>
              <a:latin typeface="Arial"/>
            </a:endParaRPr>
          </a:p>
        </p:txBody>
      </p:sp>
      <p:sp>
        <p:nvSpPr>
          <p:cNvPr id="369" name="TextBox 24"/>
          <p:cNvSpPr/>
          <p:nvPr/>
        </p:nvSpPr>
        <p:spPr>
          <a:xfrm>
            <a:off x="843480" y="2265840"/>
            <a:ext cx="5236920" cy="417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288"/>
              </a:lnSpc>
              <a:tabLst>
                <a:tab pos="0" algn="l"/>
              </a:tabLst>
            </a:pPr>
            <a:r>
              <a:rPr lang="en-US" sz="2120" b="1" strike="noStrike" spc="-1">
                <a:solidFill>
                  <a:srgbClr val="FFFFFF"/>
                </a:solidFill>
                <a:latin typeface="Garet Bold"/>
                <a:ea typeface="Garet Bold"/>
              </a:rPr>
              <a:t>Projet académique ENPSY 2025-2026</a:t>
            </a:r>
            <a:endParaRPr lang="fr-FR" sz="2120" b="0" strike="noStrike" spc="-1">
              <a:solidFill>
                <a:srgbClr val="000000"/>
              </a:solidFill>
              <a:latin typeface="Arial"/>
            </a:endParaRPr>
          </a:p>
        </p:txBody>
      </p:sp>
      <p:sp>
        <p:nvSpPr>
          <p:cNvPr id="370" name="TextBox 25"/>
          <p:cNvSpPr/>
          <p:nvPr/>
        </p:nvSpPr>
        <p:spPr>
          <a:xfrm>
            <a:off x="790560" y="5312880"/>
            <a:ext cx="3678840" cy="87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44"/>
              </a:lnSpc>
              <a:tabLst>
                <a:tab pos="0" algn="l"/>
              </a:tabLst>
            </a:pPr>
            <a:r>
              <a:rPr lang="en-US" sz="2460" b="1" strike="noStrike" spc="-1">
                <a:solidFill>
                  <a:srgbClr val="1679A9"/>
                </a:solidFill>
                <a:latin typeface="Garet Bold"/>
                <a:ea typeface="Garet Bold"/>
              </a:rPr>
              <a:t>Aux encadreurs académiques</a:t>
            </a:r>
            <a:endParaRPr lang="fr-FR" sz="2460" b="0" strike="noStrike" spc="-1">
              <a:solidFill>
                <a:srgbClr val="000000"/>
              </a:solidFill>
              <a:latin typeface="Arial"/>
            </a:endParaRPr>
          </a:p>
        </p:txBody>
      </p:sp>
      <p:sp>
        <p:nvSpPr>
          <p:cNvPr id="371" name="TextBox 26"/>
          <p:cNvSpPr/>
          <p:nvPr/>
        </p:nvSpPr>
        <p:spPr>
          <a:xfrm>
            <a:off x="790560" y="6851160"/>
            <a:ext cx="3174120" cy="87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44"/>
              </a:lnSpc>
              <a:tabLst>
                <a:tab pos="0" algn="l"/>
              </a:tabLst>
            </a:pPr>
            <a:r>
              <a:rPr lang="en-US" sz="2460" b="1" strike="noStrike" spc="-1">
                <a:solidFill>
                  <a:srgbClr val="1679A9"/>
                </a:solidFill>
                <a:latin typeface="Garet Bold"/>
                <a:ea typeface="Garet Bold"/>
              </a:rPr>
              <a:t>Aux partenaires institutionnels</a:t>
            </a:r>
            <a:endParaRPr lang="fr-FR" sz="2460" b="0" strike="noStrike" spc="-1">
              <a:solidFill>
                <a:srgbClr val="000000"/>
              </a:solidFill>
              <a:latin typeface="Arial"/>
            </a:endParaRPr>
          </a:p>
        </p:txBody>
      </p:sp>
      <p:sp>
        <p:nvSpPr>
          <p:cNvPr id="372" name="TextBox 27"/>
          <p:cNvSpPr/>
          <p:nvPr/>
        </p:nvSpPr>
        <p:spPr>
          <a:xfrm>
            <a:off x="790560" y="8331840"/>
            <a:ext cx="4205520" cy="874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3444"/>
              </a:lnSpc>
              <a:tabLst>
                <a:tab pos="0" algn="l"/>
              </a:tabLst>
            </a:pPr>
            <a:r>
              <a:rPr lang="en-US" sz="2460" b="1" strike="noStrike" spc="-1">
                <a:solidFill>
                  <a:srgbClr val="1679A9"/>
                </a:solidFill>
                <a:latin typeface="Garet Bold"/>
                <a:ea typeface="Garet Bold"/>
              </a:rPr>
              <a:t>À l'équipe projet et collaborateurs</a:t>
            </a:r>
            <a:endParaRPr lang="fr-FR" sz="2460" b="0" strike="noStrike" spc="-1">
              <a:solidFill>
                <a:srgbClr val="000000"/>
              </a:solidFill>
              <a:latin typeface="Arial"/>
            </a:endParaRPr>
          </a:p>
        </p:txBody>
      </p:sp>
      <p:pic>
        <p:nvPicPr>
          <p:cNvPr id="373" name="Image 372"/>
          <p:cNvPicPr/>
          <p:nvPr/>
        </p:nvPicPr>
        <p:blipFill>
          <a:blip r:embed="rId4"/>
          <a:stretch/>
        </p:blipFill>
        <p:spPr>
          <a:xfrm>
            <a:off x="11700000" y="720000"/>
            <a:ext cx="6399720" cy="2700000"/>
          </a:xfrm>
          <a:prstGeom prst="rect">
            <a:avLst/>
          </a:prstGeom>
          <a:ln w="0">
            <a:noFill/>
          </a:ln>
        </p:spPr>
      </p:pic>
      <p:sp>
        <p:nvSpPr>
          <p:cNvPr id="2" name="Espace réservé du numéro de diapositive 1"/>
          <p:cNvSpPr>
            <a:spLocks noGrp="1"/>
          </p:cNvSpPr>
          <p:nvPr>
            <p:ph type="sldNum" idx="27"/>
          </p:nvPr>
        </p:nvSpPr>
        <p:spPr/>
        <p:txBody>
          <a:bodyPr/>
          <a:lstStyle/>
          <a:p>
            <a:fld id="{9E85BCC3-BCA3-4EBB-84DF-5638ED71F27A}" type="slidenum">
              <a:rPr lang="fr-FR" smtClean="0"/>
              <a:t>13</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27" name="Ellipse 26"/>
          <p:cNvSpPr/>
          <p:nvPr/>
        </p:nvSpPr>
        <p:spPr>
          <a:xfrm>
            <a:off x="17027657" y="9351000"/>
            <a:ext cx="1252603" cy="5425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13/14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4" name="Freeform 2"/>
          <p:cNvSpPr/>
          <p:nvPr/>
        </p:nvSpPr>
        <p:spPr>
          <a:xfrm>
            <a:off x="0" y="0"/>
            <a:ext cx="18287640" cy="10286640"/>
          </a:xfrm>
          <a:custGeom>
            <a:avLst/>
            <a:gdLst>
              <a:gd name="textAreaLeft" fmla="*/ 0 w 18287640"/>
              <a:gd name="textAreaRight" fmla="*/ 18288000 w 18287640"/>
              <a:gd name="textAreaTop" fmla="*/ 0 h 10286640"/>
              <a:gd name="textAreaBottom" fmla="*/ 10287000 h 10286640"/>
            </a:gdLst>
            <a:ahLst/>
            <a:cxnLst/>
            <a:rect l="textAreaLeft" t="textAreaTop" r="textAreaRight" b="textAreaBottom"/>
            <a:pathLst>
              <a:path w="18288000" h="10287000">
                <a:moveTo>
                  <a:pt x="0" y="0"/>
                </a:moveTo>
                <a:lnTo>
                  <a:pt x="18288000" y="0"/>
                </a:lnTo>
                <a:lnTo>
                  <a:pt x="18288000" y="10287000"/>
                </a:lnTo>
                <a:lnTo>
                  <a:pt x="0" y="10287000"/>
                </a:lnTo>
                <a:lnTo>
                  <a:pt x="0" y="0"/>
                </a:lnTo>
                <a:close/>
              </a:path>
            </a:pathLst>
          </a:custGeom>
          <a:blipFill rotWithShape="0">
            <a:blip r:embed="rId2"/>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375" name="Group 3"/>
          <p:cNvGrpSpPr/>
          <p:nvPr/>
        </p:nvGrpSpPr>
        <p:grpSpPr>
          <a:xfrm>
            <a:off x="-3441960" y="-3601800"/>
            <a:ext cx="23842440" cy="18493560"/>
            <a:chOff x="-3441960" y="-3601800"/>
            <a:chExt cx="23842440" cy="18493560"/>
          </a:xfrm>
        </p:grpSpPr>
        <p:sp>
          <p:nvSpPr>
            <p:cNvPr id="376" name="Freeform 4"/>
            <p:cNvSpPr/>
            <p:nvPr/>
          </p:nvSpPr>
          <p:spPr>
            <a:xfrm rot="19733400">
              <a:off x="-3131280" y="2008440"/>
              <a:ext cx="23296320" cy="7396560"/>
            </a:xfrm>
            <a:custGeom>
              <a:avLst/>
              <a:gdLst>
                <a:gd name="textAreaLeft" fmla="*/ 0 w 23296320"/>
                <a:gd name="textAreaRight" fmla="*/ 23296680 w 23296320"/>
                <a:gd name="textAreaTop" fmla="*/ 0 h 7396560"/>
                <a:gd name="textAreaBottom" fmla="*/ 7396920 h 7396560"/>
              </a:gdLst>
              <a:ahLst/>
              <a:cxnLst/>
              <a:rect l="textAreaLeft" t="textAreaTop" r="textAreaRight" b="textAreaBottom"/>
              <a:pathLst>
                <a:path w="6135774" h="1948205">
                  <a:moveTo>
                    <a:pt x="0" y="0"/>
                  </a:moveTo>
                  <a:lnTo>
                    <a:pt x="6135774" y="0"/>
                  </a:lnTo>
                  <a:lnTo>
                    <a:pt x="6135774" y="1948205"/>
                  </a:lnTo>
                  <a:lnTo>
                    <a:pt x="0" y="1948205"/>
                  </a:lnTo>
                  <a:close/>
                </a:path>
              </a:pathLst>
            </a:custGeom>
            <a:solidFill>
              <a:srgbClr val="5FC1F0">
                <a:alpha val="26000"/>
              </a:srgbClr>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77" name="TextBox 5"/>
            <p:cNvSpPr/>
            <p:nvPr/>
          </p:nvSpPr>
          <p:spPr>
            <a:xfrm rot="19733400">
              <a:off x="-3168720" y="1874160"/>
              <a:ext cx="23296320" cy="75412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78" name="Group 6"/>
          <p:cNvGrpSpPr/>
          <p:nvPr/>
        </p:nvGrpSpPr>
        <p:grpSpPr>
          <a:xfrm>
            <a:off x="8106480" y="-2703960"/>
            <a:ext cx="14366520" cy="8649360"/>
            <a:chOff x="8106480" y="-2703960"/>
            <a:chExt cx="14366520" cy="8649360"/>
          </a:xfrm>
        </p:grpSpPr>
        <p:sp>
          <p:nvSpPr>
            <p:cNvPr id="379" name="Freeform 7"/>
            <p:cNvSpPr/>
            <p:nvPr/>
          </p:nvSpPr>
          <p:spPr>
            <a:xfrm>
              <a:off x="8106480" y="-2703960"/>
              <a:ext cx="14366520" cy="8649360"/>
            </a:xfrm>
            <a:custGeom>
              <a:avLst/>
              <a:gdLst>
                <a:gd name="textAreaLeft" fmla="*/ 0 w 14366520"/>
                <a:gd name="textAreaRight" fmla="*/ 14366880 w 14366520"/>
                <a:gd name="textAreaTop" fmla="*/ 0 h 8649360"/>
                <a:gd name="textAreaBottom" fmla="*/ 8649720 h 8649360"/>
              </a:gdLst>
              <a:ahLst/>
              <a:cxnLst/>
              <a:rect l="textAreaLeft" t="textAreaTop" r="textAreaRight" b="textAreaBottom"/>
              <a:pathLst>
                <a:path w="812800" h="489349">
                  <a:moveTo>
                    <a:pt x="406400" y="0"/>
                  </a:moveTo>
                  <a:lnTo>
                    <a:pt x="812800" y="244675"/>
                  </a:lnTo>
                  <a:lnTo>
                    <a:pt x="406400" y="489349"/>
                  </a:lnTo>
                  <a:lnTo>
                    <a:pt x="0" y="244675"/>
                  </a:lnTo>
                  <a:lnTo>
                    <a:pt x="406400" y="0"/>
                  </a:lnTo>
                  <a:close/>
                </a:path>
              </a:pathLst>
            </a:custGeom>
            <a:blipFill rotWithShape="0">
              <a:blip r:embed="rId3"/>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sp>
        <p:nvSpPr>
          <p:cNvPr id="380" name="Freeform 8"/>
          <p:cNvSpPr/>
          <p:nvPr/>
        </p:nvSpPr>
        <p:spPr>
          <a:xfrm flipH="1">
            <a:off x="-2356200" y="6473880"/>
            <a:ext cx="8587080" cy="4475880"/>
          </a:xfrm>
          <a:custGeom>
            <a:avLst/>
            <a:gdLst>
              <a:gd name="textAreaLeft" fmla="*/ -360 w 8587080"/>
              <a:gd name="textAreaRight" fmla="*/ 8587080 w 8587080"/>
              <a:gd name="textAreaTop" fmla="*/ 0 h 4475880"/>
              <a:gd name="textAreaBottom" fmla="*/ 4476240 h 4475880"/>
            </a:gdLst>
            <a:ahLst/>
            <a:cxnLst/>
            <a:rect l="textAreaLeft" t="textAreaTop" r="textAreaRight" b="textAreaBottom"/>
            <a:pathLst>
              <a:path w="8587608" h="4476291">
                <a:moveTo>
                  <a:pt x="8587608" y="0"/>
                </a:moveTo>
                <a:lnTo>
                  <a:pt x="0" y="0"/>
                </a:lnTo>
                <a:lnTo>
                  <a:pt x="0" y="4476291"/>
                </a:lnTo>
                <a:lnTo>
                  <a:pt x="8587608" y="4476291"/>
                </a:lnTo>
                <a:lnTo>
                  <a:pt x="8587608" y="0"/>
                </a:lnTo>
                <a:close/>
              </a:path>
            </a:pathLst>
          </a:custGeom>
          <a:blipFill rotWithShape="0">
            <a:blip r:embed="rId4">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5"/>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381" name="Group 9"/>
          <p:cNvGrpSpPr/>
          <p:nvPr/>
        </p:nvGrpSpPr>
        <p:grpSpPr>
          <a:xfrm>
            <a:off x="5030640" y="-2036880"/>
            <a:ext cx="6151320" cy="3657240"/>
            <a:chOff x="5030640" y="-2036880"/>
            <a:chExt cx="6151320" cy="3657240"/>
          </a:xfrm>
        </p:grpSpPr>
        <p:sp>
          <p:nvSpPr>
            <p:cNvPr id="382" name="Freeform 10"/>
            <p:cNvSpPr/>
            <p:nvPr/>
          </p:nvSpPr>
          <p:spPr>
            <a:xfrm>
              <a:off x="5030640" y="-2036880"/>
              <a:ext cx="6151320" cy="3657240"/>
            </a:xfrm>
            <a:custGeom>
              <a:avLst/>
              <a:gdLst>
                <a:gd name="textAreaLeft" fmla="*/ 0 w 6151320"/>
                <a:gd name="textAreaRight" fmla="*/ 6151680 w 6151320"/>
                <a:gd name="textAreaTop" fmla="*/ 0 h 3657240"/>
                <a:gd name="textAreaBottom" fmla="*/ 3657600 h 3657240"/>
              </a:gdLst>
              <a:ahLst/>
              <a:cxnLst/>
              <a:rect l="textAreaLeft" t="textAreaTop" r="textAreaRight" b="textAreaBottom"/>
              <a:pathLst>
                <a:path w="812800" h="483281">
                  <a:moveTo>
                    <a:pt x="406400" y="0"/>
                  </a:moveTo>
                  <a:lnTo>
                    <a:pt x="812800" y="241641"/>
                  </a:lnTo>
                  <a:lnTo>
                    <a:pt x="406400" y="483281"/>
                  </a:lnTo>
                  <a:lnTo>
                    <a:pt x="0" y="241641"/>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83" name="TextBox 11"/>
            <p:cNvSpPr/>
            <p:nvPr/>
          </p:nvSpPr>
          <p:spPr>
            <a:xfrm>
              <a:off x="6087960" y="-1696680"/>
              <a:ext cx="4036680" cy="268848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84" name="Group 12"/>
          <p:cNvGrpSpPr/>
          <p:nvPr/>
        </p:nvGrpSpPr>
        <p:grpSpPr>
          <a:xfrm>
            <a:off x="-8728200" y="4300920"/>
            <a:ext cx="32485320" cy="6480360"/>
            <a:chOff x="-8728200" y="4300920"/>
            <a:chExt cx="32485320" cy="6480360"/>
          </a:xfrm>
        </p:grpSpPr>
        <p:sp>
          <p:nvSpPr>
            <p:cNvPr id="385" name="Freeform 13"/>
            <p:cNvSpPr/>
            <p:nvPr/>
          </p:nvSpPr>
          <p:spPr>
            <a:xfrm>
              <a:off x="-8728200" y="5897880"/>
              <a:ext cx="32485320" cy="4883400"/>
            </a:xfrm>
            <a:custGeom>
              <a:avLst/>
              <a:gdLst>
                <a:gd name="textAreaLeft" fmla="*/ 0 w 32485320"/>
                <a:gd name="textAreaRight" fmla="*/ 32485680 w 32485320"/>
                <a:gd name="textAreaTop" fmla="*/ 0 h 4883400"/>
                <a:gd name="textAreaBottom" fmla="*/ 4883760 h 4883400"/>
              </a:gdLst>
              <a:ahLst/>
              <a:cxnLst/>
              <a:rect l="textAreaLeft" t="textAreaTop" r="textAreaRight" b="textAreaBottom"/>
              <a:pathLst>
                <a:path w="774979" h="116505">
                  <a:moveTo>
                    <a:pt x="571779" y="0"/>
                  </a:moveTo>
                  <a:lnTo>
                    <a:pt x="0" y="0"/>
                  </a:lnTo>
                  <a:lnTo>
                    <a:pt x="203200" y="116505"/>
                  </a:lnTo>
                  <a:lnTo>
                    <a:pt x="774979" y="116505"/>
                  </a:lnTo>
                  <a:lnTo>
                    <a:pt x="571779"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86" name="TextBox 14"/>
            <p:cNvSpPr/>
            <p:nvPr/>
          </p:nvSpPr>
          <p:spPr>
            <a:xfrm>
              <a:off x="-4469400" y="4300920"/>
              <a:ext cx="23967360" cy="64803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grpSp>
        <p:nvGrpSpPr>
          <p:cNvPr id="387" name="Group 15"/>
          <p:cNvGrpSpPr/>
          <p:nvPr/>
        </p:nvGrpSpPr>
        <p:grpSpPr>
          <a:xfrm>
            <a:off x="-3367080" y="111600"/>
            <a:ext cx="11473200" cy="1471320"/>
            <a:chOff x="-3367080" y="111600"/>
            <a:chExt cx="11473200" cy="1471320"/>
          </a:xfrm>
        </p:grpSpPr>
        <p:sp>
          <p:nvSpPr>
            <p:cNvPr id="388" name="Freeform 16"/>
            <p:cNvSpPr/>
            <p:nvPr/>
          </p:nvSpPr>
          <p:spPr>
            <a:xfrm>
              <a:off x="-3367080" y="474480"/>
              <a:ext cx="11473200" cy="1108440"/>
            </a:xfrm>
            <a:custGeom>
              <a:avLst/>
              <a:gdLst>
                <a:gd name="textAreaLeft" fmla="*/ 0 w 11473200"/>
                <a:gd name="textAreaRight" fmla="*/ 11473560 w 11473200"/>
                <a:gd name="textAreaTop" fmla="*/ 0 h 1108440"/>
                <a:gd name="textAreaBottom" fmla="*/ 1108800 h 1108440"/>
              </a:gdLst>
              <a:ahLst/>
              <a:cxnLst/>
              <a:rect l="textAreaLeft" t="textAreaTop" r="textAreaRight" b="textAreaBottom"/>
              <a:pathLst>
                <a:path w="1205677" h="116505">
                  <a:moveTo>
                    <a:pt x="1002477" y="0"/>
                  </a:moveTo>
                  <a:lnTo>
                    <a:pt x="0" y="0"/>
                  </a:lnTo>
                  <a:lnTo>
                    <a:pt x="203200" y="116505"/>
                  </a:lnTo>
                  <a:lnTo>
                    <a:pt x="1205677" y="116505"/>
                  </a:lnTo>
                  <a:lnTo>
                    <a:pt x="1002477" y="0"/>
                  </a:lnTo>
                  <a:close/>
                </a:path>
              </a:pathLst>
            </a:custGeom>
            <a:solidFill>
              <a:srgbClr val="FFFF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89" name="TextBox 17"/>
            <p:cNvSpPr/>
            <p:nvPr/>
          </p:nvSpPr>
          <p:spPr>
            <a:xfrm>
              <a:off x="-2400120" y="111600"/>
              <a:ext cx="9539640" cy="147096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390" name="Freeform 18"/>
          <p:cNvSpPr/>
          <p:nvPr/>
        </p:nvSpPr>
        <p:spPr>
          <a:xfrm>
            <a:off x="1103760" y="621720"/>
            <a:ext cx="740520" cy="976680"/>
          </a:xfrm>
          <a:custGeom>
            <a:avLst/>
            <a:gdLst>
              <a:gd name="textAreaLeft" fmla="*/ 0 w 740520"/>
              <a:gd name="textAreaRight" fmla="*/ 740880 w 740520"/>
              <a:gd name="textAreaTop" fmla="*/ 0 h 976680"/>
              <a:gd name="textAreaBottom" fmla="*/ 977040 h 976680"/>
            </a:gdLst>
            <a:ahLst/>
            <a:cxnLst/>
            <a:rect l="textAreaLeft" t="textAreaTop" r="textAreaRight" b="textAreaBottom"/>
            <a:pathLst>
              <a:path w="740777" h="977000">
                <a:moveTo>
                  <a:pt x="0" y="0"/>
                </a:moveTo>
                <a:lnTo>
                  <a:pt x="740776" y="0"/>
                </a:lnTo>
                <a:lnTo>
                  <a:pt x="740776" y="977000"/>
                </a:lnTo>
                <a:lnTo>
                  <a:pt x="0" y="977000"/>
                </a:lnTo>
                <a:lnTo>
                  <a:pt x="0" y="0"/>
                </a:lnTo>
                <a:close/>
              </a:path>
            </a:pathLst>
          </a:custGeom>
          <a:blipFill rotWithShape="0">
            <a:blip r:embed="rId6"/>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91" name="Freeform 19"/>
          <p:cNvSpPr/>
          <p:nvPr/>
        </p:nvSpPr>
        <p:spPr>
          <a:xfrm>
            <a:off x="1146240" y="6473880"/>
            <a:ext cx="401760" cy="401760"/>
          </a:xfrm>
          <a:custGeom>
            <a:avLst/>
            <a:gdLst>
              <a:gd name="textAreaLeft" fmla="*/ 0 w 401760"/>
              <a:gd name="textAreaRight" fmla="*/ 402120 w 401760"/>
              <a:gd name="textAreaTop" fmla="*/ 0 h 401760"/>
              <a:gd name="textAreaBottom" fmla="*/ 402120 h 401760"/>
            </a:gdLst>
            <a:ahLst/>
            <a:cxnLst/>
            <a:rect l="textAreaLeft" t="textAreaTop" r="textAreaRight" b="textAreaBottom"/>
            <a:pathLst>
              <a:path w="402279" h="402279">
                <a:moveTo>
                  <a:pt x="0" y="0"/>
                </a:moveTo>
                <a:lnTo>
                  <a:pt x="402279" y="0"/>
                </a:lnTo>
                <a:lnTo>
                  <a:pt x="402279" y="402279"/>
                </a:lnTo>
                <a:lnTo>
                  <a:pt x="0" y="402279"/>
                </a:lnTo>
                <a:lnTo>
                  <a:pt x="0" y="0"/>
                </a:lnTo>
                <a:close/>
              </a:path>
            </a:pathLst>
          </a:custGeom>
          <a:blipFill rotWithShape="0">
            <a:blip r:embed="rId7">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8"/>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92" name="AutoShape 20"/>
          <p:cNvSpPr/>
          <p:nvPr/>
        </p:nvSpPr>
        <p:spPr>
          <a:xfrm>
            <a:off x="1146240" y="7240320"/>
            <a:ext cx="7997760" cy="360"/>
          </a:xfrm>
          <a:prstGeom prst="line">
            <a:avLst/>
          </a:prstGeom>
          <a:ln w="19050">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393" name="AutoShape 21"/>
          <p:cNvSpPr/>
          <p:nvPr/>
        </p:nvSpPr>
        <p:spPr>
          <a:xfrm>
            <a:off x="1195920" y="8371800"/>
            <a:ext cx="7315200" cy="360"/>
          </a:xfrm>
          <a:prstGeom prst="line">
            <a:avLst/>
          </a:prstGeom>
          <a:ln w="19050">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394" name="AutoShape 22"/>
          <p:cNvSpPr/>
          <p:nvPr/>
        </p:nvSpPr>
        <p:spPr>
          <a:xfrm>
            <a:off x="1245960" y="9503280"/>
            <a:ext cx="6605640" cy="360"/>
          </a:xfrm>
          <a:prstGeom prst="line">
            <a:avLst/>
          </a:prstGeom>
          <a:ln w="19050">
            <a:solidFill>
              <a:srgbClr val="1679A9"/>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strike="noStrike" spc="-1">
              <a:solidFill>
                <a:srgbClr val="000000"/>
              </a:solidFill>
              <a:latin typeface="Arial"/>
            </a:endParaRPr>
          </a:p>
        </p:txBody>
      </p:sp>
      <p:sp>
        <p:nvSpPr>
          <p:cNvPr id="395" name="Freeform 23"/>
          <p:cNvSpPr/>
          <p:nvPr/>
        </p:nvSpPr>
        <p:spPr>
          <a:xfrm>
            <a:off x="1146240" y="7605360"/>
            <a:ext cx="400320" cy="400320"/>
          </a:xfrm>
          <a:custGeom>
            <a:avLst/>
            <a:gdLst>
              <a:gd name="textAreaLeft" fmla="*/ 0 w 400320"/>
              <a:gd name="textAreaRight" fmla="*/ 400680 w 400320"/>
              <a:gd name="textAreaTop" fmla="*/ 0 h 400320"/>
              <a:gd name="textAreaBottom" fmla="*/ 400680 h 400320"/>
            </a:gdLst>
            <a:ahLst/>
            <a:cxnLst/>
            <a:rect l="textAreaLeft" t="textAreaTop" r="textAreaRight" b="textAreaBottom"/>
            <a:pathLst>
              <a:path w="400650" h="400650">
                <a:moveTo>
                  <a:pt x="0" y="0"/>
                </a:moveTo>
                <a:lnTo>
                  <a:pt x="400650" y="0"/>
                </a:lnTo>
                <a:lnTo>
                  <a:pt x="400650" y="400650"/>
                </a:lnTo>
                <a:lnTo>
                  <a:pt x="0" y="400650"/>
                </a:lnTo>
                <a:lnTo>
                  <a:pt x="0" y="0"/>
                </a:lnTo>
                <a:close/>
              </a:path>
            </a:pathLst>
          </a:custGeom>
          <a:blipFill rotWithShape="0">
            <a:blip r:embed="rId9">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0"/>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sp>
        <p:nvSpPr>
          <p:cNvPr id="396" name="Freeform 24"/>
          <p:cNvSpPr/>
          <p:nvPr/>
        </p:nvSpPr>
        <p:spPr>
          <a:xfrm>
            <a:off x="1148760" y="8800200"/>
            <a:ext cx="399600" cy="399600"/>
          </a:xfrm>
          <a:custGeom>
            <a:avLst/>
            <a:gdLst>
              <a:gd name="textAreaLeft" fmla="*/ 0 w 399600"/>
              <a:gd name="textAreaRight" fmla="*/ 399960 w 399600"/>
              <a:gd name="textAreaTop" fmla="*/ 0 h 399600"/>
              <a:gd name="textAreaBottom" fmla="*/ 399960 h 399600"/>
            </a:gdLst>
            <a:ahLst/>
            <a:cxnLst/>
            <a:rect l="textAreaLeft" t="textAreaTop" r="textAreaRight" b="textAreaBottom"/>
            <a:pathLst>
              <a:path w="399836" h="399836">
                <a:moveTo>
                  <a:pt x="0" y="0"/>
                </a:moveTo>
                <a:lnTo>
                  <a:pt x="399836" y="0"/>
                </a:lnTo>
                <a:lnTo>
                  <a:pt x="399836" y="399835"/>
                </a:lnTo>
                <a:lnTo>
                  <a:pt x="0" y="399835"/>
                </a:lnTo>
                <a:lnTo>
                  <a:pt x="0" y="0"/>
                </a:lnTo>
                <a:close/>
              </a:path>
            </a:pathLst>
          </a:custGeom>
          <a:blipFill rotWithShape="0">
            <a:blip r:embed="rId11">
              <a:extLst>
                <a:ext uri="{96DAC541-7B7A-43D3-8B79-37D633B846F1}">
                  <asvg:svgBlip xmlns:asvg="http://schemas.microsoft.com/office/drawing/2016/SVG/main" xmlns:mc="http://schemas.openxmlformats.org/markup-compatibility/2006" xmlns:p15="http://schemas.microsoft.com/office/powerpoint/2012/main" xmlns:p14="http://schemas.microsoft.com/office/powerpoint/2010/main" xmlns="" r:embed="rId12"/>
                </a:ext>
              </a:extLst>
            </a:blip>
            <a:srcRect/>
            <a:stretch/>
          </a:blip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000000"/>
              </a:solidFill>
              <a:latin typeface="Arial"/>
            </a:endParaRPr>
          </a:p>
        </p:txBody>
      </p:sp>
      <p:grpSp>
        <p:nvGrpSpPr>
          <p:cNvPr id="397" name="Group 27"/>
          <p:cNvGrpSpPr/>
          <p:nvPr/>
        </p:nvGrpSpPr>
        <p:grpSpPr>
          <a:xfrm>
            <a:off x="13141080" y="6984000"/>
            <a:ext cx="3499200" cy="3316320"/>
            <a:chOff x="13141080" y="6984000"/>
            <a:chExt cx="3499200" cy="3316320"/>
          </a:xfrm>
        </p:grpSpPr>
        <p:sp>
          <p:nvSpPr>
            <p:cNvPr id="398" name="Freeform 28"/>
            <p:cNvSpPr/>
            <p:nvPr/>
          </p:nvSpPr>
          <p:spPr>
            <a:xfrm rot="75600">
              <a:off x="13126320" y="7021800"/>
              <a:ext cx="3478320" cy="3239640"/>
            </a:xfrm>
            <a:custGeom>
              <a:avLst/>
              <a:gdLst>
                <a:gd name="textAreaLeft" fmla="*/ 0 w 3478320"/>
                <a:gd name="textAreaRight" fmla="*/ 3478680 w 3478320"/>
                <a:gd name="textAreaTop" fmla="*/ 0 h 3239640"/>
                <a:gd name="textAreaBottom" fmla="*/ 3240000 h 3239640"/>
              </a:gdLst>
              <a:ahLst/>
              <a:cxnLst/>
              <a:rect l="textAreaLeft" t="textAreaTop" r="textAreaRight" b="textAreaBottom"/>
              <a:pathLst>
                <a:path w="812800" h="549862">
                  <a:moveTo>
                    <a:pt x="406400" y="0"/>
                  </a:moveTo>
                  <a:lnTo>
                    <a:pt x="812800" y="274931"/>
                  </a:lnTo>
                  <a:lnTo>
                    <a:pt x="406400" y="549862"/>
                  </a:lnTo>
                  <a:lnTo>
                    <a:pt x="0" y="274931"/>
                  </a:lnTo>
                  <a:lnTo>
                    <a:pt x="406400" y="0"/>
                  </a:lnTo>
                  <a:close/>
                </a:path>
              </a:pathLst>
            </a:custGeom>
            <a:solidFill>
              <a:srgbClr val="1679A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strike="noStrike" spc="-1">
                <a:solidFill>
                  <a:srgbClr val="FFFFFF"/>
                </a:solidFill>
                <a:latin typeface="Arial"/>
              </a:endParaRPr>
            </a:p>
          </p:txBody>
        </p:sp>
        <p:sp>
          <p:nvSpPr>
            <p:cNvPr id="399" name="TextBox 29"/>
            <p:cNvSpPr/>
            <p:nvPr/>
          </p:nvSpPr>
          <p:spPr>
            <a:xfrm rot="76200">
              <a:off x="13731480" y="7354440"/>
              <a:ext cx="2282760" cy="2350440"/>
            </a:xfrm>
            <a:prstGeom prst="rect">
              <a:avLst/>
            </a:prstGeom>
            <a:noFill/>
            <a:ln w="0">
              <a:noFill/>
            </a:ln>
          </p:spPr>
          <p:style>
            <a:lnRef idx="0">
              <a:scrgbClr r="0" g="0" b="0"/>
            </a:lnRef>
            <a:fillRef idx="0">
              <a:scrgbClr r="0" g="0" b="0"/>
            </a:fillRef>
            <a:effectRef idx="0">
              <a:scrgbClr r="0" g="0" b="0"/>
            </a:effectRef>
            <a:fontRef idx="minor"/>
          </p:style>
          <p:txBody>
            <a:bodyPr lIns="50760" tIns="50760" rIns="50760" bIns="50760" anchor="ctr">
              <a:noAutofit/>
            </a:bodyPr>
            <a:lstStyle/>
            <a:p>
              <a:pPr algn="ctr" defTabSz="914400">
                <a:lnSpc>
                  <a:spcPts val="2659"/>
                </a:lnSpc>
                <a:tabLst>
                  <a:tab pos="0" algn="l"/>
                </a:tabLst>
              </a:pPr>
              <a:endParaRPr lang="en-US" sz="1800" b="0" strike="noStrike" spc="-1">
                <a:solidFill>
                  <a:schemeClr val="dk1"/>
                </a:solidFill>
                <a:latin typeface="Calibri"/>
              </a:endParaRPr>
            </a:p>
          </p:txBody>
        </p:sp>
      </p:grpSp>
      <p:sp>
        <p:nvSpPr>
          <p:cNvPr id="400" name="TextBox 30"/>
          <p:cNvSpPr/>
          <p:nvPr/>
        </p:nvSpPr>
        <p:spPr>
          <a:xfrm>
            <a:off x="1028880" y="2795400"/>
            <a:ext cx="9957240" cy="270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10644"/>
              </a:lnSpc>
              <a:tabLst>
                <a:tab pos="0" algn="l"/>
              </a:tabLst>
            </a:pPr>
            <a:r>
              <a:rPr lang="en-US" sz="10340" b="1" strike="noStrike" spc="-1">
                <a:solidFill>
                  <a:srgbClr val="FFFFFF"/>
                </a:solidFill>
                <a:latin typeface="Garet Bold"/>
                <a:ea typeface="Garet Bold"/>
              </a:rPr>
              <a:t>Merci de Votre Attention</a:t>
            </a:r>
            <a:endParaRPr lang="fr-FR" sz="10340" b="0" strike="noStrike" spc="-1">
              <a:solidFill>
                <a:srgbClr val="000000"/>
              </a:solidFill>
              <a:latin typeface="Arial"/>
            </a:endParaRPr>
          </a:p>
        </p:txBody>
      </p:sp>
      <p:sp>
        <p:nvSpPr>
          <p:cNvPr id="401" name="TextBox 31"/>
          <p:cNvSpPr/>
          <p:nvPr/>
        </p:nvSpPr>
        <p:spPr>
          <a:xfrm>
            <a:off x="2208960" y="855720"/>
            <a:ext cx="3121560" cy="354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92"/>
              </a:lnSpc>
              <a:tabLst>
                <a:tab pos="0" algn="l"/>
              </a:tabLst>
            </a:pPr>
            <a:r>
              <a:rPr lang="en-US" sz="2380" b="0" strike="noStrike" spc="-1">
                <a:solidFill>
                  <a:srgbClr val="000000"/>
                </a:solidFill>
                <a:latin typeface="Garet"/>
                <a:ea typeface="Garet"/>
              </a:rPr>
              <a:t>Géolocalisation EEC</a:t>
            </a:r>
            <a:endParaRPr lang="fr-FR" sz="2380" b="0" strike="noStrike" spc="-1">
              <a:solidFill>
                <a:srgbClr val="000000"/>
              </a:solidFill>
              <a:latin typeface="Arial"/>
            </a:endParaRPr>
          </a:p>
        </p:txBody>
      </p:sp>
      <p:sp>
        <p:nvSpPr>
          <p:cNvPr id="402" name="TextBox 32"/>
          <p:cNvSpPr/>
          <p:nvPr/>
        </p:nvSpPr>
        <p:spPr>
          <a:xfrm>
            <a:off x="1660680" y="6493680"/>
            <a:ext cx="4951080" cy="35907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98"/>
              </a:lnSpc>
              <a:tabLst>
                <a:tab pos="0" algn="l"/>
              </a:tabLst>
            </a:pPr>
            <a:r>
              <a:rPr lang="en-US" sz="2390" b="0" strike="noStrike" spc="-1" dirty="0" smtClean="0">
                <a:solidFill>
                  <a:srgbClr val="000000"/>
                </a:solidFill>
                <a:latin typeface="Garet"/>
                <a:ea typeface="Garet"/>
              </a:rPr>
              <a:t>eec.com</a:t>
            </a:r>
            <a:endParaRPr lang="fr-FR" sz="2390" b="0" strike="noStrike" spc="-1" dirty="0">
              <a:solidFill>
                <a:srgbClr val="000000"/>
              </a:solidFill>
              <a:latin typeface="Arial"/>
            </a:endParaRPr>
          </a:p>
        </p:txBody>
      </p:sp>
      <p:sp>
        <p:nvSpPr>
          <p:cNvPr id="403" name="TextBox 33"/>
          <p:cNvSpPr/>
          <p:nvPr/>
        </p:nvSpPr>
        <p:spPr>
          <a:xfrm>
            <a:off x="1710720" y="7625160"/>
            <a:ext cx="4951080" cy="359073"/>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98"/>
              </a:lnSpc>
              <a:tabLst>
                <a:tab pos="0" algn="l"/>
              </a:tabLst>
            </a:pPr>
            <a:r>
              <a:rPr lang="en-US" sz="2390" b="0" strike="noStrike" spc="-1" dirty="0" err="1" smtClean="0">
                <a:solidFill>
                  <a:srgbClr val="000000"/>
                </a:solidFill>
                <a:latin typeface="Garet"/>
                <a:ea typeface="Garet"/>
              </a:rPr>
              <a:t>njikitchoubiamiguelalan@gmail,com</a:t>
            </a:r>
            <a:endParaRPr lang="fr-FR" sz="2390" b="0" strike="noStrike" spc="-1" dirty="0">
              <a:solidFill>
                <a:srgbClr val="000000"/>
              </a:solidFill>
              <a:latin typeface="Arial"/>
            </a:endParaRPr>
          </a:p>
        </p:txBody>
      </p:sp>
      <p:sp>
        <p:nvSpPr>
          <p:cNvPr id="404" name="TextBox 34"/>
          <p:cNvSpPr/>
          <p:nvPr/>
        </p:nvSpPr>
        <p:spPr>
          <a:xfrm>
            <a:off x="1760760" y="8819280"/>
            <a:ext cx="3434040" cy="354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spAutoFit/>
          </a:bodyPr>
          <a:lstStyle/>
          <a:p>
            <a:pPr defTabSz="914400">
              <a:lnSpc>
                <a:spcPts val="2798"/>
              </a:lnSpc>
              <a:tabLst>
                <a:tab pos="0" algn="l"/>
              </a:tabLst>
            </a:pPr>
            <a:r>
              <a:rPr lang="en-US" sz="2390" b="0" strike="noStrike" spc="-1">
                <a:solidFill>
                  <a:srgbClr val="000000"/>
                </a:solidFill>
                <a:latin typeface="Garet"/>
                <a:ea typeface="Garet"/>
              </a:rPr>
              <a:t>Des questions ?</a:t>
            </a:r>
            <a:endParaRPr lang="fr-FR" sz="2390" b="0" strike="noStrike" spc="-1">
              <a:solidFill>
                <a:srgbClr val="000000"/>
              </a:solidFill>
              <a:latin typeface="Arial"/>
            </a:endParaRPr>
          </a:p>
        </p:txBody>
      </p:sp>
      <p:sp>
        <p:nvSpPr>
          <p:cNvPr id="2" name="Espace réservé du numéro de diapositive 1"/>
          <p:cNvSpPr>
            <a:spLocks noGrp="1"/>
          </p:cNvSpPr>
          <p:nvPr>
            <p:ph type="sldNum" idx="27"/>
          </p:nvPr>
        </p:nvSpPr>
        <p:spPr/>
        <p:txBody>
          <a:bodyPr/>
          <a:lstStyle/>
          <a:p>
            <a:fld id="{9E85BCC3-BCA3-4EBB-84DF-5638ED71F27A}" type="slidenum">
              <a:rPr lang="fr-FR" smtClean="0"/>
              <a:t>14</a:t>
            </a:fld>
            <a:endParaRPr lang="fr-FR"/>
          </a:p>
        </p:txBody>
      </p:sp>
      <p:sp>
        <p:nvSpPr>
          <p:cNvPr id="3" name="Espace réservé du pied de page 2"/>
          <p:cNvSpPr>
            <a:spLocks noGrp="1"/>
          </p:cNvSpPr>
          <p:nvPr>
            <p:ph type="ftr" idx="26"/>
          </p:nvPr>
        </p:nvSpPr>
        <p:spPr/>
        <p:txBody>
          <a:bodyPr/>
          <a:lstStyle/>
          <a:p>
            <a:r>
              <a:rPr lang="fr-FR" smtClean="0"/>
              <a:t>Footer</a:t>
            </a:r>
            <a:endParaRPr lang="fr-FR"/>
          </a:p>
        </p:txBody>
      </p:sp>
      <p:sp>
        <p:nvSpPr>
          <p:cNvPr id="35" name="Ellipse 34"/>
          <p:cNvSpPr/>
          <p:nvPr/>
        </p:nvSpPr>
        <p:spPr>
          <a:xfrm>
            <a:off x="17232636" y="8725468"/>
            <a:ext cx="1252603" cy="54258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dirty="0" smtClean="0"/>
              <a:t>14/14</a:t>
            </a:r>
          </a:p>
        </p:txBody>
      </p:sp>
    </p:spTree>
  </p:cSld>
  <p:clrMapOvr>
    <a:masterClrMapping/>
  </p:clrMapOvr>
  <mc:AlternateContent xmlns:mc="http://schemas.openxmlformats.org/markup-compatibility/2006" xmlns:p14="http://schemas.microsoft.com/office/powerpoint/2010/main">
    <mc:Choice Requires="p14">
      <p:transition spd="slow" p14:dur="2000"/>
    </mc:Choice>
    <mc:Fallback xmlns:p15="http://schemas.microsoft.com/office/powerpoint/2012/main" xmlns="">
      <p:transition spd="slow"/>
    </mc:Fallback>
  </mc:AlternateContent>
  <p:timing>
    <p:tnLst>
      <p:par>
        <p:cTn id="1" dur="indefinite" restart="never" nodeType="tmRoot"/>
      </p:par>
    </p:tnLst>
  </p:timing>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4.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6.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7.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8.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9.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0.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1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106</TotalTime>
  <Words>1185</Words>
  <Application>Microsoft Office PowerPoint</Application>
  <PresentationFormat>Personnalisé</PresentationFormat>
  <Paragraphs>152</Paragraphs>
  <Slides>14</Slides>
  <Notes>0</Notes>
  <HiddenSlides>0</HiddenSlides>
  <MMClips>0</MMClips>
  <ScaleCrop>false</ScaleCrop>
  <HeadingPairs>
    <vt:vector size="6" baseType="variant">
      <vt:variant>
        <vt:lpstr>Polices utilisées</vt:lpstr>
      </vt:variant>
      <vt:variant>
        <vt:i4>8</vt:i4>
      </vt:variant>
      <vt:variant>
        <vt:lpstr>Thème</vt:lpstr>
      </vt:variant>
      <vt:variant>
        <vt:i4>11</vt:i4>
      </vt:variant>
      <vt:variant>
        <vt:lpstr>Titres des diapositives</vt:lpstr>
      </vt:variant>
      <vt:variant>
        <vt:i4>14</vt:i4>
      </vt:variant>
    </vt:vector>
  </HeadingPairs>
  <TitlesOfParts>
    <vt:vector size="33" baseType="lpstr">
      <vt:lpstr>Arial</vt:lpstr>
      <vt:lpstr>Calibri</vt:lpstr>
      <vt:lpstr>Garet</vt:lpstr>
      <vt:lpstr>Garet Bold</vt:lpstr>
      <vt:lpstr>Garet Light</vt:lpstr>
      <vt:lpstr>Symbol</vt:lpstr>
      <vt:lpstr>Times New Roman</vt:lpstr>
      <vt:lpstr>Wingdings</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Géolocalisation des Églises EEC Cameroun</dc:title>
  <dc:subject/>
  <dc:creator>CDX M</dc:creator>
  <dc:description/>
  <cp:lastModifiedBy>CDX M</cp:lastModifiedBy>
  <cp:revision>6</cp:revision>
  <dcterms:created xsi:type="dcterms:W3CDTF">2006-08-16T00:00:00Z</dcterms:created>
  <dcterms:modified xsi:type="dcterms:W3CDTF">2026-05-30T12:03:32Z</dcterms:modified>
  <dc:identifier>DAHLCeLnXAU</dc:identifier>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